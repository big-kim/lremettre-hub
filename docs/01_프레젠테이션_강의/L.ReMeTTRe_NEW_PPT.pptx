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x="18288000" cy="10287000"/>
  <p:notesSz cx="6858000" cy="9144000"/>
  <p:embeddedFontLst>
    <p:embeddedFont>
      <p:font typeface="Paperlogy Heavy" charset="1" panose="00000000000000000000"/>
      <p:regular r:id="rId33"/>
    </p:embeddedFont>
    <p:embeddedFont>
      <p:font typeface="Paperlogy Ultra-Bold" charset="1" panose="00000000000000000000"/>
      <p:regular r:id="rId34"/>
    </p:embeddedFont>
    <p:embeddedFont>
      <p:font typeface="Paperlogy Bold" charset="1" panose="00000000000000000000"/>
      <p:regular r:id="rId35"/>
    </p:embeddedFont>
    <p:embeddedFont>
      <p:font typeface="Paperlogy Semi-Bold" charset="1" panose="00000000000000000000"/>
      <p:regular r:id="rId36"/>
    </p:embeddedFont>
    <p:embeddedFont>
      <p:font typeface="Paperlogy Medium" charset="1" panose="00000000000000000000"/>
      <p:regular r:id="rId37"/>
    </p:embeddedFont>
    <p:embeddedFont>
      <p:font typeface="Paperlogy" charset="1" panose="00000000000000000000"/>
      <p:regular r:id="rId38"/>
    </p:embeddedFont>
    <p:embeddedFont>
      <p:font typeface="210 썸타임 Light" charset="1" panose="02020503020101020101"/>
      <p:regular r:id="rId39"/>
    </p:embeddedFont>
    <p:embeddedFont>
      <p:font typeface="The Seasons Bold" charset="1" panose="00000000000000000000"/>
      <p:regular r:id="rId40"/>
    </p:embeddedFont>
    <p:embeddedFont>
      <p:font typeface="Singel Bold" charset="1" panose="00000800000000000000"/>
      <p:regular r:id="rId41"/>
    </p:embeddedFont>
    <p:embeddedFont>
      <p:font typeface="TDTD장고딕" charset="1" panose="02000503000000000000"/>
      <p:regular r:id="rId42"/>
    </p:embeddedFont>
    <p:embeddedFont>
      <p:font typeface="Poppins Semi-Bold" charset="1" panose="00000700000000000000"/>
      <p:regular r:id="rId43"/>
    </p:embeddedFont>
    <p:embeddedFont>
      <p:font typeface="Open Sans Bold" charset="1" panose="020B0806030504020204"/>
      <p:regular r:id="rId4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2" Target="../media/image2.jpe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Relationship Id="rId8" Target="../media/image13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23.pn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Relationship Id="rId6" Target="../media/image26.png" Type="http://schemas.openxmlformats.org/officeDocument/2006/relationships/image"/><Relationship Id="rId7" Target="../media/image2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11" Target="../media/image36.png" Type="http://schemas.openxmlformats.org/officeDocument/2006/relationships/image"/><Relationship Id="rId12" Target="../media/image37.png" Type="http://schemas.openxmlformats.org/officeDocument/2006/relationships/image"/><Relationship Id="rId13" Target="../media/image38.png" Type="http://schemas.openxmlformats.org/officeDocument/2006/relationships/image"/><Relationship Id="rId14" Target="../media/image39.png" Type="http://schemas.openxmlformats.org/officeDocument/2006/relationships/image"/><Relationship Id="rId15" Target="../media/image40.png" Type="http://schemas.openxmlformats.org/officeDocument/2006/relationships/image"/><Relationship Id="rId16" Target="../media/image41.png" Type="http://schemas.openxmlformats.org/officeDocument/2006/relationships/image"/><Relationship Id="rId17" Target="../media/image42.png" Type="http://schemas.openxmlformats.org/officeDocument/2006/relationships/image"/><Relationship Id="rId18" Target="../media/image43.png" Type="http://schemas.openxmlformats.org/officeDocument/2006/relationships/image"/><Relationship Id="rId19" Target="../media/image44.png" Type="http://schemas.openxmlformats.org/officeDocument/2006/relationships/image"/><Relationship Id="rId2" Target="../media/image2.jpeg" Type="http://schemas.openxmlformats.org/officeDocument/2006/relationships/image"/><Relationship Id="rId20" Target="../media/image45.png" Type="http://schemas.openxmlformats.org/officeDocument/2006/relationships/image"/><Relationship Id="rId21" Target="../media/image46.png" Type="http://schemas.openxmlformats.org/officeDocument/2006/relationships/image"/><Relationship Id="rId22" Target="../media/image47.png" Type="http://schemas.openxmlformats.org/officeDocument/2006/relationships/image"/><Relationship Id="rId23" Target="../media/image48.png" Type="http://schemas.openxmlformats.org/officeDocument/2006/relationships/image"/><Relationship Id="rId3" Target="../media/image28.pn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Relationship Id="rId6" Target="../media/image31.png" Type="http://schemas.openxmlformats.org/officeDocument/2006/relationships/image"/><Relationship Id="rId7" Target="../media/image32.png" Type="http://schemas.openxmlformats.org/officeDocument/2006/relationships/image"/><Relationship Id="rId8" Target="../media/image33.png" Type="http://schemas.openxmlformats.org/officeDocument/2006/relationships/image"/><Relationship Id="rId9" Target="../media/image3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9.png" Type="http://schemas.openxmlformats.org/officeDocument/2006/relationships/image"/><Relationship Id="rId3" Target="../media/image50.png" Type="http://schemas.openxmlformats.org/officeDocument/2006/relationships/image"/><Relationship Id="rId4" Target="../media/image51.png" Type="http://schemas.openxmlformats.org/officeDocument/2006/relationships/image"/><Relationship Id="rId5" Target="../media/image52.png" Type="http://schemas.openxmlformats.org/officeDocument/2006/relationships/image"/><Relationship Id="rId6" Target="../media/image53.png" Type="http://schemas.openxmlformats.org/officeDocument/2006/relationships/image"/><Relationship Id="rId7" Target="../media/image54.png" Type="http://schemas.openxmlformats.org/officeDocument/2006/relationships/image"/><Relationship Id="rId8" Target="../media/image5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3.png" Type="http://schemas.openxmlformats.org/officeDocument/2006/relationships/image"/><Relationship Id="rId11" Target="../media/image64.png" Type="http://schemas.openxmlformats.org/officeDocument/2006/relationships/image"/><Relationship Id="rId2" Target="../media/image2.jpeg" Type="http://schemas.openxmlformats.org/officeDocument/2006/relationships/image"/><Relationship Id="rId3" Target="../media/image56.png" Type="http://schemas.openxmlformats.org/officeDocument/2006/relationships/image"/><Relationship Id="rId4" Target="../media/image57.png" Type="http://schemas.openxmlformats.org/officeDocument/2006/relationships/image"/><Relationship Id="rId5" Target="../media/image58.png" Type="http://schemas.openxmlformats.org/officeDocument/2006/relationships/image"/><Relationship Id="rId6" Target="../media/image59.png" Type="http://schemas.openxmlformats.org/officeDocument/2006/relationships/image"/><Relationship Id="rId7" Target="../media/image60.png" Type="http://schemas.openxmlformats.org/officeDocument/2006/relationships/image"/><Relationship Id="rId8" Target="../media/image61.png" Type="http://schemas.openxmlformats.org/officeDocument/2006/relationships/image"/><Relationship Id="rId9" Target="../media/image6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65.png" Type="http://schemas.openxmlformats.org/officeDocument/2006/relationships/image"/><Relationship Id="rId4" Target="../media/image66.png" Type="http://schemas.openxmlformats.org/officeDocument/2006/relationships/image"/><Relationship Id="rId5" Target="../media/image67.png" Type="http://schemas.openxmlformats.org/officeDocument/2006/relationships/image"/><Relationship Id="rId6" Target="../media/image68.png" Type="http://schemas.openxmlformats.org/officeDocument/2006/relationships/image"/><Relationship Id="rId7" Target="../media/image69.png" Type="http://schemas.openxmlformats.org/officeDocument/2006/relationships/image"/><Relationship Id="rId8" Target="../media/image70.png" Type="http://schemas.openxmlformats.org/officeDocument/2006/relationships/image"/><Relationship Id="rId9" Target="../media/image7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9.png" Type="http://schemas.openxmlformats.org/officeDocument/2006/relationships/image"/><Relationship Id="rId11" Target="../media/image80.png" Type="http://schemas.openxmlformats.org/officeDocument/2006/relationships/image"/><Relationship Id="rId12" Target="../media/image81.png" Type="http://schemas.openxmlformats.org/officeDocument/2006/relationships/image"/><Relationship Id="rId13" Target="../media/image82.png" Type="http://schemas.openxmlformats.org/officeDocument/2006/relationships/image"/><Relationship Id="rId2" Target="../media/image2.jpeg" Type="http://schemas.openxmlformats.org/officeDocument/2006/relationships/image"/><Relationship Id="rId3" Target="../media/image72.png" Type="http://schemas.openxmlformats.org/officeDocument/2006/relationships/image"/><Relationship Id="rId4" Target="../media/image73.png" Type="http://schemas.openxmlformats.org/officeDocument/2006/relationships/image"/><Relationship Id="rId5" Target="../media/image74.png" Type="http://schemas.openxmlformats.org/officeDocument/2006/relationships/image"/><Relationship Id="rId6" Target="../media/image75.png" Type="http://schemas.openxmlformats.org/officeDocument/2006/relationships/image"/><Relationship Id="rId7" Target="../media/image76.png" Type="http://schemas.openxmlformats.org/officeDocument/2006/relationships/image"/><Relationship Id="rId8" Target="../media/image77.png" Type="http://schemas.openxmlformats.org/officeDocument/2006/relationships/image"/><Relationship Id="rId9" Target="../media/image7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0.png" Type="http://schemas.openxmlformats.org/officeDocument/2006/relationships/image"/><Relationship Id="rId11" Target="../media/image91.png" Type="http://schemas.openxmlformats.org/officeDocument/2006/relationships/image"/><Relationship Id="rId12" Target="../media/image92.png" Type="http://schemas.openxmlformats.org/officeDocument/2006/relationships/image"/><Relationship Id="rId13" Target="../media/image93.png" Type="http://schemas.openxmlformats.org/officeDocument/2006/relationships/image"/><Relationship Id="rId14" Target="../media/image94.png" Type="http://schemas.openxmlformats.org/officeDocument/2006/relationships/image"/><Relationship Id="rId15" Target="../media/image95.png" Type="http://schemas.openxmlformats.org/officeDocument/2006/relationships/image"/><Relationship Id="rId16" Target="../media/image96.png" Type="http://schemas.openxmlformats.org/officeDocument/2006/relationships/image"/><Relationship Id="rId17" Target="../media/image97.png" Type="http://schemas.openxmlformats.org/officeDocument/2006/relationships/image"/><Relationship Id="rId18" Target="../media/image98.png" Type="http://schemas.openxmlformats.org/officeDocument/2006/relationships/image"/><Relationship Id="rId19" Target="../media/image99.png" Type="http://schemas.openxmlformats.org/officeDocument/2006/relationships/image"/><Relationship Id="rId2" Target="../media/image2.jpeg" Type="http://schemas.openxmlformats.org/officeDocument/2006/relationships/image"/><Relationship Id="rId20" Target="../media/image100.png" Type="http://schemas.openxmlformats.org/officeDocument/2006/relationships/image"/><Relationship Id="rId21" Target="../media/image101.png" Type="http://schemas.openxmlformats.org/officeDocument/2006/relationships/image"/><Relationship Id="rId22" Target="../media/image102.png" Type="http://schemas.openxmlformats.org/officeDocument/2006/relationships/image"/><Relationship Id="rId23" Target="../media/image103.png" Type="http://schemas.openxmlformats.org/officeDocument/2006/relationships/image"/><Relationship Id="rId24" Target="../media/image104.png" Type="http://schemas.openxmlformats.org/officeDocument/2006/relationships/image"/><Relationship Id="rId3" Target="../media/image83.png" Type="http://schemas.openxmlformats.org/officeDocument/2006/relationships/image"/><Relationship Id="rId4" Target="../media/image84.png" Type="http://schemas.openxmlformats.org/officeDocument/2006/relationships/image"/><Relationship Id="rId5" Target="../media/image85.png" Type="http://schemas.openxmlformats.org/officeDocument/2006/relationships/image"/><Relationship Id="rId6" Target="../media/image86.png" Type="http://schemas.openxmlformats.org/officeDocument/2006/relationships/image"/><Relationship Id="rId7" Target="../media/image87.png" Type="http://schemas.openxmlformats.org/officeDocument/2006/relationships/image"/><Relationship Id="rId8" Target="../media/image88.png" Type="http://schemas.openxmlformats.org/officeDocument/2006/relationships/image"/><Relationship Id="rId9" Target="../media/image8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3.png" Type="http://schemas.openxmlformats.org/officeDocument/2006/relationships/image"/><Relationship Id="rId11" Target="../media/image114.png" Type="http://schemas.openxmlformats.org/officeDocument/2006/relationships/image"/><Relationship Id="rId12" Target="../media/image115.png" Type="http://schemas.openxmlformats.org/officeDocument/2006/relationships/image"/><Relationship Id="rId13" Target="../media/image116.png" Type="http://schemas.openxmlformats.org/officeDocument/2006/relationships/image"/><Relationship Id="rId14" Target="../media/image117.png" Type="http://schemas.openxmlformats.org/officeDocument/2006/relationships/image"/><Relationship Id="rId15" Target="../media/image118.png" Type="http://schemas.openxmlformats.org/officeDocument/2006/relationships/image"/><Relationship Id="rId2" Target="../media/image105.png" Type="http://schemas.openxmlformats.org/officeDocument/2006/relationships/image"/><Relationship Id="rId3" Target="../media/image106.png" Type="http://schemas.openxmlformats.org/officeDocument/2006/relationships/image"/><Relationship Id="rId4" Target="../media/image107.png" Type="http://schemas.openxmlformats.org/officeDocument/2006/relationships/image"/><Relationship Id="rId5" Target="../media/image108.png" Type="http://schemas.openxmlformats.org/officeDocument/2006/relationships/image"/><Relationship Id="rId6" Target="../media/image109.png" Type="http://schemas.openxmlformats.org/officeDocument/2006/relationships/image"/><Relationship Id="rId7" Target="../media/image110.png" Type="http://schemas.openxmlformats.org/officeDocument/2006/relationships/image"/><Relationship Id="rId8" Target="../media/image111.png" Type="http://schemas.openxmlformats.org/officeDocument/2006/relationships/image"/><Relationship Id="rId9" Target="../media/image11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7.png" Type="http://schemas.openxmlformats.org/officeDocument/2006/relationships/image"/><Relationship Id="rId11" Target="../media/image128.png" Type="http://schemas.openxmlformats.org/officeDocument/2006/relationships/image"/><Relationship Id="rId12" Target="../media/image129.png" Type="http://schemas.openxmlformats.org/officeDocument/2006/relationships/image"/><Relationship Id="rId13" Target="../media/image130.png" Type="http://schemas.openxmlformats.org/officeDocument/2006/relationships/image"/><Relationship Id="rId14" Target="../media/image131.png" Type="http://schemas.openxmlformats.org/officeDocument/2006/relationships/image"/><Relationship Id="rId15" Target="../media/image132.png" Type="http://schemas.openxmlformats.org/officeDocument/2006/relationships/image"/><Relationship Id="rId16" Target="../media/image133.png" Type="http://schemas.openxmlformats.org/officeDocument/2006/relationships/image"/><Relationship Id="rId17" Target="../media/image134.png" Type="http://schemas.openxmlformats.org/officeDocument/2006/relationships/image"/><Relationship Id="rId18" Target="../media/image135.png" Type="http://schemas.openxmlformats.org/officeDocument/2006/relationships/image"/><Relationship Id="rId19" Target="../media/image136.png" Type="http://schemas.openxmlformats.org/officeDocument/2006/relationships/image"/><Relationship Id="rId2" Target="../media/image119.png" Type="http://schemas.openxmlformats.org/officeDocument/2006/relationships/image"/><Relationship Id="rId20" Target="../media/image137.png" Type="http://schemas.openxmlformats.org/officeDocument/2006/relationships/image"/><Relationship Id="rId21" Target="../media/image138.png" Type="http://schemas.openxmlformats.org/officeDocument/2006/relationships/image"/><Relationship Id="rId3" Target="../media/image120.png" Type="http://schemas.openxmlformats.org/officeDocument/2006/relationships/image"/><Relationship Id="rId4" Target="../media/image121.png" Type="http://schemas.openxmlformats.org/officeDocument/2006/relationships/image"/><Relationship Id="rId5" Target="../media/image122.png" Type="http://schemas.openxmlformats.org/officeDocument/2006/relationships/image"/><Relationship Id="rId6" Target="../media/image123.png" Type="http://schemas.openxmlformats.org/officeDocument/2006/relationships/image"/><Relationship Id="rId7" Target="../media/image124.png" Type="http://schemas.openxmlformats.org/officeDocument/2006/relationships/image"/><Relationship Id="rId8" Target="../media/image125.png" Type="http://schemas.openxmlformats.org/officeDocument/2006/relationships/image"/><Relationship Id="rId9" Target="../media/image12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3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8.png" Type="http://schemas.openxmlformats.org/officeDocument/2006/relationships/image"/><Relationship Id="rId11" Target="../media/image149.png" Type="http://schemas.openxmlformats.org/officeDocument/2006/relationships/image"/><Relationship Id="rId12" Target="../media/image150.png" Type="http://schemas.openxmlformats.org/officeDocument/2006/relationships/image"/><Relationship Id="rId13" Target="../media/image151.png" Type="http://schemas.openxmlformats.org/officeDocument/2006/relationships/image"/><Relationship Id="rId14" Target="../media/image152.png" Type="http://schemas.openxmlformats.org/officeDocument/2006/relationships/image"/><Relationship Id="rId15" Target="../media/image153.png" Type="http://schemas.openxmlformats.org/officeDocument/2006/relationships/image"/><Relationship Id="rId16" Target="../media/image154.png" Type="http://schemas.openxmlformats.org/officeDocument/2006/relationships/image"/><Relationship Id="rId2" Target="../media/image140.png" Type="http://schemas.openxmlformats.org/officeDocument/2006/relationships/image"/><Relationship Id="rId3" Target="../media/image141.png" Type="http://schemas.openxmlformats.org/officeDocument/2006/relationships/image"/><Relationship Id="rId4" Target="../media/image142.png" Type="http://schemas.openxmlformats.org/officeDocument/2006/relationships/image"/><Relationship Id="rId5" Target="../media/image143.png" Type="http://schemas.openxmlformats.org/officeDocument/2006/relationships/image"/><Relationship Id="rId6" Target="../media/image144.png" Type="http://schemas.openxmlformats.org/officeDocument/2006/relationships/image"/><Relationship Id="rId7" Target="../media/image145.png" Type="http://schemas.openxmlformats.org/officeDocument/2006/relationships/image"/><Relationship Id="rId8" Target="../media/image146.png" Type="http://schemas.openxmlformats.org/officeDocument/2006/relationships/image"/><Relationship Id="rId9" Target="../media/image147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5.png" Type="http://schemas.openxmlformats.org/officeDocument/2006/relationships/image"/><Relationship Id="rId3" Target="../media/image156.png" Type="http://schemas.openxmlformats.org/officeDocument/2006/relationships/image"/><Relationship Id="rId4" Target="../media/image157.png" Type="http://schemas.openxmlformats.org/officeDocument/2006/relationships/image"/><Relationship Id="rId5" Target="../media/image158.png" Type="http://schemas.openxmlformats.org/officeDocument/2006/relationships/image"/><Relationship Id="rId6" Target="../media/image159.png" Type="http://schemas.openxmlformats.org/officeDocument/2006/relationships/image"/><Relationship Id="rId7" Target="../media/image160.png" Type="http://schemas.openxmlformats.org/officeDocument/2006/relationships/image"/><Relationship Id="rId8" Target="../media/image16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62.png" Type="http://schemas.openxmlformats.org/officeDocument/2006/relationships/image"/><Relationship Id="rId4" Target="../media/image163.png" Type="http://schemas.openxmlformats.org/officeDocument/2006/relationships/image"/><Relationship Id="rId5" Target="../media/image164.png" Type="http://schemas.openxmlformats.org/officeDocument/2006/relationships/image"/><Relationship Id="rId6" Target="../media/image165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6.png" Type="http://schemas.openxmlformats.org/officeDocument/2006/relationships/image"/><Relationship Id="rId3" Target="../media/image167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5.png" Type="http://schemas.openxmlformats.org/officeDocument/2006/relationships/image"/><Relationship Id="rId11" Target="../media/image176.png" Type="http://schemas.openxmlformats.org/officeDocument/2006/relationships/image"/><Relationship Id="rId12" Target="../media/image177.png" Type="http://schemas.openxmlformats.org/officeDocument/2006/relationships/image"/><Relationship Id="rId2" Target="../media/image2.jpeg" Type="http://schemas.openxmlformats.org/officeDocument/2006/relationships/image"/><Relationship Id="rId3" Target="../media/image168.png" Type="http://schemas.openxmlformats.org/officeDocument/2006/relationships/image"/><Relationship Id="rId4" Target="../media/image169.png" Type="http://schemas.openxmlformats.org/officeDocument/2006/relationships/image"/><Relationship Id="rId5" Target="../media/image170.png" Type="http://schemas.openxmlformats.org/officeDocument/2006/relationships/image"/><Relationship Id="rId6" Target="../media/image171.png" Type="http://schemas.openxmlformats.org/officeDocument/2006/relationships/image"/><Relationship Id="rId7" Target="../media/image172.png" Type="http://schemas.openxmlformats.org/officeDocument/2006/relationships/image"/><Relationship Id="rId8" Target="../media/image173.png" Type="http://schemas.openxmlformats.org/officeDocument/2006/relationships/image"/><Relationship Id="rId9" Target="../media/image174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6.png" Type="http://schemas.openxmlformats.org/officeDocument/2006/relationships/image"/><Relationship Id="rId11" Target="../media/image187.png" Type="http://schemas.openxmlformats.org/officeDocument/2006/relationships/image"/><Relationship Id="rId12" Target="../media/image188.png" Type="http://schemas.openxmlformats.org/officeDocument/2006/relationships/image"/><Relationship Id="rId13" Target="../media/image189.png" Type="http://schemas.openxmlformats.org/officeDocument/2006/relationships/image"/><Relationship Id="rId14" Target="../media/image190.png" Type="http://schemas.openxmlformats.org/officeDocument/2006/relationships/image"/><Relationship Id="rId15" Target="../media/image191.png" Type="http://schemas.openxmlformats.org/officeDocument/2006/relationships/image"/><Relationship Id="rId16" Target="../media/image192.png" Type="http://schemas.openxmlformats.org/officeDocument/2006/relationships/image"/><Relationship Id="rId17" Target="../media/image193.png" Type="http://schemas.openxmlformats.org/officeDocument/2006/relationships/image"/><Relationship Id="rId18" Target="../media/image194.png" Type="http://schemas.openxmlformats.org/officeDocument/2006/relationships/image"/><Relationship Id="rId19" Target="../media/image195.png" Type="http://schemas.openxmlformats.org/officeDocument/2006/relationships/image"/><Relationship Id="rId2" Target="../media/image178.png" Type="http://schemas.openxmlformats.org/officeDocument/2006/relationships/image"/><Relationship Id="rId20" Target="../media/image196.png" Type="http://schemas.openxmlformats.org/officeDocument/2006/relationships/image"/><Relationship Id="rId21" Target="../media/image197.png" Type="http://schemas.openxmlformats.org/officeDocument/2006/relationships/image"/><Relationship Id="rId22" Target="../media/image198.png" Type="http://schemas.openxmlformats.org/officeDocument/2006/relationships/image"/><Relationship Id="rId23" Target="../media/image199.png" Type="http://schemas.openxmlformats.org/officeDocument/2006/relationships/image"/><Relationship Id="rId24" Target="../media/image200.png" Type="http://schemas.openxmlformats.org/officeDocument/2006/relationships/image"/><Relationship Id="rId25" Target="../media/image201.png" Type="http://schemas.openxmlformats.org/officeDocument/2006/relationships/image"/><Relationship Id="rId26" Target="../media/image202.png" Type="http://schemas.openxmlformats.org/officeDocument/2006/relationships/image"/><Relationship Id="rId27" Target="../media/image203.png" Type="http://schemas.openxmlformats.org/officeDocument/2006/relationships/image"/><Relationship Id="rId28" Target="../media/image204.png" Type="http://schemas.openxmlformats.org/officeDocument/2006/relationships/image"/><Relationship Id="rId3" Target="../media/image179.png" Type="http://schemas.openxmlformats.org/officeDocument/2006/relationships/image"/><Relationship Id="rId4" Target="../media/image180.png" Type="http://schemas.openxmlformats.org/officeDocument/2006/relationships/image"/><Relationship Id="rId5" Target="../media/image181.png" Type="http://schemas.openxmlformats.org/officeDocument/2006/relationships/image"/><Relationship Id="rId6" Target="../media/image182.png" Type="http://schemas.openxmlformats.org/officeDocument/2006/relationships/image"/><Relationship Id="rId7" Target="../media/image183.png" Type="http://schemas.openxmlformats.org/officeDocument/2006/relationships/image"/><Relationship Id="rId8" Target="../media/image184.png" Type="http://schemas.openxmlformats.org/officeDocument/2006/relationships/image"/><Relationship Id="rId9" Target="../media/image185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5.png" Type="http://schemas.openxmlformats.org/officeDocument/2006/relationships/image"/><Relationship Id="rId3" Target="../media/image206.png" Type="http://schemas.openxmlformats.org/officeDocument/2006/relationships/image"/><Relationship Id="rId4" Target="../media/image207.png" Type="http://schemas.openxmlformats.org/officeDocument/2006/relationships/image"/><Relationship Id="rId5" Target="../media/image208.png" Type="http://schemas.openxmlformats.org/officeDocument/2006/relationships/image"/><Relationship Id="rId6" Target="../media/image209.png" Type="http://schemas.openxmlformats.org/officeDocument/2006/relationships/image"/><Relationship Id="rId7" Target="../media/image210.png" Type="http://schemas.openxmlformats.org/officeDocument/2006/relationships/image"/><Relationship Id="rId8" Target="../media/image211.png" Type="http://schemas.openxmlformats.org/officeDocument/2006/relationships/image"/><Relationship Id="rId9" Target="../media/image212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3.png" Type="http://schemas.openxmlformats.org/officeDocument/2006/relationships/image"/><Relationship Id="rId3" Target="../media/image214.png" Type="http://schemas.openxmlformats.org/officeDocument/2006/relationships/image"/><Relationship Id="rId4" Target="../media/image215.png" Type="http://schemas.openxmlformats.org/officeDocument/2006/relationships/image"/><Relationship Id="rId5" Target="../media/image216.png" Type="http://schemas.openxmlformats.org/officeDocument/2006/relationships/image"/><Relationship Id="rId6" Target="../media/image217.png" Type="http://schemas.openxmlformats.org/officeDocument/2006/relationships/image"/><Relationship Id="rId7" Target="../media/image218.png" Type="http://schemas.openxmlformats.org/officeDocument/2006/relationships/image"/><Relationship Id="rId8" Target="../media/image219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8.png" Type="http://schemas.openxmlformats.org/officeDocument/2006/relationships/image"/><Relationship Id="rId11" Target="../media/image229.png" Type="http://schemas.openxmlformats.org/officeDocument/2006/relationships/image"/><Relationship Id="rId12" Target="../media/image230.png" Type="http://schemas.openxmlformats.org/officeDocument/2006/relationships/image"/><Relationship Id="rId13" Target="../media/image231.png" Type="http://schemas.openxmlformats.org/officeDocument/2006/relationships/image"/><Relationship Id="rId14" Target="../media/image232.png" Type="http://schemas.openxmlformats.org/officeDocument/2006/relationships/image"/><Relationship Id="rId15" Target="../media/image233.png" Type="http://schemas.openxmlformats.org/officeDocument/2006/relationships/image"/><Relationship Id="rId16" Target="../media/image234.png" Type="http://schemas.openxmlformats.org/officeDocument/2006/relationships/image"/><Relationship Id="rId17" Target="../media/image235.png" Type="http://schemas.openxmlformats.org/officeDocument/2006/relationships/image"/><Relationship Id="rId18" Target="../media/image236.png" Type="http://schemas.openxmlformats.org/officeDocument/2006/relationships/image"/><Relationship Id="rId19" Target="../media/image237.png" Type="http://schemas.openxmlformats.org/officeDocument/2006/relationships/image"/><Relationship Id="rId2" Target="../media/image220.png" Type="http://schemas.openxmlformats.org/officeDocument/2006/relationships/image"/><Relationship Id="rId3" Target="../media/image221.png" Type="http://schemas.openxmlformats.org/officeDocument/2006/relationships/image"/><Relationship Id="rId4" Target="../media/image222.png" Type="http://schemas.openxmlformats.org/officeDocument/2006/relationships/image"/><Relationship Id="rId5" Target="../media/image223.png" Type="http://schemas.openxmlformats.org/officeDocument/2006/relationships/image"/><Relationship Id="rId6" Target="../media/image224.png" Type="http://schemas.openxmlformats.org/officeDocument/2006/relationships/image"/><Relationship Id="rId7" Target="../media/image225.png" Type="http://schemas.openxmlformats.org/officeDocument/2006/relationships/image"/><Relationship Id="rId8" Target="../media/image226.png" Type="http://schemas.openxmlformats.org/officeDocument/2006/relationships/image"/><Relationship Id="rId9" Target="../media/image227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238.png" Type="http://schemas.openxmlformats.org/officeDocument/2006/relationships/image"/><Relationship Id="rId4" Target="../media/image239.png" Type="http://schemas.openxmlformats.org/officeDocument/2006/relationships/image"/><Relationship Id="rId5" Target="../media/image240.png" Type="http://schemas.openxmlformats.org/officeDocument/2006/relationships/image"/><Relationship Id="rId6" Target="../media/image241.png" Type="http://schemas.openxmlformats.org/officeDocument/2006/relationships/image"/><Relationship Id="rId7" Target="../media/image242.png" Type="http://schemas.openxmlformats.org/officeDocument/2006/relationships/image"/><Relationship Id="rId8" Target="../media/image243.png" Type="http://schemas.openxmlformats.org/officeDocument/2006/relationships/image"/><Relationship Id="rId9" Target="../media/image244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2.png" Type="http://schemas.openxmlformats.org/officeDocument/2006/relationships/image"/><Relationship Id="rId2" Target="../media/image2.jpeg" Type="http://schemas.openxmlformats.org/officeDocument/2006/relationships/image"/><Relationship Id="rId3" Target="../media/image245.png" Type="http://schemas.openxmlformats.org/officeDocument/2006/relationships/image"/><Relationship Id="rId4" Target="../media/image246.png" Type="http://schemas.openxmlformats.org/officeDocument/2006/relationships/image"/><Relationship Id="rId5" Target="../media/image247.png" Type="http://schemas.openxmlformats.org/officeDocument/2006/relationships/image"/><Relationship Id="rId6" Target="../media/image248.png" Type="http://schemas.openxmlformats.org/officeDocument/2006/relationships/image"/><Relationship Id="rId7" Target="../media/image249.png" Type="http://schemas.openxmlformats.org/officeDocument/2006/relationships/image"/><Relationship Id="rId8" Target="../media/image250.png" Type="http://schemas.openxmlformats.org/officeDocument/2006/relationships/image"/><Relationship Id="rId9" Target="../media/image25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0171"/>
            <a:ext cx="18288000" cy="10327341"/>
          </a:xfrm>
          <a:custGeom>
            <a:avLst/>
            <a:gdLst/>
            <a:ahLst/>
            <a:cxnLst/>
            <a:rect r="r" b="b" t="t" l="l"/>
            <a:pathLst>
              <a:path h="10327341" w="18288000">
                <a:moveTo>
                  <a:pt x="0" y="0"/>
                </a:moveTo>
                <a:lnTo>
                  <a:pt x="18288000" y="0"/>
                </a:lnTo>
                <a:lnTo>
                  <a:pt x="18288000" y="10327342"/>
                </a:lnTo>
                <a:lnTo>
                  <a:pt x="0" y="103273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70420" y="1667096"/>
            <a:ext cx="15147161" cy="30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9"/>
              </a:lnSpc>
            </a:pPr>
            <a:r>
              <a:rPr lang="en-US" b="true" sz="18000">
                <a:solidFill>
                  <a:srgbClr val="F45624"/>
                </a:solidFill>
                <a:latin typeface="Paperlogy Heavy"/>
                <a:ea typeface="Paperlogy Heavy"/>
                <a:cs typeface="Paperlogy Heavy"/>
                <a:sym typeface="Paperlogy Heavy"/>
              </a:rPr>
              <a:t>L.ReMeTTRe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865482" y="5721489"/>
            <a:ext cx="14557036" cy="1552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 b="true">
                <a:solidFill>
                  <a:srgbClr val="FFFFFF"/>
                </a:solidFill>
                <a:latin typeface="Paperlogy Ultra-Bold"/>
                <a:ea typeface="Paperlogy Ultra-Bold"/>
                <a:cs typeface="Paperlogy Ultra-Bold"/>
                <a:sym typeface="Paperlogy Ultra-Bold"/>
              </a:rPr>
              <a:t>세포의 시간을 되돌리는 과학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77" r="0" b="-927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339958" y="1541936"/>
            <a:ext cx="12647199" cy="2746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99"/>
              </a:lnSpc>
              <a:spcBef>
                <a:spcPct val="0"/>
              </a:spcBef>
            </a:pPr>
            <a:r>
              <a:rPr lang="en-US" b="true" sz="15999" strike="noStrike" u="none">
                <a:solidFill>
                  <a:srgbClr val="8B30FF"/>
                </a:solidFill>
                <a:latin typeface="Paperlogy Heavy"/>
                <a:ea typeface="Paperlogy Heavy"/>
                <a:cs typeface="Paperlogy Heavy"/>
                <a:sym typeface="Paperlogy Heavy"/>
              </a:rPr>
              <a:t>REMETTRE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692348" y="4141182"/>
            <a:ext cx="7942419" cy="689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>
                <a:solidFill>
                  <a:srgbClr val="FFFFFF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REMETTRE (Restore) ・ 되돌리다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041087" y="6274996"/>
            <a:ext cx="12205825" cy="2143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7000">
                <a:solidFill>
                  <a:srgbClr val="F45624"/>
                </a:solidFill>
                <a:latin typeface="Paperlogy Ultra-Bold"/>
                <a:ea typeface="Paperlogy Ultra-Bold"/>
                <a:cs typeface="Paperlogy Ultra-Bold"/>
                <a:sym typeface="Paperlogy Ultra-Bold"/>
              </a:rPr>
              <a:t>“가장 활력 넘치던 본연의 상태로</a:t>
            </a:r>
          </a:p>
          <a:p>
            <a:pPr algn="ctr">
              <a:lnSpc>
                <a:spcPts val="8400"/>
              </a:lnSpc>
            </a:pPr>
            <a:r>
              <a:rPr lang="en-US" b="true" sz="7000">
                <a:solidFill>
                  <a:srgbClr val="F45624"/>
                </a:solidFill>
                <a:latin typeface="Paperlogy Ultra-Bold"/>
                <a:ea typeface="Paperlogy Ultra-Bold"/>
                <a:cs typeface="Paperlogy Ultra-Bold"/>
                <a:sym typeface="Paperlogy Ultra-Bold"/>
              </a:rPr>
              <a:t>당신의 삶을 되돌립니다.”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00843" y="1439670"/>
            <a:ext cx="1563532" cy="2746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9"/>
              </a:lnSpc>
            </a:pPr>
            <a:r>
              <a:rPr lang="en-US" b="true" sz="15999">
                <a:solidFill>
                  <a:srgbClr val="F45624"/>
                </a:solidFill>
                <a:latin typeface="Paperlogy Heavy"/>
                <a:ea typeface="Paperlogy Heavy"/>
                <a:cs typeface="Paperlogy Heavy"/>
                <a:sym typeface="Paperlogy Heavy"/>
              </a:rPr>
              <a:t>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979771" y="1389257"/>
            <a:ext cx="1244791" cy="283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87"/>
              </a:lnSpc>
            </a:pPr>
            <a:r>
              <a:rPr lang="en-US" b="true" sz="16562">
                <a:solidFill>
                  <a:srgbClr val="FFFFFF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+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98045" y="4141182"/>
            <a:ext cx="3126516" cy="689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>
                <a:solidFill>
                  <a:srgbClr val="FFFFFF"/>
                </a:solidFill>
                <a:latin typeface="Paperlogy Ultra-Bold"/>
                <a:ea typeface="Paperlogy Ultra-Bold"/>
                <a:cs typeface="Paperlogy Ultra-Bold"/>
                <a:sym typeface="Paperlogy Ultra-Bold"/>
              </a:rPr>
              <a:t>L (Life)·삶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0171"/>
            <a:ext cx="18288000" cy="10327341"/>
          </a:xfrm>
          <a:custGeom>
            <a:avLst/>
            <a:gdLst/>
            <a:ahLst/>
            <a:cxnLst/>
            <a:rect r="r" b="b" t="t" l="l"/>
            <a:pathLst>
              <a:path h="10327341" w="18288000">
                <a:moveTo>
                  <a:pt x="0" y="0"/>
                </a:moveTo>
                <a:lnTo>
                  <a:pt x="18288000" y="0"/>
                </a:lnTo>
                <a:lnTo>
                  <a:pt x="18288000" y="10327342"/>
                </a:lnTo>
                <a:lnTo>
                  <a:pt x="0" y="103273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20171"/>
            <a:ext cx="9144000" cy="10327341"/>
          </a:xfrm>
          <a:custGeom>
            <a:avLst/>
            <a:gdLst/>
            <a:ahLst/>
            <a:cxnLst/>
            <a:rect r="r" b="b" t="t" l="l"/>
            <a:pathLst>
              <a:path h="10327341" w="9144000">
                <a:moveTo>
                  <a:pt x="0" y="0"/>
                </a:moveTo>
                <a:lnTo>
                  <a:pt x="9144000" y="0"/>
                </a:lnTo>
                <a:lnTo>
                  <a:pt x="9144000" y="10327342"/>
                </a:lnTo>
                <a:lnTo>
                  <a:pt x="0" y="103273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0"/>
            <a:ext cx="9144000" cy="10327341"/>
          </a:xfrm>
          <a:custGeom>
            <a:avLst/>
            <a:gdLst/>
            <a:ahLst/>
            <a:cxnLst/>
            <a:rect r="r" b="b" t="t" l="l"/>
            <a:pathLst>
              <a:path h="10327341" w="9144000">
                <a:moveTo>
                  <a:pt x="0" y="0"/>
                </a:moveTo>
                <a:lnTo>
                  <a:pt x="9144000" y="0"/>
                </a:lnTo>
                <a:lnTo>
                  <a:pt x="9144000" y="10327341"/>
                </a:lnTo>
                <a:lnTo>
                  <a:pt x="0" y="103273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24835" y="2220400"/>
            <a:ext cx="3926541" cy="6454588"/>
          </a:xfrm>
          <a:custGeom>
            <a:avLst/>
            <a:gdLst/>
            <a:ahLst/>
            <a:cxnLst/>
            <a:rect r="r" b="b" t="t" l="l"/>
            <a:pathLst>
              <a:path h="6454588" w="3926541">
                <a:moveTo>
                  <a:pt x="0" y="0"/>
                </a:moveTo>
                <a:lnTo>
                  <a:pt x="3926541" y="0"/>
                </a:lnTo>
                <a:lnTo>
                  <a:pt x="3926541" y="6454588"/>
                </a:lnTo>
                <a:lnTo>
                  <a:pt x="0" y="64545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487400" y="1270747"/>
            <a:ext cx="4370294" cy="7745506"/>
          </a:xfrm>
          <a:custGeom>
            <a:avLst/>
            <a:gdLst/>
            <a:ahLst/>
            <a:cxnLst/>
            <a:rect r="r" b="b" t="t" l="l"/>
            <a:pathLst>
              <a:path h="7745506" w="4370294">
                <a:moveTo>
                  <a:pt x="0" y="0"/>
                </a:moveTo>
                <a:lnTo>
                  <a:pt x="4370294" y="0"/>
                </a:lnTo>
                <a:lnTo>
                  <a:pt x="4370294" y="7745506"/>
                </a:lnTo>
                <a:lnTo>
                  <a:pt x="0" y="77455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495008" y="3212717"/>
            <a:ext cx="13297984" cy="3155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99"/>
              </a:lnSpc>
            </a:pPr>
            <a:r>
              <a:rPr lang="en-US" b="true" sz="9999" spc="-299">
                <a:solidFill>
                  <a:srgbClr val="FFFFFF"/>
                </a:solidFill>
                <a:latin typeface="Paperlogy Heavy"/>
                <a:ea typeface="Paperlogy Heavy"/>
                <a:cs typeface="Paperlogy Heavy"/>
                <a:sym typeface="Paperlogy Heavy"/>
              </a:rPr>
              <a:t>우리는 살아가는가?</a:t>
            </a:r>
          </a:p>
          <a:p>
            <a:pPr algn="ctr">
              <a:lnSpc>
                <a:spcPts val="12499"/>
              </a:lnSpc>
            </a:pPr>
            <a:r>
              <a:rPr lang="en-US" b="true" sz="9999" spc="-299">
                <a:solidFill>
                  <a:srgbClr val="FFFFFF"/>
                </a:solidFill>
                <a:latin typeface="Paperlogy Heavy"/>
                <a:ea typeface="Paperlogy Heavy"/>
                <a:cs typeface="Paperlogy Heavy"/>
                <a:sym typeface="Paperlogy Heavy"/>
              </a:rPr>
              <a:t>아니면 견디고 있는가?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151376" y="7264546"/>
            <a:ext cx="9985248" cy="586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5"/>
              </a:lnSpc>
            </a:pPr>
            <a:r>
              <a:rPr lang="en-US" b="true" sz="3676" spc="-110">
                <a:solidFill>
                  <a:srgbClr val="FFFFFF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100세 시대의 반전 : 건강수명(Healthy Life)의 부재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643557" y="1419391"/>
            <a:ext cx="9000887" cy="503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86"/>
              </a:lnSpc>
            </a:pPr>
            <a:r>
              <a:rPr lang="en-US" b="true" sz="3189" spc="1913">
                <a:solidFill>
                  <a:srgbClr val="F45624"/>
                </a:solidFill>
                <a:latin typeface="Paperlogy Heavy"/>
                <a:ea typeface="Paperlogy Heavy"/>
                <a:cs typeface="Paperlogy Heavy"/>
                <a:sym typeface="Paperlogy Heavy"/>
              </a:rPr>
              <a:t>THE HUMAN DILEMMA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77" r="0" b="-92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15153" y="1378324"/>
            <a:ext cx="6535271" cy="7960659"/>
          </a:xfrm>
          <a:custGeom>
            <a:avLst/>
            <a:gdLst/>
            <a:ahLst/>
            <a:cxnLst/>
            <a:rect r="r" b="b" t="t" l="l"/>
            <a:pathLst>
              <a:path h="7960659" w="6535271">
                <a:moveTo>
                  <a:pt x="0" y="0"/>
                </a:moveTo>
                <a:lnTo>
                  <a:pt x="6535271" y="0"/>
                </a:lnTo>
                <a:lnTo>
                  <a:pt x="6535271" y="7960658"/>
                </a:lnTo>
                <a:lnTo>
                  <a:pt x="0" y="79606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77788" y="2418893"/>
            <a:ext cx="3810000" cy="3810000"/>
          </a:xfrm>
          <a:custGeom>
            <a:avLst/>
            <a:gdLst/>
            <a:ahLst/>
            <a:cxnLst/>
            <a:rect r="r" b="b" t="t" l="l"/>
            <a:pathLst>
              <a:path h="3810000" w="3810000">
                <a:moveTo>
                  <a:pt x="0" y="0"/>
                </a:moveTo>
                <a:lnTo>
                  <a:pt x="3810000" y="0"/>
                </a:lnTo>
                <a:lnTo>
                  <a:pt x="3810000" y="3810000"/>
                </a:lnTo>
                <a:lnTo>
                  <a:pt x="0" y="3810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488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091518" y="1378324"/>
            <a:ext cx="6320118" cy="7960659"/>
          </a:xfrm>
          <a:custGeom>
            <a:avLst/>
            <a:gdLst/>
            <a:ahLst/>
            <a:cxnLst/>
            <a:rect r="r" b="b" t="t" l="l"/>
            <a:pathLst>
              <a:path h="7960659" w="6320118">
                <a:moveTo>
                  <a:pt x="0" y="0"/>
                </a:moveTo>
                <a:lnTo>
                  <a:pt x="6320117" y="0"/>
                </a:lnTo>
                <a:lnTo>
                  <a:pt x="6320117" y="7960658"/>
                </a:lnTo>
                <a:lnTo>
                  <a:pt x="0" y="79606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227958" y="2418893"/>
            <a:ext cx="3810000" cy="3810000"/>
          </a:xfrm>
          <a:custGeom>
            <a:avLst/>
            <a:gdLst/>
            <a:ahLst/>
            <a:cxnLst/>
            <a:rect r="r" b="b" t="t" l="l"/>
            <a:pathLst>
              <a:path h="3810000" w="3810000">
                <a:moveTo>
                  <a:pt x="0" y="0"/>
                </a:moveTo>
                <a:lnTo>
                  <a:pt x="3810000" y="0"/>
                </a:lnTo>
                <a:lnTo>
                  <a:pt x="3810000" y="3810000"/>
                </a:lnTo>
                <a:lnTo>
                  <a:pt x="0" y="3810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3173" b="-190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537576" y="1378324"/>
            <a:ext cx="6535271" cy="7960659"/>
          </a:xfrm>
          <a:custGeom>
            <a:avLst/>
            <a:gdLst/>
            <a:ahLst/>
            <a:cxnLst/>
            <a:rect r="r" b="b" t="t" l="l"/>
            <a:pathLst>
              <a:path h="7960659" w="6535271">
                <a:moveTo>
                  <a:pt x="0" y="0"/>
                </a:moveTo>
                <a:lnTo>
                  <a:pt x="6535271" y="0"/>
                </a:lnTo>
                <a:lnTo>
                  <a:pt x="6535271" y="7960658"/>
                </a:lnTo>
                <a:lnTo>
                  <a:pt x="0" y="79606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926568" y="2418893"/>
            <a:ext cx="3810000" cy="3810000"/>
          </a:xfrm>
          <a:custGeom>
            <a:avLst/>
            <a:gdLst/>
            <a:ahLst/>
            <a:cxnLst/>
            <a:rect r="r" b="b" t="t" l="l"/>
            <a:pathLst>
              <a:path h="3810000" w="3810000">
                <a:moveTo>
                  <a:pt x="0" y="0"/>
                </a:moveTo>
                <a:lnTo>
                  <a:pt x="3810000" y="0"/>
                </a:lnTo>
                <a:lnTo>
                  <a:pt x="3810000" y="3810000"/>
                </a:lnTo>
                <a:lnTo>
                  <a:pt x="0" y="38100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-3703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60612" y="9231406"/>
            <a:ext cx="3281082" cy="215153"/>
          </a:xfrm>
          <a:custGeom>
            <a:avLst/>
            <a:gdLst/>
            <a:ahLst/>
            <a:cxnLst/>
            <a:rect r="r" b="b" t="t" l="l"/>
            <a:pathLst>
              <a:path h="215153" w="3281082">
                <a:moveTo>
                  <a:pt x="0" y="0"/>
                </a:moveTo>
                <a:lnTo>
                  <a:pt x="3281082" y="0"/>
                </a:lnTo>
                <a:lnTo>
                  <a:pt x="3281082" y="215153"/>
                </a:lnTo>
                <a:lnTo>
                  <a:pt x="0" y="21515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146306" y="9231406"/>
            <a:ext cx="3281082" cy="215153"/>
          </a:xfrm>
          <a:custGeom>
            <a:avLst/>
            <a:gdLst/>
            <a:ahLst/>
            <a:cxnLst/>
            <a:rect r="r" b="b" t="t" l="l"/>
            <a:pathLst>
              <a:path h="215153" w="3281082">
                <a:moveTo>
                  <a:pt x="0" y="0"/>
                </a:moveTo>
                <a:lnTo>
                  <a:pt x="3281082" y="0"/>
                </a:lnTo>
                <a:lnTo>
                  <a:pt x="3281082" y="215153"/>
                </a:lnTo>
                <a:lnTo>
                  <a:pt x="0" y="21515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918044" y="6209843"/>
            <a:ext cx="3163824" cy="59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37"/>
              </a:lnSpc>
            </a:pPr>
            <a:r>
              <a:rPr lang="en-US" sz="3864" b="true">
                <a:solidFill>
                  <a:srgbClr val="FFFFFF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소이 펩타이드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99124" y="6850196"/>
            <a:ext cx="3767328" cy="439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8"/>
              </a:lnSpc>
            </a:pPr>
            <a:r>
              <a:rPr lang="en-US" sz="2898" b="true">
                <a:solidFill>
                  <a:srgbClr val="FFCC00"/>
                </a:solidFill>
                <a:latin typeface="Paperlogy Semi-Bold"/>
                <a:ea typeface="Paperlogy Semi-Bold"/>
                <a:cs typeface="Paperlogy Semi-Bold"/>
                <a:sym typeface="Paperlogy Semi-Bold"/>
              </a:rPr>
              <a:t>[채움]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20460" y="7392912"/>
            <a:ext cx="4213882" cy="1095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b="true" sz="2400">
                <a:solidFill>
                  <a:srgbClr val="FFCC00"/>
                </a:solidFill>
                <a:latin typeface="Paperlogy Semi-Bold"/>
                <a:ea typeface="Paperlogy Semi-Bold"/>
                <a:cs typeface="Paperlogy Semi-Bold"/>
                <a:sym typeface="Paperlogy Semi-Bold"/>
              </a:rPr>
              <a:t>500달톤 이하 초저분자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b="true" sz="2400">
                <a:solidFill>
                  <a:srgbClr val="FFCC00"/>
                </a:solidFill>
                <a:latin typeface="Paperlogy Semi-Bold"/>
                <a:ea typeface="Paperlogy Semi-Bold"/>
                <a:cs typeface="Paperlogy Semi-Bold"/>
                <a:sym typeface="Paperlogy Semi-Bold"/>
              </a:rPr>
              <a:t>소화 과정 없는 직통 흡수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b="true" sz="2400">
                <a:solidFill>
                  <a:srgbClr val="FFCC00"/>
                </a:solidFill>
                <a:latin typeface="Paperlogy Semi-Bold"/>
                <a:ea typeface="Paperlogy Semi-Bold"/>
                <a:cs typeface="Paperlogy Semi-Bold"/>
                <a:sym typeface="Paperlogy Semi-Bold"/>
              </a:rPr>
              <a:t>근육·혈관·면역 활성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144635" y="7392912"/>
            <a:ext cx="4213882" cy="1095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b="true" sz="2400">
                <a:solidFill>
                  <a:srgbClr val="00FECA"/>
                </a:solidFill>
                <a:latin typeface="Paperlogy Semi-Bold"/>
                <a:ea typeface="Paperlogy Semi-Bold"/>
                <a:cs typeface="Paperlogy Semi-Bold"/>
                <a:sym typeface="Paperlogy Semi-Bold"/>
              </a:rPr>
              <a:t>50배 팽창 차전자피 복합망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b="true" sz="2400">
                <a:solidFill>
                  <a:srgbClr val="00FECA"/>
                </a:solidFill>
                <a:latin typeface="Paperlogy Semi-Bold"/>
                <a:ea typeface="Paperlogy Semi-Bold"/>
                <a:cs typeface="Paperlogy Semi-Bold"/>
                <a:sym typeface="Paperlogy Semi-Bold"/>
              </a:rPr>
              <a:t>장벽의 묵은 잔여물 강력 흡착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b="true" sz="2400">
                <a:solidFill>
                  <a:srgbClr val="00FECA"/>
                </a:solidFill>
                <a:latin typeface="Paperlogy Semi-Bold"/>
                <a:ea typeface="Paperlogy Semi-Bold"/>
                <a:cs typeface="Paperlogy Semi-Bold"/>
                <a:sym typeface="Paperlogy Semi-Bold"/>
              </a:rPr>
              <a:t>잔여감 없는 상쾌한 배출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724627" y="7392912"/>
            <a:ext cx="4213882" cy="1095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b="true" sz="2400">
                <a:solidFill>
                  <a:srgbClr val="FF66FF"/>
                </a:solidFill>
                <a:latin typeface="Paperlogy Semi-Bold"/>
                <a:ea typeface="Paperlogy Semi-Bold"/>
                <a:cs typeface="Paperlogy Semi-Bold"/>
                <a:sym typeface="Paperlogy Semi-Bold"/>
              </a:rPr>
              <a:t>순도 98% 농축 점액 다당체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b="true" sz="2400">
                <a:solidFill>
                  <a:srgbClr val="FF66FF"/>
                </a:solidFill>
                <a:latin typeface="Paperlogy Semi-Bold"/>
                <a:ea typeface="Paperlogy Semi-Bold"/>
                <a:cs typeface="Paperlogy Semi-Bold"/>
                <a:sym typeface="Paperlogy Semi-Bold"/>
              </a:rPr>
              <a:t>위와 장 점막 틈새 밀착 코팅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b="true" sz="2400">
                <a:solidFill>
                  <a:srgbClr val="FF66FF"/>
                </a:solidFill>
                <a:latin typeface="Paperlogy Semi-Bold"/>
                <a:ea typeface="Paperlogy Semi-Bold"/>
                <a:cs typeface="Paperlogy Semi-Bold"/>
                <a:sym typeface="Paperlogy Semi-Bold"/>
              </a:rPr>
              <a:t>위산·독소로부터  방어막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916552" y="6209843"/>
            <a:ext cx="2670048" cy="59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37"/>
              </a:lnSpc>
            </a:pPr>
            <a:r>
              <a:rPr lang="en-US" sz="3864" b="true">
                <a:solidFill>
                  <a:srgbClr val="FFFFFF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플컵 오크라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367912" y="6850196"/>
            <a:ext cx="3767328" cy="439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8"/>
              </a:lnSpc>
            </a:pPr>
            <a:r>
              <a:rPr lang="en-US" sz="2898" b="true">
                <a:solidFill>
                  <a:srgbClr val="00FECA"/>
                </a:solidFill>
                <a:latin typeface="Paperlogy Semi-Bold"/>
                <a:ea typeface="Paperlogy Semi-Bold"/>
                <a:cs typeface="Paperlogy Semi-Bold"/>
                <a:sym typeface="Paperlogy Semi-Bold"/>
              </a:rPr>
              <a:t>[비움]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470188" y="6209843"/>
            <a:ext cx="2670048" cy="59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37"/>
              </a:lnSpc>
            </a:pPr>
            <a:r>
              <a:rPr lang="en-US" sz="3864" b="true">
                <a:solidFill>
                  <a:srgbClr val="FFFFFF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오크라 블룸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665516" y="6850196"/>
            <a:ext cx="4279392" cy="439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8"/>
              </a:lnSpc>
            </a:pPr>
            <a:r>
              <a:rPr lang="en-US" sz="2898" b="true">
                <a:solidFill>
                  <a:srgbClr val="FF66FF"/>
                </a:solidFill>
                <a:latin typeface="Paperlogy Semi-Bold"/>
                <a:ea typeface="Paperlogy Semi-Bold"/>
                <a:cs typeface="Paperlogy Semi-Bold"/>
                <a:sym typeface="Paperlogy Semi-Bold"/>
              </a:rPr>
              <a:t>[보호]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94651" y="276812"/>
            <a:ext cx="15676613" cy="1524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99"/>
              </a:lnSpc>
            </a:pPr>
            <a:r>
              <a:rPr lang="en-US" sz="9999" b="true">
                <a:solidFill>
                  <a:srgbClr val="F45624"/>
                </a:solidFill>
                <a:latin typeface="Paperlogy Heavy"/>
                <a:ea typeface="Paperlogy Heavy"/>
                <a:cs typeface="Paperlogy Heavy"/>
                <a:sym typeface="Paperlogy Heavy"/>
              </a:rPr>
              <a:t>건강 회복의 로드맵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315968" y="9141160"/>
            <a:ext cx="9656064" cy="305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0"/>
              </a:lnSpc>
            </a:pPr>
            <a:r>
              <a:rPr lang="en-US" b="true" sz="1975" spc="296">
                <a:solidFill>
                  <a:srgbClr val="FFFFFF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SGS 검증 ・PONY인증  ・ HACCP ・ ISO 22000 인증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0171"/>
            <a:ext cx="18288000" cy="10327341"/>
          </a:xfrm>
          <a:custGeom>
            <a:avLst/>
            <a:gdLst/>
            <a:ahLst/>
            <a:cxnLst/>
            <a:rect r="r" b="b" t="t" l="l"/>
            <a:pathLst>
              <a:path h="10327341" w="18288000">
                <a:moveTo>
                  <a:pt x="0" y="0"/>
                </a:moveTo>
                <a:lnTo>
                  <a:pt x="18288000" y="0"/>
                </a:lnTo>
                <a:lnTo>
                  <a:pt x="18288000" y="10327342"/>
                </a:lnTo>
                <a:lnTo>
                  <a:pt x="0" y="103273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9144000" cy="10287000"/>
          </a:xfrm>
          <a:custGeom>
            <a:avLst/>
            <a:gdLst/>
            <a:ahLst/>
            <a:cxnLst/>
            <a:rect r="r" b="b" t="t" l="l"/>
            <a:pathLst>
              <a:path h="10287000" w="9144000">
                <a:moveTo>
                  <a:pt x="0" y="0"/>
                </a:moveTo>
                <a:lnTo>
                  <a:pt x="9144000" y="0"/>
                </a:lnTo>
                <a:lnTo>
                  <a:pt x="9144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92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-20171"/>
            <a:ext cx="9144000" cy="10327341"/>
          </a:xfrm>
          <a:custGeom>
            <a:avLst/>
            <a:gdLst/>
            <a:ahLst/>
            <a:cxnLst/>
            <a:rect r="r" b="b" t="t" l="l"/>
            <a:pathLst>
              <a:path h="10327341" w="9144000">
                <a:moveTo>
                  <a:pt x="0" y="0"/>
                </a:moveTo>
                <a:lnTo>
                  <a:pt x="9144000" y="0"/>
                </a:lnTo>
                <a:lnTo>
                  <a:pt x="9144000" y="10327342"/>
                </a:lnTo>
                <a:lnTo>
                  <a:pt x="0" y="103273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69848" y="4203072"/>
            <a:ext cx="7004304" cy="1401130"/>
            <a:chOff x="0" y="0"/>
            <a:chExt cx="9339072" cy="1868174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19050"/>
              <a:ext cx="9339072" cy="12381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일반 단백질 : 거대 분자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1259720" y="1356676"/>
              <a:ext cx="6681216" cy="5114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85"/>
                </a:lnSpc>
              </a:pPr>
              <a:r>
                <a:rPr lang="en-US" sz="2488" b="true">
                  <a:solidFill>
                    <a:srgbClr val="FFFFFF">
                      <a:alpha val="69804"/>
                    </a:srgbClr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복잡한 위장관 소화 → 저하된 흡수율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80446" y="2708794"/>
            <a:ext cx="1508642" cy="476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FFFFFF">
                    <a:alpha val="69804"/>
                  </a:srgbClr>
                </a:solidFill>
                <a:latin typeface="Paperlogy Bold"/>
                <a:ea typeface="Paperlogy Bold"/>
                <a:cs typeface="Paperlogy Bold"/>
                <a:sym typeface="Paperlogy Bold"/>
              </a:rPr>
              <a:t>소화효소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299448" y="4203072"/>
            <a:ext cx="7778781" cy="1401130"/>
            <a:chOff x="0" y="0"/>
            <a:chExt cx="10371708" cy="1868174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19050"/>
              <a:ext cx="10371708" cy="12381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소이 펍타이드 : 초저분자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420677" y="1356676"/>
              <a:ext cx="7583424" cy="5114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85"/>
                </a:lnSpc>
              </a:pPr>
              <a:r>
                <a:rPr lang="en-US" b="true" sz="2488">
                  <a:solidFill>
                    <a:srgbClr val="F45624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소화 과정 생략 → 세포 다이렉트 충전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7708392" y="9375408"/>
            <a:ext cx="2871216" cy="534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32"/>
              </a:lnSpc>
            </a:pPr>
            <a:r>
              <a:rPr lang="en-US" sz="3527">
                <a:solidFill>
                  <a:srgbClr val="F45624"/>
                </a:solidFill>
                <a:latin typeface="Paperlogy"/>
                <a:ea typeface="Paperlogy"/>
                <a:cs typeface="Paperlogy"/>
                <a:sym typeface="Paperlogy"/>
              </a:rPr>
              <a:t>L.ReMeTTRe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7395882" y="9909445"/>
            <a:ext cx="3496235" cy="215153"/>
          </a:xfrm>
          <a:custGeom>
            <a:avLst/>
            <a:gdLst/>
            <a:ahLst/>
            <a:cxnLst/>
            <a:rect r="r" b="b" t="t" l="l"/>
            <a:pathLst>
              <a:path h="215153" w="3496235">
                <a:moveTo>
                  <a:pt x="0" y="0"/>
                </a:moveTo>
                <a:lnTo>
                  <a:pt x="3496236" y="0"/>
                </a:lnTo>
                <a:lnTo>
                  <a:pt x="3496236" y="215153"/>
                </a:lnTo>
                <a:lnTo>
                  <a:pt x="0" y="2151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538108" y="395181"/>
            <a:ext cx="15884823" cy="1524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99"/>
              </a:lnSpc>
            </a:pPr>
            <a:r>
              <a:rPr lang="en-US" b="true" sz="9999">
                <a:solidFill>
                  <a:srgbClr val="FFFFFF"/>
                </a:solidFill>
                <a:latin typeface="Paperlogy Heavy"/>
                <a:ea typeface="Paperlogy Heavy"/>
                <a:cs typeface="Paperlogy Heavy"/>
                <a:sym typeface="Paperlogy Heavy"/>
              </a:rPr>
              <a:t>“크기가 흡수 속도를 지배한다”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36535" y="6984604"/>
            <a:ext cx="1696212" cy="457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999" b="true">
                <a:solidFill>
                  <a:srgbClr val="FFFFFF">
                    <a:alpha val="69804"/>
                  </a:srgbClr>
                </a:solidFill>
                <a:latin typeface="Paperlogy Bold"/>
                <a:ea typeface="Paperlogy Bold"/>
                <a:cs typeface="Paperlogy Bold"/>
                <a:sym typeface="Paperlogy Bold"/>
              </a:rPr>
              <a:t>소화효소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77" r="0" b="-927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565848" y="2247064"/>
            <a:ext cx="13156305" cy="5792872"/>
            <a:chOff x="0" y="0"/>
            <a:chExt cx="17541740" cy="772382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4481280" y="0"/>
              <a:ext cx="8809992" cy="7723829"/>
            </a:xfrm>
            <a:custGeom>
              <a:avLst/>
              <a:gdLst/>
              <a:ahLst/>
              <a:cxnLst/>
              <a:rect r="r" b="b" t="t" l="l"/>
              <a:pathLst>
                <a:path h="7723829" w="8809992">
                  <a:moveTo>
                    <a:pt x="0" y="0"/>
                  </a:moveTo>
                  <a:lnTo>
                    <a:pt x="8809992" y="0"/>
                  </a:lnTo>
                  <a:lnTo>
                    <a:pt x="8809992" y="7723829"/>
                  </a:lnTo>
                  <a:lnTo>
                    <a:pt x="0" y="77238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1208442"/>
              <a:ext cx="8886276" cy="4616247"/>
            </a:xfrm>
            <a:custGeom>
              <a:avLst/>
              <a:gdLst/>
              <a:ahLst/>
              <a:cxnLst/>
              <a:rect r="r" b="b" t="t" l="l"/>
              <a:pathLst>
                <a:path h="4616247" w="8886276">
                  <a:moveTo>
                    <a:pt x="0" y="0"/>
                  </a:moveTo>
                  <a:lnTo>
                    <a:pt x="8886276" y="0"/>
                  </a:lnTo>
                  <a:lnTo>
                    <a:pt x="8886276" y="4616247"/>
                  </a:lnTo>
                  <a:lnTo>
                    <a:pt x="0" y="46162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8641038" y="1208442"/>
              <a:ext cx="8900702" cy="4616247"/>
            </a:xfrm>
            <a:custGeom>
              <a:avLst/>
              <a:gdLst/>
              <a:ahLst/>
              <a:cxnLst/>
              <a:rect r="r" b="b" t="t" l="l"/>
              <a:pathLst>
                <a:path h="4616247" w="8900702">
                  <a:moveTo>
                    <a:pt x="0" y="0"/>
                  </a:moveTo>
                  <a:lnTo>
                    <a:pt x="8900702" y="0"/>
                  </a:lnTo>
                  <a:lnTo>
                    <a:pt x="8900702" y="4616247"/>
                  </a:lnTo>
                  <a:lnTo>
                    <a:pt x="0" y="46162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2732" y="322101"/>
            <a:ext cx="18282535" cy="1717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b="true" sz="9999" spc="99">
                <a:solidFill>
                  <a:srgbClr val="FFFFFF"/>
                </a:solidFill>
                <a:latin typeface="Paperlogy Ultra-Bold"/>
                <a:ea typeface="Paperlogy Ultra-Bold"/>
                <a:cs typeface="Paperlogy Ultra-Bold"/>
                <a:sym typeface="Paperlogy Ultra-Bold"/>
              </a:rPr>
              <a:t>흡수를 결정짓는 선:</a:t>
            </a:r>
            <a:r>
              <a:rPr lang="en-US" b="true" sz="9999" spc="99">
                <a:solidFill>
                  <a:srgbClr val="FFFFFF"/>
                </a:solidFill>
                <a:latin typeface="Paperlogy Ultra-Bold"/>
                <a:ea typeface="Paperlogy Ultra-Bold"/>
                <a:cs typeface="Paperlogy Ultra-Bold"/>
                <a:sym typeface="Paperlogy Ultra-Bold"/>
              </a:rPr>
              <a:t> 500 달톤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871216" y="7150504"/>
            <a:ext cx="12545568" cy="1120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11"/>
              </a:lnSpc>
            </a:pPr>
            <a:r>
              <a:rPr lang="en-US" b="true" sz="6508" spc="-325">
                <a:solidFill>
                  <a:srgbClr val="FFFFFF"/>
                </a:solidFill>
                <a:latin typeface="Paperlogy Ultra-Bold"/>
                <a:ea typeface="Paperlogy Ultra-Bold"/>
                <a:cs typeface="Paperlogy Ultra-Bold"/>
                <a:sym typeface="Paperlogy Ultra-Bold"/>
              </a:rPr>
              <a:t>세포막을 직통하는 초미세 분자 과학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038747" y="4126691"/>
            <a:ext cx="6210507" cy="1824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58"/>
              </a:lnSpc>
            </a:pPr>
            <a:r>
              <a:rPr lang="en-US" b="true" sz="10613">
                <a:solidFill>
                  <a:srgbClr val="F45624"/>
                </a:solidFill>
                <a:latin typeface="Paperlogy Heavy"/>
                <a:ea typeface="Paperlogy Heavy"/>
                <a:cs typeface="Paperlogy Heavy"/>
                <a:sym typeface="Paperlogy Heavy"/>
              </a:rPr>
              <a:t>&lt; 500 Da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2569" y="8957115"/>
            <a:ext cx="16402861" cy="59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86"/>
              </a:lnSpc>
            </a:pPr>
            <a:r>
              <a:rPr lang="en-US" b="true" sz="3419">
                <a:solidFill>
                  <a:srgbClr val="F45624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육류 단백질 (수십만 Da)   →    콜라겐 (3,000 Da)   →    르메뜨레 (500 Da 이하 60%)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77" r="0" b="-92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3462599"/>
            <a:ext cx="18288000" cy="5593976"/>
          </a:xfrm>
          <a:custGeom>
            <a:avLst/>
            <a:gdLst/>
            <a:ahLst/>
            <a:cxnLst/>
            <a:rect r="r" b="b" t="t" l="l"/>
            <a:pathLst>
              <a:path h="5593976" w="18288000">
                <a:moveTo>
                  <a:pt x="0" y="0"/>
                </a:moveTo>
                <a:lnTo>
                  <a:pt x="18288000" y="0"/>
                </a:lnTo>
                <a:lnTo>
                  <a:pt x="18288000" y="5593976"/>
                </a:lnTo>
                <a:lnTo>
                  <a:pt x="0" y="55939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217459" y="3637429"/>
            <a:ext cx="9587753" cy="4733365"/>
          </a:xfrm>
          <a:custGeom>
            <a:avLst/>
            <a:gdLst/>
            <a:ahLst/>
            <a:cxnLst/>
            <a:rect r="r" b="b" t="t" l="l"/>
            <a:pathLst>
              <a:path h="4733365" w="9587753">
                <a:moveTo>
                  <a:pt x="0" y="0"/>
                </a:moveTo>
                <a:lnTo>
                  <a:pt x="9587753" y="0"/>
                </a:lnTo>
                <a:lnTo>
                  <a:pt x="9587753" y="4733365"/>
                </a:lnTo>
                <a:lnTo>
                  <a:pt x="0" y="47333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254188" y="3852582"/>
            <a:ext cx="1317812" cy="1506071"/>
          </a:xfrm>
          <a:custGeom>
            <a:avLst/>
            <a:gdLst/>
            <a:ahLst/>
            <a:cxnLst/>
            <a:rect r="r" b="b" t="t" l="l"/>
            <a:pathLst>
              <a:path h="1506071" w="1317812">
                <a:moveTo>
                  <a:pt x="0" y="0"/>
                </a:moveTo>
                <a:lnTo>
                  <a:pt x="1317812" y="0"/>
                </a:lnTo>
                <a:lnTo>
                  <a:pt x="1317812" y="1506071"/>
                </a:lnTo>
                <a:lnTo>
                  <a:pt x="0" y="15060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313062" y="8294594"/>
            <a:ext cx="3767328" cy="362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0"/>
              </a:lnSpc>
            </a:pPr>
            <a:r>
              <a:rPr lang="en-US" sz="2200" b="true">
                <a:solidFill>
                  <a:srgbClr val="C45EFF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소장 상피 세포막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9144000" y="7295029"/>
            <a:ext cx="228600" cy="1290918"/>
          </a:xfrm>
          <a:custGeom>
            <a:avLst/>
            <a:gdLst/>
            <a:ahLst/>
            <a:cxnLst/>
            <a:rect r="r" b="b" t="t" l="l"/>
            <a:pathLst>
              <a:path h="1290918" w="228600">
                <a:moveTo>
                  <a:pt x="0" y="0"/>
                </a:moveTo>
                <a:lnTo>
                  <a:pt x="228600" y="0"/>
                </a:lnTo>
                <a:lnTo>
                  <a:pt x="228600" y="1290918"/>
                </a:lnTo>
                <a:lnTo>
                  <a:pt x="0" y="12909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464118" y="6488196"/>
            <a:ext cx="1665574" cy="724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0"/>
              </a:lnSpc>
            </a:pPr>
            <a:r>
              <a:rPr lang="en-US" sz="2200" b="true">
                <a:solidFill>
                  <a:srgbClr val="C45EFF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단일 아미노산</a:t>
            </a:r>
          </a:p>
          <a:p>
            <a:pPr algn="ctr">
              <a:lnSpc>
                <a:spcPts val="2860"/>
              </a:lnSpc>
            </a:pPr>
            <a:r>
              <a:rPr lang="en-US" sz="2200" b="true">
                <a:solidFill>
                  <a:srgbClr val="C45EFF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(느린 흡수)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3931153" y="6219265"/>
            <a:ext cx="1532965" cy="645459"/>
          </a:xfrm>
          <a:custGeom>
            <a:avLst/>
            <a:gdLst/>
            <a:ahLst/>
            <a:cxnLst/>
            <a:rect r="r" b="b" t="t" l="l"/>
            <a:pathLst>
              <a:path h="645459" w="1532965">
                <a:moveTo>
                  <a:pt x="0" y="0"/>
                </a:moveTo>
                <a:lnTo>
                  <a:pt x="1532965" y="0"/>
                </a:lnTo>
                <a:lnTo>
                  <a:pt x="1532965" y="645459"/>
                </a:lnTo>
                <a:lnTo>
                  <a:pt x="0" y="6454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651760" y="980094"/>
            <a:ext cx="12984480" cy="1074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68"/>
              </a:lnSpc>
            </a:pPr>
            <a:r>
              <a:rPr lang="en-US" sz="8068">
                <a:solidFill>
                  <a:srgbClr val="FFFFFF">
                    <a:alpha val="9804"/>
                  </a:srgbClr>
                </a:solidFill>
                <a:latin typeface="210 썸타임 Light"/>
                <a:ea typeface="210 썸타임 Light"/>
                <a:cs typeface="210 썸타임 Light"/>
                <a:sym typeface="210 썸타임 Light"/>
              </a:rPr>
              <a:t>휴수 교습보르 : Pep11 소송체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4291" y="535288"/>
            <a:ext cx="16299419" cy="1524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99"/>
              </a:lnSpc>
            </a:pPr>
            <a:r>
              <a:rPr lang="en-US" sz="9999" b="true">
                <a:solidFill>
                  <a:srgbClr val="FFFFFF"/>
                </a:solidFill>
                <a:latin typeface="Paperlogy Heavy"/>
                <a:ea typeface="Paperlogy Heavy"/>
                <a:cs typeface="Paperlogy Heavy"/>
                <a:sym typeface="Paperlogy Heavy"/>
              </a:rPr>
              <a:t>흡수 고속도로 : PepT1 수송체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400300" y="8942902"/>
            <a:ext cx="13716000" cy="812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99"/>
              </a:lnSpc>
            </a:pPr>
            <a:r>
              <a:rPr lang="en-US" b="true" sz="4999" spc="249">
                <a:solidFill>
                  <a:srgbClr val="FFFFFF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소화 에너지를 소모하지 않는 최적의 흡수 메커니즘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035061" y="3453074"/>
            <a:ext cx="2217878" cy="789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7"/>
              </a:lnSpc>
            </a:pPr>
            <a:r>
              <a:rPr lang="en-US" b="true" sz="5206">
                <a:solidFill>
                  <a:srgbClr val="F45624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PepT1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986805" y="2526067"/>
            <a:ext cx="12314391" cy="592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1"/>
              </a:lnSpc>
            </a:pPr>
            <a:r>
              <a:rPr lang="en-US" b="true" sz="3616" spc="180">
                <a:solidFill>
                  <a:srgbClr val="F45624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단백질 분해를 거치지 않고 전용 수송 통로를 통해 즉시 통과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98738" y="3824007"/>
            <a:ext cx="1905216" cy="724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0"/>
              </a:lnSpc>
            </a:pPr>
            <a:r>
              <a:rPr lang="en-US" b="true" sz="2200">
                <a:solidFill>
                  <a:srgbClr val="F45624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디/트리 펩타이드</a:t>
            </a:r>
          </a:p>
          <a:p>
            <a:pPr algn="ctr">
              <a:lnSpc>
                <a:spcPts val="2860"/>
              </a:lnSpc>
            </a:pPr>
            <a:r>
              <a:rPr lang="en-US" b="true" sz="2200">
                <a:solidFill>
                  <a:srgbClr val="F45624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(빠른 흡수)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77" r="0" b="-92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7290" y="-9092"/>
            <a:ext cx="4440823" cy="2903202"/>
          </a:xfrm>
          <a:custGeom>
            <a:avLst/>
            <a:gdLst/>
            <a:ahLst/>
            <a:cxnLst/>
            <a:rect r="r" b="b" t="t" l="l"/>
            <a:pathLst>
              <a:path h="2903202" w="4440823">
                <a:moveTo>
                  <a:pt x="0" y="0"/>
                </a:moveTo>
                <a:lnTo>
                  <a:pt x="4440823" y="0"/>
                </a:lnTo>
                <a:lnTo>
                  <a:pt x="4440823" y="2903202"/>
                </a:lnTo>
                <a:lnTo>
                  <a:pt x="0" y="29032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9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454312" y="428625"/>
            <a:ext cx="2833688" cy="1714500"/>
          </a:xfrm>
          <a:custGeom>
            <a:avLst/>
            <a:gdLst/>
            <a:ahLst/>
            <a:cxnLst/>
            <a:rect r="r" b="b" t="t" l="l"/>
            <a:pathLst>
              <a:path h="1714500" w="2833688">
                <a:moveTo>
                  <a:pt x="0" y="0"/>
                </a:moveTo>
                <a:lnTo>
                  <a:pt x="2833688" y="0"/>
                </a:lnTo>
                <a:lnTo>
                  <a:pt x="2833688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5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0928" y="4929188"/>
            <a:ext cx="5902197" cy="3124692"/>
          </a:xfrm>
          <a:custGeom>
            <a:avLst/>
            <a:gdLst/>
            <a:ahLst/>
            <a:cxnLst/>
            <a:rect r="r" b="b" t="t" l="l"/>
            <a:pathLst>
              <a:path h="3124692" w="5902197">
                <a:moveTo>
                  <a:pt x="0" y="0"/>
                </a:moveTo>
                <a:lnTo>
                  <a:pt x="5902197" y="0"/>
                </a:lnTo>
                <a:lnTo>
                  <a:pt x="5902197" y="3124692"/>
                </a:lnTo>
                <a:lnTo>
                  <a:pt x="0" y="31246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5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382040" y="4432173"/>
            <a:ext cx="2905960" cy="2494217"/>
          </a:xfrm>
          <a:custGeom>
            <a:avLst/>
            <a:gdLst/>
            <a:ahLst/>
            <a:cxnLst/>
            <a:rect r="r" b="b" t="t" l="l"/>
            <a:pathLst>
              <a:path h="2494217" w="2905960">
                <a:moveTo>
                  <a:pt x="0" y="0"/>
                </a:moveTo>
                <a:lnTo>
                  <a:pt x="2905960" y="0"/>
                </a:lnTo>
                <a:lnTo>
                  <a:pt x="2905960" y="2494217"/>
                </a:lnTo>
                <a:lnTo>
                  <a:pt x="0" y="24942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7000"/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407856" y="1666978"/>
            <a:ext cx="13472288" cy="476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b="true" sz="2999" spc="120">
                <a:solidFill>
                  <a:srgbClr val="85909F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초저분자로 직통 흡수된 아미노산 풀(Pool)이 신체 핵심 생태계를 동시에 리셋합니다.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096000" y="2001540"/>
            <a:ext cx="5510140" cy="5220133"/>
          </a:xfrm>
          <a:custGeom>
            <a:avLst/>
            <a:gdLst/>
            <a:ahLst/>
            <a:cxnLst/>
            <a:rect r="r" b="b" t="t" l="l"/>
            <a:pathLst>
              <a:path h="5220133" w="5510140">
                <a:moveTo>
                  <a:pt x="0" y="0"/>
                </a:moveTo>
                <a:lnTo>
                  <a:pt x="5510140" y="0"/>
                </a:lnTo>
                <a:lnTo>
                  <a:pt x="5510140" y="5220133"/>
                </a:lnTo>
                <a:lnTo>
                  <a:pt x="0" y="522013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028193" y="2143125"/>
            <a:ext cx="657225" cy="642938"/>
          </a:xfrm>
          <a:custGeom>
            <a:avLst/>
            <a:gdLst/>
            <a:ahLst/>
            <a:cxnLst/>
            <a:rect r="r" b="b" t="t" l="l"/>
            <a:pathLst>
              <a:path h="642938" w="657225">
                <a:moveTo>
                  <a:pt x="0" y="0"/>
                </a:moveTo>
                <a:lnTo>
                  <a:pt x="657225" y="0"/>
                </a:lnTo>
                <a:lnTo>
                  <a:pt x="657225" y="642937"/>
                </a:lnTo>
                <a:lnTo>
                  <a:pt x="0" y="64293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262313" y="2571750"/>
            <a:ext cx="3052762" cy="214312"/>
          </a:xfrm>
          <a:custGeom>
            <a:avLst/>
            <a:gdLst/>
            <a:ahLst/>
            <a:cxnLst/>
            <a:rect r="r" b="b" t="t" l="l"/>
            <a:pathLst>
              <a:path h="214312" w="3052762">
                <a:moveTo>
                  <a:pt x="0" y="0"/>
                </a:moveTo>
                <a:lnTo>
                  <a:pt x="3052762" y="0"/>
                </a:lnTo>
                <a:lnTo>
                  <a:pt x="3052762" y="214312"/>
                </a:lnTo>
                <a:lnTo>
                  <a:pt x="0" y="21431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096000" y="2571750"/>
            <a:ext cx="1309688" cy="857250"/>
          </a:xfrm>
          <a:custGeom>
            <a:avLst/>
            <a:gdLst/>
            <a:ahLst/>
            <a:cxnLst/>
            <a:rect r="r" b="b" t="t" l="l"/>
            <a:pathLst>
              <a:path h="857250" w="1309688">
                <a:moveTo>
                  <a:pt x="0" y="0"/>
                </a:moveTo>
                <a:lnTo>
                  <a:pt x="1309688" y="0"/>
                </a:lnTo>
                <a:lnTo>
                  <a:pt x="1309688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192000" y="2571750"/>
            <a:ext cx="657225" cy="642938"/>
          </a:xfrm>
          <a:custGeom>
            <a:avLst/>
            <a:gdLst/>
            <a:ahLst/>
            <a:cxnLst/>
            <a:rect r="r" b="b" t="t" l="l"/>
            <a:pathLst>
              <a:path h="642938" w="657225">
                <a:moveTo>
                  <a:pt x="0" y="0"/>
                </a:moveTo>
                <a:lnTo>
                  <a:pt x="657225" y="0"/>
                </a:lnTo>
                <a:lnTo>
                  <a:pt x="657225" y="642938"/>
                </a:lnTo>
                <a:lnTo>
                  <a:pt x="0" y="64293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577388" y="3000375"/>
            <a:ext cx="3271838" cy="642938"/>
          </a:xfrm>
          <a:custGeom>
            <a:avLst/>
            <a:gdLst/>
            <a:ahLst/>
            <a:cxnLst/>
            <a:rect r="r" b="b" t="t" l="l"/>
            <a:pathLst>
              <a:path h="642938" w="3271838">
                <a:moveTo>
                  <a:pt x="0" y="0"/>
                </a:moveTo>
                <a:lnTo>
                  <a:pt x="3271837" y="0"/>
                </a:lnTo>
                <a:lnTo>
                  <a:pt x="3271837" y="642937"/>
                </a:lnTo>
                <a:lnTo>
                  <a:pt x="0" y="64293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192000" y="4929188"/>
            <a:ext cx="657225" cy="642938"/>
          </a:xfrm>
          <a:custGeom>
            <a:avLst/>
            <a:gdLst/>
            <a:ahLst/>
            <a:cxnLst/>
            <a:rect r="r" b="b" t="t" l="l"/>
            <a:pathLst>
              <a:path h="642938" w="657225">
                <a:moveTo>
                  <a:pt x="0" y="0"/>
                </a:moveTo>
                <a:lnTo>
                  <a:pt x="657225" y="0"/>
                </a:lnTo>
                <a:lnTo>
                  <a:pt x="657225" y="642937"/>
                </a:lnTo>
                <a:lnTo>
                  <a:pt x="0" y="64293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577388" y="5143500"/>
            <a:ext cx="3271838" cy="642938"/>
          </a:xfrm>
          <a:custGeom>
            <a:avLst/>
            <a:gdLst/>
            <a:ahLst/>
            <a:cxnLst/>
            <a:rect r="r" b="b" t="t" l="l"/>
            <a:pathLst>
              <a:path h="642938" w="3271838">
                <a:moveTo>
                  <a:pt x="0" y="0"/>
                </a:moveTo>
                <a:lnTo>
                  <a:pt x="3271837" y="0"/>
                </a:lnTo>
                <a:lnTo>
                  <a:pt x="3271837" y="642938"/>
                </a:lnTo>
                <a:lnTo>
                  <a:pt x="0" y="64293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4786313" y="5357812"/>
            <a:ext cx="3490912" cy="428625"/>
          </a:xfrm>
          <a:custGeom>
            <a:avLst/>
            <a:gdLst/>
            <a:ahLst/>
            <a:cxnLst/>
            <a:rect r="r" b="b" t="t" l="l"/>
            <a:pathLst>
              <a:path h="428625" w="3490912">
                <a:moveTo>
                  <a:pt x="0" y="0"/>
                </a:moveTo>
                <a:lnTo>
                  <a:pt x="3490912" y="0"/>
                </a:lnTo>
                <a:lnTo>
                  <a:pt x="3490912" y="428626"/>
                </a:lnTo>
                <a:lnTo>
                  <a:pt x="0" y="42862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8053388" y="5357812"/>
            <a:ext cx="657225" cy="642938"/>
          </a:xfrm>
          <a:custGeom>
            <a:avLst/>
            <a:gdLst/>
            <a:ahLst/>
            <a:cxnLst/>
            <a:rect r="r" b="b" t="t" l="l"/>
            <a:pathLst>
              <a:path h="642938" w="657225">
                <a:moveTo>
                  <a:pt x="0" y="0"/>
                </a:moveTo>
                <a:lnTo>
                  <a:pt x="657225" y="0"/>
                </a:lnTo>
                <a:lnTo>
                  <a:pt x="657225" y="642938"/>
                </a:lnTo>
                <a:lnTo>
                  <a:pt x="0" y="642938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144000" y="5357812"/>
            <a:ext cx="657225" cy="642938"/>
          </a:xfrm>
          <a:custGeom>
            <a:avLst/>
            <a:gdLst/>
            <a:ahLst/>
            <a:cxnLst/>
            <a:rect r="r" b="b" t="t" l="l"/>
            <a:pathLst>
              <a:path h="642938" w="657225">
                <a:moveTo>
                  <a:pt x="0" y="0"/>
                </a:moveTo>
                <a:lnTo>
                  <a:pt x="657225" y="0"/>
                </a:lnTo>
                <a:lnTo>
                  <a:pt x="657225" y="642938"/>
                </a:lnTo>
                <a:lnTo>
                  <a:pt x="0" y="64293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214313" y="7072312"/>
            <a:ext cx="6100762" cy="2786062"/>
          </a:xfrm>
          <a:custGeom>
            <a:avLst/>
            <a:gdLst/>
            <a:ahLst/>
            <a:cxnLst/>
            <a:rect r="r" b="b" t="t" l="l"/>
            <a:pathLst>
              <a:path h="2786062" w="6100762">
                <a:moveTo>
                  <a:pt x="0" y="0"/>
                </a:moveTo>
                <a:lnTo>
                  <a:pt x="6100762" y="0"/>
                </a:lnTo>
                <a:lnTo>
                  <a:pt x="6100762" y="2786063"/>
                </a:lnTo>
                <a:lnTo>
                  <a:pt x="0" y="2786063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688610" y="7183471"/>
            <a:ext cx="871538" cy="857250"/>
          </a:xfrm>
          <a:custGeom>
            <a:avLst/>
            <a:gdLst/>
            <a:ahLst/>
            <a:cxnLst/>
            <a:rect r="r" b="b" t="t" l="l"/>
            <a:pathLst>
              <a:path h="857250" w="871538">
                <a:moveTo>
                  <a:pt x="0" y="0"/>
                </a:moveTo>
                <a:lnTo>
                  <a:pt x="871538" y="0"/>
                </a:lnTo>
                <a:lnTo>
                  <a:pt x="871538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6096000" y="7072312"/>
            <a:ext cx="6096000" cy="2786062"/>
          </a:xfrm>
          <a:custGeom>
            <a:avLst/>
            <a:gdLst/>
            <a:ahLst/>
            <a:cxnLst/>
            <a:rect r="r" b="b" t="t" l="l"/>
            <a:pathLst>
              <a:path h="2786062" w="6096000">
                <a:moveTo>
                  <a:pt x="0" y="0"/>
                </a:moveTo>
                <a:lnTo>
                  <a:pt x="6096000" y="0"/>
                </a:lnTo>
                <a:lnTo>
                  <a:pt x="6096000" y="2786063"/>
                </a:lnTo>
                <a:lnTo>
                  <a:pt x="0" y="2786063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6579655" y="7183471"/>
            <a:ext cx="876300" cy="857250"/>
          </a:xfrm>
          <a:custGeom>
            <a:avLst/>
            <a:gdLst/>
            <a:ahLst/>
            <a:cxnLst/>
            <a:rect r="r" b="b" t="t" l="l"/>
            <a:pathLst>
              <a:path h="857250" w="876300">
                <a:moveTo>
                  <a:pt x="0" y="0"/>
                </a:moveTo>
                <a:lnTo>
                  <a:pt x="876300" y="0"/>
                </a:lnTo>
                <a:lnTo>
                  <a:pt x="876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1972925" y="7072312"/>
            <a:ext cx="6100762" cy="2786062"/>
          </a:xfrm>
          <a:custGeom>
            <a:avLst/>
            <a:gdLst/>
            <a:ahLst/>
            <a:cxnLst/>
            <a:rect r="r" b="b" t="t" l="l"/>
            <a:pathLst>
              <a:path h="2786062" w="6100762">
                <a:moveTo>
                  <a:pt x="0" y="0"/>
                </a:moveTo>
                <a:lnTo>
                  <a:pt x="6100763" y="0"/>
                </a:lnTo>
                <a:lnTo>
                  <a:pt x="6100763" y="2786063"/>
                </a:lnTo>
                <a:lnTo>
                  <a:pt x="0" y="2786063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2458700" y="7168403"/>
            <a:ext cx="876300" cy="857250"/>
          </a:xfrm>
          <a:custGeom>
            <a:avLst/>
            <a:gdLst/>
            <a:ahLst/>
            <a:cxnLst/>
            <a:rect r="r" b="b" t="t" l="l"/>
            <a:pathLst>
              <a:path h="857250" w="876300">
                <a:moveTo>
                  <a:pt x="0" y="0"/>
                </a:moveTo>
                <a:lnTo>
                  <a:pt x="876300" y="0"/>
                </a:lnTo>
                <a:lnTo>
                  <a:pt x="876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2464596" y="124079"/>
            <a:ext cx="13358809" cy="1542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1"/>
              </a:lnSpc>
            </a:pPr>
            <a:r>
              <a:rPr lang="en-US" b="true" sz="9999" spc="-97">
                <a:solidFill>
                  <a:srgbClr val="F6F6F6"/>
                </a:solidFill>
                <a:latin typeface="Paperlogy Heavy"/>
                <a:ea typeface="Paperlogy Heavy"/>
                <a:cs typeface="Paperlogy Heavy"/>
                <a:sym typeface="Paperlogy Heavy"/>
              </a:rPr>
              <a:t>전신 세포 3대 활성화 기전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757882" y="2242271"/>
            <a:ext cx="909385" cy="321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9"/>
              </a:lnSpc>
            </a:pPr>
            <a:r>
              <a:rPr lang="en-US" sz="1863" b="true">
                <a:solidFill>
                  <a:srgbClr val="F45624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근골격계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88610" y="7991287"/>
            <a:ext cx="4744503" cy="42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799" spc="-27" b="true">
                <a:solidFill>
                  <a:srgbClr val="F6F6F6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근육 단백질 합성 &amp; 근감소증 극복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88610" y="8484861"/>
            <a:ext cx="4350641" cy="1123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7358" indent="-148679" lvl="1">
              <a:lnSpc>
                <a:spcPts val="3060"/>
              </a:lnSpc>
              <a:buFont typeface="Arial"/>
              <a:buChar char="•"/>
            </a:pPr>
            <a:r>
              <a:rPr lang="en-US" b="true" sz="1800" spc="-17">
                <a:solidFill>
                  <a:srgbClr val="85909F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단백질 활성 스위치(mTOR) 즉각 자극</a:t>
            </a:r>
          </a:p>
          <a:p>
            <a:pPr algn="l" marL="297358" indent="-148679" lvl="1">
              <a:lnSpc>
                <a:spcPts val="3060"/>
              </a:lnSpc>
              <a:buFont typeface="Arial"/>
              <a:buChar char="•"/>
            </a:pPr>
            <a:r>
              <a:rPr lang="en-US" b="true" sz="1800" spc="-17">
                <a:solidFill>
                  <a:srgbClr val="85909F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시니어 골격근량(SMI) 및 악력 강화</a:t>
            </a:r>
          </a:p>
          <a:p>
            <a:pPr algn="l" marL="297358" indent="-148679" lvl="1">
              <a:lnSpc>
                <a:spcPts val="3060"/>
              </a:lnSpc>
              <a:buFont typeface="Arial"/>
              <a:buChar char="•"/>
            </a:pPr>
            <a:r>
              <a:rPr lang="en-US" b="true" sz="1800" spc="-17">
                <a:solidFill>
                  <a:srgbClr val="85909F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운동 후 피로 유발 젖산(BLA) 축적 억제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580428" y="7991287"/>
            <a:ext cx="4793769" cy="42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799" spc="-27" b="true">
                <a:solidFill>
                  <a:srgbClr val="F6F6F6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혈관 탄력 복원 &amp; 혈류 항상성 제어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579655" y="8484861"/>
            <a:ext cx="4499007" cy="1123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7358" indent="-148679" lvl="1">
              <a:lnSpc>
                <a:spcPts val="3060"/>
              </a:lnSpc>
              <a:buFont typeface="Arial"/>
              <a:buChar char="•"/>
            </a:pPr>
            <a:r>
              <a:rPr lang="en-US" b="true" sz="1800" spc="-17">
                <a:solidFill>
                  <a:srgbClr val="85909F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혈관 수축 효소(ACE) 활성 경쟁적 차단</a:t>
            </a:r>
          </a:p>
          <a:p>
            <a:pPr algn="l" marL="297358" indent="-148679" lvl="1">
              <a:lnSpc>
                <a:spcPts val="3060"/>
              </a:lnSpc>
              <a:buFont typeface="Arial"/>
              <a:buChar char="•"/>
            </a:pPr>
            <a:r>
              <a:rPr lang="en-US" b="true" sz="1800" spc="-17">
                <a:solidFill>
                  <a:srgbClr val="85909F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산화질소(NO) 생성 촉진으로 혈관 이완</a:t>
            </a:r>
          </a:p>
          <a:p>
            <a:pPr algn="l" marL="297358" indent="-148679" lvl="1">
              <a:lnSpc>
                <a:spcPts val="3060"/>
              </a:lnSpc>
              <a:buFont typeface="Arial"/>
              <a:buChar char="•"/>
            </a:pPr>
            <a:r>
              <a:rPr lang="en-US" b="true" sz="1800" spc="-17">
                <a:solidFill>
                  <a:srgbClr val="85909F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수축기 혈압 안정 및 혈관벽 지질 산화 방어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477875" y="7292329"/>
            <a:ext cx="1753129" cy="533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1"/>
              </a:lnSpc>
            </a:pPr>
            <a:r>
              <a:rPr lang="en-US" sz="2999" b="true">
                <a:solidFill>
                  <a:srgbClr val="F45624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03. 면역계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543774" y="7987451"/>
            <a:ext cx="4793769" cy="42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799" spc="-27" b="true">
                <a:solidFill>
                  <a:srgbClr val="F6F6F6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면역 항체 활성화 &amp; 전신 세포 복구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462554" y="8484861"/>
            <a:ext cx="4537106" cy="1123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7358" indent="-148679" lvl="1">
              <a:lnSpc>
                <a:spcPts val="3060"/>
              </a:lnSpc>
              <a:buFont typeface="Arial"/>
              <a:buChar char="•"/>
            </a:pPr>
            <a:r>
              <a:rPr lang="en-US" b="true" sz="1800" spc="-17">
                <a:solidFill>
                  <a:srgbClr val="85909F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생체 면역 환체(IgM, IgG) 생성 촉진</a:t>
            </a:r>
          </a:p>
          <a:p>
            <a:pPr algn="l" marL="297358" indent="-148679" lvl="1">
              <a:lnSpc>
                <a:spcPts val="3060"/>
              </a:lnSpc>
              <a:buFont typeface="Arial"/>
              <a:buChar char="•"/>
            </a:pPr>
            <a:r>
              <a:rPr lang="en-US" b="true" sz="1800" spc="-17">
                <a:solidFill>
                  <a:srgbClr val="85909F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손상된 모세혈관 및 셰포 조직 신속 수리</a:t>
            </a:r>
          </a:p>
          <a:p>
            <a:pPr algn="l" marL="297358" indent="-148679" lvl="1">
              <a:lnSpc>
                <a:spcPts val="3060"/>
              </a:lnSpc>
              <a:buFont typeface="Arial"/>
              <a:buChar char="•"/>
            </a:pPr>
            <a:r>
              <a:rPr lang="en-US" b="true" sz="1800" spc="-17">
                <a:solidFill>
                  <a:srgbClr val="85909F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황산화 효소계 활성화를 통한 셰포 방어벽 구축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550610" y="7307398"/>
            <a:ext cx="2118480" cy="533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1"/>
              </a:lnSpc>
            </a:pPr>
            <a:r>
              <a:rPr lang="en-US" sz="3000" b="true">
                <a:solidFill>
                  <a:srgbClr val="F45624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01. 근골격계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598168" y="7307398"/>
            <a:ext cx="1874444" cy="533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1"/>
              </a:lnSpc>
            </a:pPr>
            <a:r>
              <a:rPr lang="en-US" sz="2999" b="true">
                <a:solidFill>
                  <a:srgbClr val="F45624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02. 순환계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685418" y="5197759"/>
            <a:ext cx="1591432" cy="533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1"/>
              </a:lnSpc>
            </a:pPr>
            <a:r>
              <a:rPr lang="en-US" sz="2999" b="true">
                <a:solidFill>
                  <a:srgbClr val="F45624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소장 흡수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878719" y="4911020"/>
            <a:ext cx="1871093" cy="533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1"/>
              </a:lnSpc>
            </a:pPr>
            <a:r>
              <a:rPr lang="en-US" sz="2999" b="true">
                <a:solidFill>
                  <a:srgbClr val="F45624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면역계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878719" y="2726037"/>
            <a:ext cx="1114422" cy="533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1"/>
              </a:lnSpc>
            </a:pPr>
            <a:r>
              <a:rPr lang="en-US" sz="3000" b="true">
                <a:solidFill>
                  <a:srgbClr val="F45624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순환계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3274100" y="2290464"/>
            <a:ext cx="172436" cy="30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7"/>
              </a:lnSpc>
            </a:pPr>
            <a:r>
              <a:rPr lang="en-US" b="true" sz="2047" spc="-19">
                <a:solidFill>
                  <a:srgbClr val="F45624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A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360410" y="2812330"/>
            <a:ext cx="183363" cy="30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7"/>
              </a:lnSpc>
            </a:pPr>
            <a:r>
              <a:rPr lang="en-US" b="true" sz="2047" spc="-19">
                <a:solidFill>
                  <a:srgbClr val="F45624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B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354163" y="5007769"/>
            <a:ext cx="176807" cy="30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7"/>
              </a:lnSpc>
            </a:pPr>
            <a:r>
              <a:rPr lang="en-US" b="true" sz="2047" spc="-19">
                <a:solidFill>
                  <a:srgbClr val="F45624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C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0171"/>
            <a:ext cx="18288000" cy="10327341"/>
          </a:xfrm>
          <a:custGeom>
            <a:avLst/>
            <a:gdLst/>
            <a:ahLst/>
            <a:cxnLst/>
            <a:rect r="r" b="b" t="t" l="l"/>
            <a:pathLst>
              <a:path h="10327341" w="18288000">
                <a:moveTo>
                  <a:pt x="0" y="0"/>
                </a:moveTo>
                <a:lnTo>
                  <a:pt x="18288000" y="0"/>
                </a:lnTo>
                <a:lnTo>
                  <a:pt x="18288000" y="10327342"/>
                </a:lnTo>
                <a:lnTo>
                  <a:pt x="0" y="103273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503454" y="-20171"/>
            <a:ext cx="4784546" cy="5058551"/>
          </a:xfrm>
          <a:custGeom>
            <a:avLst/>
            <a:gdLst/>
            <a:ahLst/>
            <a:cxnLst/>
            <a:rect r="r" b="b" t="t" l="l"/>
            <a:pathLst>
              <a:path h="5058551" w="4784546">
                <a:moveTo>
                  <a:pt x="0" y="0"/>
                </a:moveTo>
                <a:lnTo>
                  <a:pt x="4784546" y="0"/>
                </a:lnTo>
                <a:lnTo>
                  <a:pt x="4784546" y="5058551"/>
                </a:lnTo>
                <a:lnTo>
                  <a:pt x="0" y="50585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636075" y="939435"/>
            <a:ext cx="13015849" cy="1339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b="true" sz="9999">
                <a:solidFill>
                  <a:srgbClr val="FFFFFF"/>
                </a:solidFill>
                <a:latin typeface="Paperlogy Heavy"/>
                <a:ea typeface="Paperlogy Heavy"/>
                <a:cs typeface="Paperlogy Heavy"/>
                <a:sym typeface="Paperlogy Heavy"/>
              </a:rPr>
              <a:t>지구력의 한계를 넘어서다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30306" y="3422276"/>
            <a:ext cx="8713694" cy="5809129"/>
          </a:xfrm>
          <a:custGeom>
            <a:avLst/>
            <a:gdLst/>
            <a:ahLst/>
            <a:cxnLst/>
            <a:rect r="r" b="b" t="t" l="l"/>
            <a:pathLst>
              <a:path h="5809129" w="8713694">
                <a:moveTo>
                  <a:pt x="0" y="0"/>
                </a:moveTo>
                <a:lnTo>
                  <a:pt x="8713694" y="0"/>
                </a:lnTo>
                <a:lnTo>
                  <a:pt x="8713694" y="5809130"/>
                </a:lnTo>
                <a:lnTo>
                  <a:pt x="0" y="58091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75765" y="4928347"/>
            <a:ext cx="7422776" cy="3872753"/>
          </a:xfrm>
          <a:custGeom>
            <a:avLst/>
            <a:gdLst/>
            <a:ahLst/>
            <a:cxnLst/>
            <a:rect r="r" b="b" t="t" l="l"/>
            <a:pathLst>
              <a:path h="3872753" w="7422776">
                <a:moveTo>
                  <a:pt x="0" y="0"/>
                </a:moveTo>
                <a:lnTo>
                  <a:pt x="7422776" y="0"/>
                </a:lnTo>
                <a:lnTo>
                  <a:pt x="7422776" y="3872753"/>
                </a:lnTo>
                <a:lnTo>
                  <a:pt x="0" y="38727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75765" y="4928347"/>
            <a:ext cx="3496235" cy="3657600"/>
          </a:xfrm>
          <a:custGeom>
            <a:avLst/>
            <a:gdLst/>
            <a:ahLst/>
            <a:cxnLst/>
            <a:rect r="r" b="b" t="t" l="l"/>
            <a:pathLst>
              <a:path h="3657600" w="3496235">
                <a:moveTo>
                  <a:pt x="0" y="0"/>
                </a:moveTo>
                <a:lnTo>
                  <a:pt x="3496235" y="0"/>
                </a:lnTo>
                <a:lnTo>
                  <a:pt x="3496235" y="3657600"/>
                </a:lnTo>
                <a:lnTo>
                  <a:pt x="0" y="3657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55623" y="3954732"/>
            <a:ext cx="4272820" cy="623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4"/>
              </a:lnSpc>
            </a:pPr>
            <a:r>
              <a:rPr lang="en-US" sz="4724" b="true">
                <a:solidFill>
                  <a:srgbClr val="FFFFFF"/>
                </a:solidFill>
                <a:latin typeface="Paperlogy Heavy"/>
                <a:ea typeface="Paperlogy Heavy"/>
                <a:cs typeface="Paperlogy Heavy"/>
                <a:sym typeface="Paperlogy Heavy"/>
              </a:rPr>
              <a:t>지구력 지속 시간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9144000" y="3422276"/>
            <a:ext cx="8498541" cy="5809129"/>
          </a:xfrm>
          <a:custGeom>
            <a:avLst/>
            <a:gdLst/>
            <a:ahLst/>
            <a:cxnLst/>
            <a:rect r="r" b="b" t="t" l="l"/>
            <a:pathLst>
              <a:path h="5809129" w="8498541">
                <a:moveTo>
                  <a:pt x="0" y="0"/>
                </a:moveTo>
                <a:lnTo>
                  <a:pt x="8498541" y="0"/>
                </a:lnTo>
                <a:lnTo>
                  <a:pt x="8498541" y="5809130"/>
                </a:lnTo>
                <a:lnTo>
                  <a:pt x="0" y="58091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574306" y="4713194"/>
            <a:ext cx="7637929" cy="4518212"/>
          </a:xfrm>
          <a:custGeom>
            <a:avLst/>
            <a:gdLst/>
            <a:ahLst/>
            <a:cxnLst/>
            <a:rect r="r" b="b" t="t" l="l"/>
            <a:pathLst>
              <a:path h="4518212" w="7637929">
                <a:moveTo>
                  <a:pt x="0" y="0"/>
                </a:moveTo>
                <a:lnTo>
                  <a:pt x="7637929" y="0"/>
                </a:lnTo>
                <a:lnTo>
                  <a:pt x="7637929" y="4518212"/>
                </a:lnTo>
                <a:lnTo>
                  <a:pt x="0" y="451821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662685" y="3954732"/>
            <a:ext cx="6174467" cy="623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4"/>
              </a:lnSpc>
            </a:pPr>
            <a:r>
              <a:rPr lang="en-US" sz="4724" b="true">
                <a:solidFill>
                  <a:srgbClr val="FFFFFF"/>
                </a:solidFill>
                <a:latin typeface="Paperlogy Heavy"/>
                <a:ea typeface="Paperlogy Heavy"/>
                <a:cs typeface="Paperlogy Heavy"/>
                <a:sym typeface="Paperlogy Heavy"/>
              </a:rPr>
              <a:t>근손실 방어 &amp; 악력 증가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695393" y="4748296"/>
            <a:ext cx="5582604" cy="383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6"/>
              </a:lnSpc>
            </a:pPr>
            <a:r>
              <a:rPr lang="en-US" b="true" sz="2896" spc="-57">
                <a:solidFill>
                  <a:srgbClr val="F45624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노인성 근감소증(Sarcopenia) 예방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7693" y="4748296"/>
            <a:ext cx="5065865" cy="383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6"/>
              </a:lnSpc>
            </a:pPr>
            <a:r>
              <a:rPr lang="en-US" b="true" sz="2896" spc="-57">
                <a:solidFill>
                  <a:srgbClr val="F45624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비약적 향상 증명 (러시아 과학원)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77" r="0" b="-927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16045" y="675695"/>
            <a:ext cx="9055910" cy="1524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99"/>
              </a:lnSpc>
            </a:pPr>
            <a:r>
              <a:rPr lang="en-US" sz="9999" b="true">
                <a:solidFill>
                  <a:srgbClr val="FFFFFF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식전 30분의 과학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889504" y="2885942"/>
            <a:ext cx="12508992" cy="624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4"/>
              </a:lnSpc>
            </a:pPr>
            <a:r>
              <a:rPr lang="en-US" b="true" sz="3970">
                <a:solidFill>
                  <a:srgbClr val="F45624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위 배출 속도(Gastric Emptying) 조절을 통한 당 흡수 제어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735070" y="4102507"/>
            <a:ext cx="16990970" cy="5770996"/>
            <a:chOff x="0" y="0"/>
            <a:chExt cx="22654627" cy="769466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338224" y="0"/>
              <a:ext cx="615875" cy="289823"/>
            </a:xfrm>
            <a:custGeom>
              <a:avLst/>
              <a:gdLst/>
              <a:ahLst/>
              <a:cxnLst/>
              <a:rect r="r" b="b" t="t" l="l"/>
              <a:pathLst>
                <a:path h="289823" w="615875">
                  <a:moveTo>
                    <a:pt x="0" y="0"/>
                  </a:moveTo>
                  <a:lnTo>
                    <a:pt x="615875" y="0"/>
                  </a:lnTo>
                  <a:lnTo>
                    <a:pt x="615875" y="289823"/>
                  </a:lnTo>
                  <a:lnTo>
                    <a:pt x="0" y="289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2056866" y="6665939"/>
              <a:ext cx="597761" cy="579647"/>
            </a:xfrm>
            <a:custGeom>
              <a:avLst/>
              <a:gdLst/>
              <a:ahLst/>
              <a:cxnLst/>
              <a:rect r="r" b="b" t="t" l="l"/>
              <a:pathLst>
                <a:path h="579647" w="597761">
                  <a:moveTo>
                    <a:pt x="0" y="0"/>
                  </a:moveTo>
                  <a:lnTo>
                    <a:pt x="597761" y="0"/>
                  </a:lnTo>
                  <a:lnTo>
                    <a:pt x="597761" y="579646"/>
                  </a:lnTo>
                  <a:lnTo>
                    <a:pt x="0" y="5796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38224" y="0"/>
              <a:ext cx="615875" cy="6955762"/>
            </a:xfrm>
            <a:custGeom>
              <a:avLst/>
              <a:gdLst/>
              <a:ahLst/>
              <a:cxnLst/>
              <a:rect r="r" b="b" t="t" l="l"/>
              <a:pathLst>
                <a:path h="6955762" w="615875">
                  <a:moveTo>
                    <a:pt x="0" y="0"/>
                  </a:moveTo>
                  <a:lnTo>
                    <a:pt x="615875" y="0"/>
                  </a:lnTo>
                  <a:lnTo>
                    <a:pt x="615875" y="6955762"/>
                  </a:lnTo>
                  <a:lnTo>
                    <a:pt x="0" y="6955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38224" y="6665939"/>
              <a:ext cx="22316403" cy="579647"/>
            </a:xfrm>
            <a:custGeom>
              <a:avLst/>
              <a:gdLst/>
              <a:ahLst/>
              <a:cxnLst/>
              <a:rect r="r" b="b" t="t" l="l"/>
              <a:pathLst>
                <a:path h="579647" w="22316403">
                  <a:moveTo>
                    <a:pt x="0" y="0"/>
                  </a:moveTo>
                  <a:lnTo>
                    <a:pt x="22316403" y="0"/>
                  </a:lnTo>
                  <a:lnTo>
                    <a:pt x="22316403" y="579646"/>
                  </a:lnTo>
                  <a:lnTo>
                    <a:pt x="0" y="5796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38224" y="0"/>
              <a:ext cx="22316403" cy="6955762"/>
            </a:xfrm>
            <a:custGeom>
              <a:avLst/>
              <a:gdLst/>
              <a:ahLst/>
              <a:cxnLst/>
              <a:rect r="r" b="b" t="t" l="l"/>
              <a:pathLst>
                <a:path h="6955762" w="22316403">
                  <a:moveTo>
                    <a:pt x="0" y="0"/>
                  </a:moveTo>
                  <a:lnTo>
                    <a:pt x="22316403" y="0"/>
                  </a:lnTo>
                  <a:lnTo>
                    <a:pt x="22316403" y="6955762"/>
                  </a:lnTo>
                  <a:lnTo>
                    <a:pt x="0" y="6955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9159724" y="5528853"/>
              <a:ext cx="746462" cy="1085763"/>
            </a:xfrm>
            <a:custGeom>
              <a:avLst/>
              <a:gdLst/>
              <a:ahLst/>
              <a:cxnLst/>
              <a:rect r="r" b="b" t="t" l="l"/>
              <a:pathLst>
                <a:path h="1085763" w="746462">
                  <a:moveTo>
                    <a:pt x="0" y="0"/>
                  </a:moveTo>
                  <a:lnTo>
                    <a:pt x="746462" y="0"/>
                  </a:lnTo>
                  <a:lnTo>
                    <a:pt x="746462" y="1085763"/>
                  </a:lnTo>
                  <a:lnTo>
                    <a:pt x="0" y="10857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6804909" y="579647"/>
              <a:ext cx="307937" cy="579647"/>
            </a:xfrm>
            <a:custGeom>
              <a:avLst/>
              <a:gdLst/>
              <a:ahLst/>
              <a:cxnLst/>
              <a:rect r="r" b="b" t="t" l="l"/>
              <a:pathLst>
                <a:path h="579647" w="307937">
                  <a:moveTo>
                    <a:pt x="0" y="0"/>
                  </a:moveTo>
                  <a:lnTo>
                    <a:pt x="307937" y="0"/>
                  </a:lnTo>
                  <a:lnTo>
                    <a:pt x="307937" y="579647"/>
                  </a:lnTo>
                  <a:lnTo>
                    <a:pt x="0" y="5796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6804909" y="289823"/>
              <a:ext cx="887584" cy="579647"/>
            </a:xfrm>
            <a:custGeom>
              <a:avLst/>
              <a:gdLst/>
              <a:ahLst/>
              <a:cxnLst/>
              <a:rect r="r" b="b" t="t" l="l"/>
              <a:pathLst>
                <a:path h="579647" w="887584">
                  <a:moveTo>
                    <a:pt x="0" y="0"/>
                  </a:moveTo>
                  <a:lnTo>
                    <a:pt x="887584" y="0"/>
                  </a:lnTo>
                  <a:lnTo>
                    <a:pt x="887584" y="579647"/>
                  </a:lnTo>
                  <a:lnTo>
                    <a:pt x="0" y="5796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4122950" y="4057528"/>
              <a:ext cx="1793282" cy="1738941"/>
            </a:xfrm>
            <a:custGeom>
              <a:avLst/>
              <a:gdLst/>
              <a:ahLst/>
              <a:cxnLst/>
              <a:rect r="r" b="b" t="t" l="l"/>
              <a:pathLst>
                <a:path h="1738941" w="1793282">
                  <a:moveTo>
                    <a:pt x="0" y="0"/>
                  </a:moveTo>
                  <a:lnTo>
                    <a:pt x="1793283" y="0"/>
                  </a:lnTo>
                  <a:lnTo>
                    <a:pt x="1793283" y="1738940"/>
                  </a:lnTo>
                  <a:lnTo>
                    <a:pt x="0" y="17389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9263369" y="7236060"/>
              <a:ext cx="3886465" cy="458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67"/>
                </a:lnSpc>
              </a:pPr>
              <a:r>
                <a:rPr lang="en-US" b="true" sz="2222" spc="222">
                  <a:solidFill>
                    <a:srgbClr val="FFFFFF"/>
                  </a:solidFill>
                  <a:latin typeface="Paperlogy Medium"/>
                  <a:ea typeface="Paperlogy Medium"/>
                  <a:cs typeface="Paperlogy Medium"/>
                  <a:sym typeface="Paperlogy Medium"/>
                </a:rPr>
                <a:t>식사 후 시간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7856243" y="250736"/>
              <a:ext cx="5715318" cy="458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67"/>
                </a:lnSpc>
              </a:pPr>
              <a:r>
                <a:rPr lang="en-US" sz="2222" b="true">
                  <a:solidFill>
                    <a:srgbClr val="FF1616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식후 위험한 혈당 스파이크 (Spike)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15837980" y="4066696"/>
              <a:ext cx="6218886" cy="458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67"/>
                </a:lnSpc>
              </a:pPr>
              <a:r>
                <a:rPr lang="en-US" sz="2222" b="true">
                  <a:solidFill>
                    <a:srgbClr val="FF9A00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식전 펩타이드 투여 후 완만한 혈당 방어막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-5400000">
              <a:off x="-1866228" y="2726174"/>
              <a:ext cx="4172008" cy="458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67"/>
                </a:lnSpc>
              </a:pPr>
              <a:r>
                <a:rPr lang="en-US" b="true" sz="2222" spc="222">
                  <a:solidFill>
                    <a:srgbClr val="FFFFFF"/>
                  </a:solidFill>
                  <a:latin typeface="Paperlogy Medium"/>
                  <a:ea typeface="Paperlogy Medium"/>
                  <a:cs typeface="Paperlogy Medium"/>
                  <a:sym typeface="Paperlogy Medium"/>
                </a:rPr>
                <a:t>혈당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77" r="0" b="-92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305138" y="271947"/>
            <a:ext cx="9449224" cy="11016493"/>
          </a:xfrm>
          <a:custGeom>
            <a:avLst/>
            <a:gdLst/>
            <a:ahLst/>
            <a:cxnLst/>
            <a:rect r="r" b="b" t="t" l="l"/>
            <a:pathLst>
              <a:path h="11016493" w="9449224">
                <a:moveTo>
                  <a:pt x="0" y="0"/>
                </a:moveTo>
                <a:lnTo>
                  <a:pt x="9449224" y="0"/>
                </a:lnTo>
                <a:lnTo>
                  <a:pt x="9449224" y="11016493"/>
                </a:lnTo>
                <a:lnTo>
                  <a:pt x="0" y="110164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6586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613134" y="2930849"/>
            <a:ext cx="3539772" cy="3969653"/>
          </a:xfrm>
          <a:custGeom>
            <a:avLst/>
            <a:gdLst/>
            <a:ahLst/>
            <a:cxnLst/>
            <a:rect r="r" b="b" t="t" l="l"/>
            <a:pathLst>
              <a:path h="3969653" w="3539772">
                <a:moveTo>
                  <a:pt x="0" y="0"/>
                </a:moveTo>
                <a:lnTo>
                  <a:pt x="3539772" y="0"/>
                </a:lnTo>
                <a:lnTo>
                  <a:pt x="3539772" y="3969653"/>
                </a:lnTo>
                <a:lnTo>
                  <a:pt x="0" y="39696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713" r="0" b="-713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353970" y="3125473"/>
            <a:ext cx="1574276" cy="201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8"/>
              </a:lnSpc>
            </a:pPr>
            <a:r>
              <a:rPr lang="en-US" sz="11041" b="true">
                <a:solidFill>
                  <a:srgbClr val="F45624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98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928245" y="3616391"/>
            <a:ext cx="707283" cy="1264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49"/>
              </a:lnSpc>
            </a:pPr>
            <a:r>
              <a:rPr lang="en-US" sz="6892" b="true">
                <a:solidFill>
                  <a:srgbClr val="F45624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%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303891" y="2902535"/>
            <a:ext cx="3539772" cy="3841743"/>
          </a:xfrm>
          <a:custGeom>
            <a:avLst/>
            <a:gdLst/>
            <a:ahLst/>
            <a:cxnLst/>
            <a:rect r="r" b="b" t="t" l="l"/>
            <a:pathLst>
              <a:path h="3841743" w="3539772">
                <a:moveTo>
                  <a:pt x="0" y="0"/>
                </a:moveTo>
                <a:lnTo>
                  <a:pt x="3539772" y="0"/>
                </a:lnTo>
                <a:lnTo>
                  <a:pt x="3539772" y="3841743"/>
                </a:lnTo>
                <a:lnTo>
                  <a:pt x="0" y="38417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573177" y="3488919"/>
            <a:ext cx="2241161" cy="1167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15"/>
              </a:lnSpc>
            </a:pPr>
            <a:r>
              <a:rPr lang="en-US" b="true" sz="6796" spc="-338">
                <a:solidFill>
                  <a:srgbClr val="000000"/>
                </a:solidFill>
                <a:latin typeface="Singel Bold"/>
                <a:ea typeface="Singel Bold"/>
                <a:cs typeface="Singel Bold"/>
                <a:sym typeface="Singel Bold"/>
              </a:rPr>
              <a:t>5.10.23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92261" y="5444392"/>
            <a:ext cx="2261904" cy="548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33"/>
              </a:lnSpc>
            </a:pPr>
            <a:r>
              <a:rPr lang="en-US" b="true" sz="3238" spc="-161">
                <a:solidFill>
                  <a:srgbClr val="000000"/>
                </a:solidFill>
                <a:latin typeface="Singel Bold"/>
                <a:ea typeface="Singel Bold"/>
                <a:cs typeface="Singel Bold"/>
                <a:sym typeface="Singel Bold"/>
              </a:rPr>
              <a:t>도저노자 과학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899901" y="3837697"/>
            <a:ext cx="671481" cy="866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93"/>
              </a:lnSpc>
            </a:pPr>
            <a:r>
              <a:rPr lang="en-US" b="true" sz="5066" spc="-252">
                <a:solidFill>
                  <a:srgbClr val="F45624"/>
                </a:solidFill>
                <a:latin typeface="Singel Bold"/>
                <a:ea typeface="Singel Bold"/>
                <a:cs typeface="Singel Bold"/>
                <a:sym typeface="Singel Bold"/>
              </a:rPr>
              <a:t>Da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0136130" y="2902535"/>
            <a:ext cx="3824967" cy="704599"/>
          </a:xfrm>
          <a:custGeom>
            <a:avLst/>
            <a:gdLst/>
            <a:ahLst/>
            <a:cxnLst/>
            <a:rect r="r" b="b" t="t" l="l"/>
            <a:pathLst>
              <a:path h="704599" w="3824967">
                <a:moveTo>
                  <a:pt x="0" y="0"/>
                </a:moveTo>
                <a:lnTo>
                  <a:pt x="3824966" y="0"/>
                </a:lnTo>
                <a:lnTo>
                  <a:pt x="3824966" y="704599"/>
                </a:lnTo>
                <a:lnTo>
                  <a:pt x="0" y="70459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136130" y="6224217"/>
            <a:ext cx="3824967" cy="704599"/>
          </a:xfrm>
          <a:custGeom>
            <a:avLst/>
            <a:gdLst/>
            <a:ahLst/>
            <a:cxnLst/>
            <a:rect r="r" b="b" t="t" l="l"/>
            <a:pathLst>
              <a:path h="704599" w="3824967">
                <a:moveTo>
                  <a:pt x="0" y="0"/>
                </a:moveTo>
                <a:lnTo>
                  <a:pt x="3824966" y="0"/>
                </a:lnTo>
                <a:lnTo>
                  <a:pt x="3824966" y="704599"/>
                </a:lnTo>
                <a:lnTo>
                  <a:pt x="0" y="7045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1209804" y="3587816"/>
            <a:ext cx="1733985" cy="1333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15"/>
              </a:lnSpc>
            </a:pPr>
            <a:r>
              <a:rPr lang="en-US" sz="7225" b="true">
                <a:solidFill>
                  <a:srgbClr val="F45624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500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0958162" y="4783354"/>
            <a:ext cx="2180902" cy="264644"/>
          </a:xfrm>
          <a:custGeom>
            <a:avLst/>
            <a:gdLst/>
            <a:ahLst/>
            <a:cxnLst/>
            <a:rect r="r" b="b" t="t" l="l"/>
            <a:pathLst>
              <a:path h="264644" w="2180902">
                <a:moveTo>
                  <a:pt x="0" y="0"/>
                </a:moveTo>
                <a:lnTo>
                  <a:pt x="2180902" y="0"/>
                </a:lnTo>
                <a:lnTo>
                  <a:pt x="2180902" y="264643"/>
                </a:lnTo>
                <a:lnTo>
                  <a:pt x="0" y="2646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713" r="0" b="-713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878068" y="4871612"/>
            <a:ext cx="2180902" cy="264644"/>
          </a:xfrm>
          <a:custGeom>
            <a:avLst/>
            <a:gdLst/>
            <a:ahLst/>
            <a:cxnLst/>
            <a:rect r="r" b="b" t="t" l="l"/>
            <a:pathLst>
              <a:path h="264644" w="2180902">
                <a:moveTo>
                  <a:pt x="0" y="0"/>
                </a:moveTo>
                <a:lnTo>
                  <a:pt x="2180902" y="0"/>
                </a:lnTo>
                <a:lnTo>
                  <a:pt x="2180902" y="264644"/>
                </a:lnTo>
                <a:lnTo>
                  <a:pt x="0" y="26464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713" r="0" b="-713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944320" y="2930849"/>
            <a:ext cx="3539772" cy="3969653"/>
          </a:xfrm>
          <a:custGeom>
            <a:avLst/>
            <a:gdLst/>
            <a:ahLst/>
            <a:cxnLst/>
            <a:rect r="r" b="b" t="t" l="l"/>
            <a:pathLst>
              <a:path h="3969653" w="3539772">
                <a:moveTo>
                  <a:pt x="0" y="0"/>
                </a:moveTo>
                <a:lnTo>
                  <a:pt x="3539772" y="0"/>
                </a:lnTo>
                <a:lnTo>
                  <a:pt x="3539772" y="3969653"/>
                </a:lnTo>
                <a:lnTo>
                  <a:pt x="0" y="396965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713" r="0" b="-713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4346948" y="3358979"/>
            <a:ext cx="2943211" cy="1634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65"/>
              </a:lnSpc>
            </a:pPr>
            <a:r>
              <a:rPr lang="en-US" b="true" sz="6150">
                <a:solidFill>
                  <a:srgbClr val="F45624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Non-</a:t>
            </a:r>
          </a:p>
          <a:p>
            <a:pPr algn="ctr">
              <a:lnSpc>
                <a:spcPts val="5965"/>
              </a:lnSpc>
            </a:pPr>
            <a:r>
              <a:rPr lang="en-US" b="true" sz="6150">
                <a:solidFill>
                  <a:srgbClr val="F45624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GMO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4563696" y="4783354"/>
            <a:ext cx="2180902" cy="264644"/>
          </a:xfrm>
          <a:custGeom>
            <a:avLst/>
            <a:gdLst/>
            <a:ahLst/>
            <a:cxnLst/>
            <a:rect r="r" b="b" t="t" l="l"/>
            <a:pathLst>
              <a:path h="264644" w="2180902">
                <a:moveTo>
                  <a:pt x="0" y="0"/>
                </a:moveTo>
                <a:lnTo>
                  <a:pt x="2180902" y="0"/>
                </a:lnTo>
                <a:lnTo>
                  <a:pt x="2180902" y="264643"/>
                </a:lnTo>
                <a:lnTo>
                  <a:pt x="0" y="2646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713" r="0" b="-713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7292569" y="4783354"/>
            <a:ext cx="2180902" cy="264644"/>
          </a:xfrm>
          <a:custGeom>
            <a:avLst/>
            <a:gdLst/>
            <a:ahLst/>
            <a:cxnLst/>
            <a:rect r="r" b="b" t="t" l="l"/>
            <a:pathLst>
              <a:path h="264644" w="2180902">
                <a:moveTo>
                  <a:pt x="0" y="0"/>
                </a:moveTo>
                <a:lnTo>
                  <a:pt x="2180902" y="0"/>
                </a:lnTo>
                <a:lnTo>
                  <a:pt x="2180902" y="264643"/>
                </a:lnTo>
                <a:lnTo>
                  <a:pt x="0" y="2646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713" r="0" b="-713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6828532" y="7495954"/>
            <a:ext cx="11313139" cy="1133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3"/>
              </a:lnSpc>
            </a:pPr>
            <a:r>
              <a:rPr lang="en-US" sz="3728" b="true">
                <a:solidFill>
                  <a:srgbClr val="FFFFFF"/>
                </a:solidFill>
                <a:latin typeface="Paperlogy Semi-Bold"/>
                <a:ea typeface="Paperlogy Semi-Bold"/>
                <a:cs typeface="Paperlogy Semi-Bold"/>
                <a:sym typeface="Paperlogy Semi-Bold"/>
              </a:rPr>
              <a:t>매일 식전 30분, 미온수(100~150ml)에 펩타이드(10~15g)을 희석하여 섭취하시기 바랍니다.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239892" y="5372320"/>
            <a:ext cx="2486899" cy="803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3"/>
              </a:lnSpc>
            </a:pPr>
            <a:r>
              <a:rPr lang="en-US" sz="2669" b="true">
                <a:solidFill>
                  <a:srgbClr val="FFFFFF"/>
                </a:solidFill>
                <a:latin typeface="Paperlogy Semi-Bold"/>
                <a:ea typeface="Paperlogy Semi-Bold"/>
                <a:cs typeface="Paperlogy Semi-Bold"/>
                <a:sym typeface="Paperlogy Semi-Bold"/>
              </a:rPr>
              <a:t>고순도 생리활성</a:t>
            </a:r>
          </a:p>
          <a:p>
            <a:pPr algn="ctr">
              <a:lnSpc>
                <a:spcPts val="3203"/>
              </a:lnSpc>
            </a:pPr>
            <a:r>
              <a:rPr lang="en-US" sz="2669" b="true">
                <a:solidFill>
                  <a:srgbClr val="FFFFFF"/>
                </a:solidFill>
                <a:latin typeface="Paperlogy Semi-Bold"/>
                <a:ea typeface="Paperlogy Semi-Bold"/>
                <a:cs typeface="Paperlogy Semi-Bold"/>
                <a:sym typeface="Paperlogy Semi-Bold"/>
              </a:rPr>
              <a:t>대두 페타이드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484573" y="3436926"/>
            <a:ext cx="725232" cy="1548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59"/>
              </a:lnSpc>
            </a:pPr>
            <a:r>
              <a:rPr lang="en-US" sz="8470" b="true">
                <a:solidFill>
                  <a:srgbClr val="F45624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&lt;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004464" y="5534613"/>
            <a:ext cx="2144665" cy="406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3"/>
              </a:lnSpc>
            </a:pPr>
            <a:r>
              <a:rPr lang="en-US" sz="2669" b="true">
                <a:solidFill>
                  <a:srgbClr val="FFFFFF"/>
                </a:solidFill>
                <a:latin typeface="Paperlogy Semi-Bold"/>
                <a:ea typeface="Paperlogy Semi-Bold"/>
                <a:cs typeface="Paperlogy Semi-Bold"/>
                <a:sym typeface="Paperlogy Semi-Bold"/>
              </a:rPr>
              <a:t>초저분자 과학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563696" y="5534613"/>
            <a:ext cx="2509715" cy="406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3"/>
              </a:lnSpc>
            </a:pPr>
            <a:r>
              <a:rPr lang="en-US" sz="2669" b="true">
                <a:solidFill>
                  <a:srgbClr val="FFFFFF"/>
                </a:solidFill>
                <a:latin typeface="Paperlogy Semi-Bold"/>
                <a:ea typeface="Paperlogy Semi-Bold"/>
                <a:cs typeface="Paperlogy Semi-Bold"/>
                <a:sym typeface="Paperlogy Semi-Bold"/>
              </a:rPr>
              <a:t>비유전자변형식품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372263" y="346714"/>
            <a:ext cx="9543474" cy="1717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b="true" sz="9999">
                <a:solidFill>
                  <a:srgbClr val="F45624"/>
                </a:solidFill>
                <a:latin typeface="Paperlogy Heavy"/>
                <a:ea typeface="Paperlogy Heavy"/>
                <a:cs typeface="Paperlogy Heavy"/>
                <a:sym typeface="Paperlogy Heavy"/>
              </a:rPr>
              <a:t>SOY PEPTIDE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77" r="0" b="-92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789459" y="1916206"/>
            <a:ext cx="8283388" cy="6454588"/>
          </a:xfrm>
          <a:custGeom>
            <a:avLst/>
            <a:gdLst/>
            <a:ahLst/>
            <a:cxnLst/>
            <a:rect r="r" b="b" t="t" l="l"/>
            <a:pathLst>
              <a:path h="6454588" w="8283388">
                <a:moveTo>
                  <a:pt x="0" y="0"/>
                </a:moveTo>
                <a:lnTo>
                  <a:pt x="8283388" y="0"/>
                </a:lnTo>
                <a:lnTo>
                  <a:pt x="8283388" y="6454588"/>
                </a:lnTo>
                <a:lnTo>
                  <a:pt x="0" y="64545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19765" y="2346512"/>
            <a:ext cx="2420471" cy="2366682"/>
          </a:xfrm>
          <a:custGeom>
            <a:avLst/>
            <a:gdLst/>
            <a:ahLst/>
            <a:cxnLst/>
            <a:rect r="r" b="b" t="t" l="l"/>
            <a:pathLst>
              <a:path h="2366682" w="2420471">
                <a:moveTo>
                  <a:pt x="0" y="0"/>
                </a:moveTo>
                <a:lnTo>
                  <a:pt x="2420470" y="0"/>
                </a:lnTo>
                <a:lnTo>
                  <a:pt x="2420470" y="2366682"/>
                </a:lnTo>
                <a:lnTo>
                  <a:pt x="0" y="23666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19765" y="5358653"/>
            <a:ext cx="2420471" cy="2366682"/>
          </a:xfrm>
          <a:custGeom>
            <a:avLst/>
            <a:gdLst/>
            <a:ahLst/>
            <a:cxnLst/>
            <a:rect r="r" b="b" t="t" l="l"/>
            <a:pathLst>
              <a:path h="2366682" w="2420471">
                <a:moveTo>
                  <a:pt x="0" y="0"/>
                </a:moveTo>
                <a:lnTo>
                  <a:pt x="2420470" y="0"/>
                </a:lnTo>
                <a:lnTo>
                  <a:pt x="2420470" y="2366682"/>
                </a:lnTo>
                <a:lnTo>
                  <a:pt x="0" y="23666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841941" y="2346512"/>
            <a:ext cx="2191871" cy="2366682"/>
          </a:xfrm>
          <a:custGeom>
            <a:avLst/>
            <a:gdLst/>
            <a:ahLst/>
            <a:cxnLst/>
            <a:rect r="r" b="b" t="t" l="l"/>
            <a:pathLst>
              <a:path h="2366682" w="2191871">
                <a:moveTo>
                  <a:pt x="0" y="0"/>
                </a:moveTo>
                <a:lnTo>
                  <a:pt x="2191871" y="0"/>
                </a:lnTo>
                <a:lnTo>
                  <a:pt x="2191871" y="2366682"/>
                </a:lnTo>
                <a:lnTo>
                  <a:pt x="0" y="23666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235518" y="2346512"/>
            <a:ext cx="2407024" cy="2366682"/>
          </a:xfrm>
          <a:custGeom>
            <a:avLst/>
            <a:gdLst/>
            <a:ahLst/>
            <a:cxnLst/>
            <a:rect r="r" b="b" t="t" l="l"/>
            <a:pathLst>
              <a:path h="2366682" w="2407024">
                <a:moveTo>
                  <a:pt x="0" y="0"/>
                </a:moveTo>
                <a:lnTo>
                  <a:pt x="2407023" y="0"/>
                </a:lnTo>
                <a:lnTo>
                  <a:pt x="2407023" y="2366682"/>
                </a:lnTo>
                <a:lnTo>
                  <a:pt x="0" y="236668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235518" y="5358653"/>
            <a:ext cx="2407024" cy="2366682"/>
          </a:xfrm>
          <a:custGeom>
            <a:avLst/>
            <a:gdLst/>
            <a:ahLst/>
            <a:cxnLst/>
            <a:rect r="r" b="b" t="t" l="l"/>
            <a:pathLst>
              <a:path h="2366682" w="2407024">
                <a:moveTo>
                  <a:pt x="0" y="0"/>
                </a:moveTo>
                <a:lnTo>
                  <a:pt x="2407023" y="0"/>
                </a:lnTo>
                <a:lnTo>
                  <a:pt x="2407023" y="2366682"/>
                </a:lnTo>
                <a:lnTo>
                  <a:pt x="0" y="236668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60612" y="8585947"/>
            <a:ext cx="16781929" cy="215153"/>
          </a:xfrm>
          <a:custGeom>
            <a:avLst/>
            <a:gdLst/>
            <a:ahLst/>
            <a:cxnLst/>
            <a:rect r="r" b="b" t="t" l="l"/>
            <a:pathLst>
              <a:path h="215153" w="16781929">
                <a:moveTo>
                  <a:pt x="0" y="0"/>
                </a:moveTo>
                <a:lnTo>
                  <a:pt x="16781929" y="0"/>
                </a:lnTo>
                <a:lnTo>
                  <a:pt x="16781929" y="215153"/>
                </a:lnTo>
                <a:lnTo>
                  <a:pt x="0" y="21515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632201" y="8801100"/>
            <a:ext cx="242047" cy="860612"/>
          </a:xfrm>
          <a:custGeom>
            <a:avLst/>
            <a:gdLst/>
            <a:ahLst/>
            <a:cxnLst/>
            <a:rect r="r" b="b" t="t" l="l"/>
            <a:pathLst>
              <a:path h="860612" w="242047">
                <a:moveTo>
                  <a:pt x="0" y="0"/>
                </a:moveTo>
                <a:lnTo>
                  <a:pt x="242048" y="0"/>
                </a:lnTo>
                <a:lnTo>
                  <a:pt x="242048" y="860612"/>
                </a:lnTo>
                <a:lnTo>
                  <a:pt x="0" y="86061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967882" y="8801100"/>
            <a:ext cx="228600" cy="860612"/>
          </a:xfrm>
          <a:custGeom>
            <a:avLst/>
            <a:gdLst/>
            <a:ahLst/>
            <a:cxnLst/>
            <a:rect r="r" b="b" t="t" l="l"/>
            <a:pathLst>
              <a:path h="860612" w="228600">
                <a:moveTo>
                  <a:pt x="0" y="0"/>
                </a:moveTo>
                <a:lnTo>
                  <a:pt x="228600" y="0"/>
                </a:lnTo>
                <a:lnTo>
                  <a:pt x="228600" y="860612"/>
                </a:lnTo>
                <a:lnTo>
                  <a:pt x="0" y="86061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95189" y="2016710"/>
            <a:ext cx="9494270" cy="6253581"/>
          </a:xfrm>
          <a:custGeom>
            <a:avLst/>
            <a:gdLst/>
            <a:ahLst/>
            <a:cxnLst/>
            <a:rect r="r" b="b" t="t" l="l"/>
            <a:pathLst>
              <a:path h="6253581" w="9494270">
                <a:moveTo>
                  <a:pt x="0" y="0"/>
                </a:moveTo>
                <a:lnTo>
                  <a:pt x="9494270" y="0"/>
                </a:lnTo>
                <a:lnTo>
                  <a:pt x="9494270" y="6253580"/>
                </a:lnTo>
                <a:lnTo>
                  <a:pt x="0" y="625358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4364" t="0" r="-12732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370532" y="4920622"/>
            <a:ext cx="3242745" cy="3242745"/>
          </a:xfrm>
          <a:custGeom>
            <a:avLst/>
            <a:gdLst/>
            <a:ahLst/>
            <a:cxnLst/>
            <a:rect r="r" b="b" t="t" l="l"/>
            <a:pathLst>
              <a:path h="3242745" w="3242745">
                <a:moveTo>
                  <a:pt x="0" y="0"/>
                </a:moveTo>
                <a:lnTo>
                  <a:pt x="3242744" y="0"/>
                </a:lnTo>
                <a:lnTo>
                  <a:pt x="3242744" y="3242744"/>
                </a:lnTo>
                <a:lnTo>
                  <a:pt x="0" y="324274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63386" y="344732"/>
            <a:ext cx="17561227" cy="1076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1"/>
              </a:lnSpc>
            </a:pPr>
            <a:r>
              <a:rPr lang="en-US" b="true" sz="7000" spc="-208">
                <a:solidFill>
                  <a:srgbClr val="FFFFFF"/>
                </a:solidFill>
                <a:latin typeface="Paperlogy Heavy"/>
                <a:ea typeface="Paperlogy Heavy"/>
                <a:cs typeface="Paperlogy Heavy"/>
                <a:sym typeface="Paperlogy Heavy"/>
              </a:rPr>
              <a:t>19년 바이오 기술력이 완성한 소이 펩타이드의 산실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436874" y="4856314"/>
            <a:ext cx="1961315" cy="273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b="true">
                <a:solidFill>
                  <a:srgbClr val="FFFFFF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미국 FDA 시설 등록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8785883"/>
            <a:ext cx="4554141" cy="415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F45624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19년 제약 · 바이오 헤리티지 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4075" y="9286952"/>
            <a:ext cx="5379526" cy="382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FFFFFF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100여 개 기술 특허 및 300여 종 연구 개발 이력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016981" y="9286952"/>
            <a:ext cx="5179501" cy="382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FFFFFF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국가급 식품·보건 산업 선도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999476" y="8785883"/>
            <a:ext cx="5013016" cy="415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F45624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중국 악식동원 산업전략연맹 부회장 단위 :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425082" y="9279496"/>
            <a:ext cx="5171134" cy="382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FFFFFF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미국 FDA 시설 등록 &amp; HACCP / ISO 인증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398188" y="8785883"/>
            <a:ext cx="4263913" cy="415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F45624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글로벌 공신력 인증 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822570" y="7820585"/>
            <a:ext cx="1189922" cy="273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b="true">
                <a:solidFill>
                  <a:srgbClr val="FFFFFF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ISO 22000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971316" y="4839384"/>
            <a:ext cx="995206" cy="273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b="true">
                <a:solidFill>
                  <a:srgbClr val="FFFFFF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ISO 9001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339072" y="4839384"/>
            <a:ext cx="946665" cy="273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b="true">
                <a:solidFill>
                  <a:srgbClr val="FFFFFF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HACCP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107896" y="7820585"/>
            <a:ext cx="722047" cy="273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b="true">
                <a:solidFill>
                  <a:srgbClr val="FFFFFF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PONY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77" r="0" b="-92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52292" y="2321381"/>
            <a:ext cx="2556715" cy="5275319"/>
          </a:xfrm>
          <a:custGeom>
            <a:avLst/>
            <a:gdLst/>
            <a:ahLst/>
            <a:cxnLst/>
            <a:rect r="r" b="b" t="t" l="l"/>
            <a:pathLst>
              <a:path h="5275319" w="2556715">
                <a:moveTo>
                  <a:pt x="0" y="0"/>
                </a:moveTo>
                <a:lnTo>
                  <a:pt x="2556716" y="0"/>
                </a:lnTo>
                <a:lnTo>
                  <a:pt x="2556716" y="5275319"/>
                </a:lnTo>
                <a:lnTo>
                  <a:pt x="0" y="52753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803426" y="1316558"/>
            <a:ext cx="5113431" cy="6531347"/>
          </a:xfrm>
          <a:custGeom>
            <a:avLst/>
            <a:gdLst/>
            <a:ahLst/>
            <a:cxnLst/>
            <a:rect r="r" b="b" t="t" l="l"/>
            <a:pathLst>
              <a:path h="6531347" w="5113431">
                <a:moveTo>
                  <a:pt x="0" y="0"/>
                </a:moveTo>
                <a:lnTo>
                  <a:pt x="5113430" y="0"/>
                </a:lnTo>
                <a:lnTo>
                  <a:pt x="5113430" y="6531347"/>
                </a:lnTo>
                <a:lnTo>
                  <a:pt x="0" y="65313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397698" y="2321381"/>
            <a:ext cx="2813503" cy="5275319"/>
          </a:xfrm>
          <a:custGeom>
            <a:avLst/>
            <a:gdLst/>
            <a:ahLst/>
            <a:cxnLst/>
            <a:rect r="r" b="b" t="t" l="l"/>
            <a:pathLst>
              <a:path h="5275319" w="2813503">
                <a:moveTo>
                  <a:pt x="0" y="0"/>
                </a:moveTo>
                <a:lnTo>
                  <a:pt x="2813503" y="0"/>
                </a:lnTo>
                <a:lnTo>
                  <a:pt x="2813503" y="5275319"/>
                </a:lnTo>
                <a:lnTo>
                  <a:pt x="0" y="52753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119639" y="3577409"/>
            <a:ext cx="2048722" cy="2009645"/>
          </a:xfrm>
          <a:custGeom>
            <a:avLst/>
            <a:gdLst/>
            <a:ahLst/>
            <a:cxnLst/>
            <a:rect r="r" b="b" t="t" l="l"/>
            <a:pathLst>
              <a:path h="2009645" w="2048722">
                <a:moveTo>
                  <a:pt x="0" y="0"/>
                </a:moveTo>
                <a:lnTo>
                  <a:pt x="2048722" y="0"/>
                </a:lnTo>
                <a:lnTo>
                  <a:pt x="2048722" y="2009645"/>
                </a:lnTo>
                <a:lnTo>
                  <a:pt x="0" y="200964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119639" y="5134384"/>
            <a:ext cx="2220540" cy="1030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6"/>
              </a:lnSpc>
            </a:pPr>
            <a:r>
              <a:rPr lang="en-US" b="true" sz="3636" spc="-105">
                <a:solidFill>
                  <a:srgbClr val="FF1616"/>
                </a:solidFill>
                <a:latin typeface="Paperlogy Ultra-Bold"/>
                <a:ea typeface="Paperlogy Ultra-Bold"/>
                <a:cs typeface="Paperlogy Ultra-Bold"/>
                <a:sym typeface="Paperlogy Ultra-Bold"/>
              </a:rPr>
              <a:t>대사 경로가</a:t>
            </a:r>
          </a:p>
          <a:p>
            <a:pPr algn="ctr">
              <a:lnSpc>
                <a:spcPts val="3998"/>
              </a:lnSpc>
            </a:pPr>
            <a:r>
              <a:rPr lang="en-US" b="true" sz="3636" spc="-108">
                <a:solidFill>
                  <a:srgbClr val="FF1616"/>
                </a:solidFill>
                <a:latin typeface="Paperlogy Ultra-Bold"/>
                <a:ea typeface="Paperlogy Ultra-Bold"/>
                <a:cs typeface="Paperlogy Ultra-Bold"/>
                <a:sym typeface="Paperlogy Ultra-Bold"/>
              </a:rPr>
              <a:t>차단됨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290752" y="2360040"/>
            <a:ext cx="5048823" cy="3644872"/>
          </a:xfrm>
          <a:custGeom>
            <a:avLst/>
            <a:gdLst/>
            <a:ahLst/>
            <a:cxnLst/>
            <a:rect r="r" b="b" t="t" l="l"/>
            <a:pathLst>
              <a:path h="3644872" w="5048823">
                <a:moveTo>
                  <a:pt x="0" y="0"/>
                </a:moveTo>
                <a:lnTo>
                  <a:pt x="5048823" y="0"/>
                </a:lnTo>
                <a:lnTo>
                  <a:pt x="5048823" y="3644873"/>
                </a:lnTo>
                <a:lnTo>
                  <a:pt x="0" y="364487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310854" y="2785583"/>
            <a:ext cx="5048823" cy="4072357"/>
          </a:xfrm>
          <a:custGeom>
            <a:avLst/>
            <a:gdLst/>
            <a:ahLst/>
            <a:cxnLst/>
            <a:rect r="r" b="b" t="t" l="l"/>
            <a:pathLst>
              <a:path h="4072357" w="5048823">
                <a:moveTo>
                  <a:pt x="0" y="0"/>
                </a:moveTo>
                <a:lnTo>
                  <a:pt x="5048823" y="0"/>
                </a:lnTo>
                <a:lnTo>
                  <a:pt x="5048823" y="4072357"/>
                </a:lnTo>
                <a:lnTo>
                  <a:pt x="0" y="407235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878985" y="2785583"/>
            <a:ext cx="1975431" cy="1283358"/>
          </a:xfrm>
          <a:custGeom>
            <a:avLst/>
            <a:gdLst/>
            <a:ahLst/>
            <a:cxnLst/>
            <a:rect r="r" b="b" t="t" l="l"/>
            <a:pathLst>
              <a:path h="1283358" w="1975431">
                <a:moveTo>
                  <a:pt x="0" y="0"/>
                </a:moveTo>
                <a:lnTo>
                  <a:pt x="1975431" y="0"/>
                </a:lnTo>
                <a:lnTo>
                  <a:pt x="1975431" y="1283358"/>
                </a:lnTo>
                <a:lnTo>
                  <a:pt x="0" y="128335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315669" y="6214463"/>
            <a:ext cx="881969" cy="215992"/>
          </a:xfrm>
          <a:custGeom>
            <a:avLst/>
            <a:gdLst/>
            <a:ahLst/>
            <a:cxnLst/>
            <a:rect r="r" b="b" t="t" l="l"/>
            <a:pathLst>
              <a:path h="215992" w="881969">
                <a:moveTo>
                  <a:pt x="0" y="0"/>
                </a:moveTo>
                <a:lnTo>
                  <a:pt x="881969" y="0"/>
                </a:lnTo>
                <a:lnTo>
                  <a:pt x="881969" y="215992"/>
                </a:lnTo>
                <a:lnTo>
                  <a:pt x="0" y="21599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070608" y="6002970"/>
            <a:ext cx="1102461" cy="1070963"/>
          </a:xfrm>
          <a:custGeom>
            <a:avLst/>
            <a:gdLst/>
            <a:ahLst/>
            <a:cxnLst/>
            <a:rect r="r" b="b" t="t" l="l"/>
            <a:pathLst>
              <a:path h="1070963" w="1102461">
                <a:moveTo>
                  <a:pt x="0" y="0"/>
                </a:moveTo>
                <a:lnTo>
                  <a:pt x="1102461" y="0"/>
                </a:lnTo>
                <a:lnTo>
                  <a:pt x="1102461" y="1070962"/>
                </a:lnTo>
                <a:lnTo>
                  <a:pt x="0" y="107096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555916" y="5786977"/>
            <a:ext cx="661477" cy="859470"/>
          </a:xfrm>
          <a:custGeom>
            <a:avLst/>
            <a:gdLst/>
            <a:ahLst/>
            <a:cxnLst/>
            <a:rect r="r" b="b" t="t" l="l"/>
            <a:pathLst>
              <a:path h="859470" w="661477">
                <a:moveTo>
                  <a:pt x="0" y="0"/>
                </a:moveTo>
                <a:lnTo>
                  <a:pt x="661476" y="0"/>
                </a:lnTo>
                <a:lnTo>
                  <a:pt x="661476" y="859470"/>
                </a:lnTo>
                <a:lnTo>
                  <a:pt x="0" y="85947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555916" y="6430455"/>
            <a:ext cx="440985" cy="643477"/>
          </a:xfrm>
          <a:custGeom>
            <a:avLst/>
            <a:gdLst/>
            <a:ahLst/>
            <a:cxnLst/>
            <a:rect r="r" b="b" t="t" l="l"/>
            <a:pathLst>
              <a:path h="643477" w="440985">
                <a:moveTo>
                  <a:pt x="0" y="0"/>
                </a:moveTo>
                <a:lnTo>
                  <a:pt x="440984" y="0"/>
                </a:lnTo>
                <a:lnTo>
                  <a:pt x="440984" y="643477"/>
                </a:lnTo>
                <a:lnTo>
                  <a:pt x="0" y="64347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992400" y="6430455"/>
            <a:ext cx="881969" cy="643477"/>
          </a:xfrm>
          <a:custGeom>
            <a:avLst/>
            <a:gdLst/>
            <a:ahLst/>
            <a:cxnLst/>
            <a:rect r="r" b="b" t="t" l="l"/>
            <a:pathLst>
              <a:path h="643477" w="881969">
                <a:moveTo>
                  <a:pt x="0" y="0"/>
                </a:moveTo>
                <a:lnTo>
                  <a:pt x="881969" y="0"/>
                </a:lnTo>
                <a:lnTo>
                  <a:pt x="881969" y="643477"/>
                </a:lnTo>
                <a:lnTo>
                  <a:pt x="0" y="64347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151470" y="1656850"/>
            <a:ext cx="3171669" cy="1326166"/>
          </a:xfrm>
          <a:custGeom>
            <a:avLst/>
            <a:gdLst/>
            <a:ahLst/>
            <a:cxnLst/>
            <a:rect r="r" b="b" t="t" l="l"/>
            <a:pathLst>
              <a:path h="1326166" w="3171669">
                <a:moveTo>
                  <a:pt x="0" y="0"/>
                </a:moveTo>
                <a:lnTo>
                  <a:pt x="3171669" y="0"/>
                </a:lnTo>
                <a:lnTo>
                  <a:pt x="3171669" y="1326165"/>
                </a:lnTo>
                <a:lnTo>
                  <a:pt x="0" y="132616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364656" y="2945731"/>
            <a:ext cx="1723039" cy="1123210"/>
          </a:xfrm>
          <a:custGeom>
            <a:avLst/>
            <a:gdLst/>
            <a:ahLst/>
            <a:cxnLst/>
            <a:rect r="r" b="b" t="t" l="l"/>
            <a:pathLst>
              <a:path h="1123210" w="1723039">
                <a:moveTo>
                  <a:pt x="0" y="0"/>
                </a:moveTo>
                <a:lnTo>
                  <a:pt x="1723039" y="0"/>
                </a:lnTo>
                <a:lnTo>
                  <a:pt x="1723039" y="1123210"/>
                </a:lnTo>
                <a:lnTo>
                  <a:pt x="0" y="112321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2869870" y="4288530"/>
            <a:ext cx="1102461" cy="215992"/>
          </a:xfrm>
          <a:custGeom>
            <a:avLst/>
            <a:gdLst/>
            <a:ahLst/>
            <a:cxnLst/>
            <a:rect r="r" b="b" t="t" l="l"/>
            <a:pathLst>
              <a:path h="215992" w="1102461">
                <a:moveTo>
                  <a:pt x="0" y="0"/>
                </a:moveTo>
                <a:lnTo>
                  <a:pt x="1102461" y="0"/>
                </a:lnTo>
                <a:lnTo>
                  <a:pt x="1102461" y="215992"/>
                </a:lnTo>
                <a:lnTo>
                  <a:pt x="0" y="21599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2869870" y="4716015"/>
            <a:ext cx="1102461" cy="1498448"/>
          </a:xfrm>
          <a:custGeom>
            <a:avLst/>
            <a:gdLst/>
            <a:ahLst/>
            <a:cxnLst/>
            <a:rect r="r" b="b" t="t" l="l"/>
            <a:pathLst>
              <a:path h="1498448" w="1102461">
                <a:moveTo>
                  <a:pt x="0" y="0"/>
                </a:moveTo>
                <a:lnTo>
                  <a:pt x="1102461" y="0"/>
                </a:lnTo>
                <a:lnTo>
                  <a:pt x="1102461" y="1498448"/>
                </a:lnTo>
                <a:lnTo>
                  <a:pt x="0" y="1498448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3531346" y="6214463"/>
            <a:ext cx="440985" cy="215992"/>
          </a:xfrm>
          <a:custGeom>
            <a:avLst/>
            <a:gdLst/>
            <a:ahLst/>
            <a:cxnLst/>
            <a:rect r="r" b="b" t="t" l="l"/>
            <a:pathLst>
              <a:path h="215992" w="440985">
                <a:moveTo>
                  <a:pt x="0" y="0"/>
                </a:moveTo>
                <a:lnTo>
                  <a:pt x="440985" y="0"/>
                </a:lnTo>
                <a:lnTo>
                  <a:pt x="440985" y="215992"/>
                </a:lnTo>
                <a:lnTo>
                  <a:pt x="0" y="215992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585300" y="7073932"/>
            <a:ext cx="5710300" cy="2141925"/>
          </a:xfrm>
          <a:custGeom>
            <a:avLst/>
            <a:gdLst/>
            <a:ahLst/>
            <a:cxnLst/>
            <a:rect r="r" b="b" t="t" l="l"/>
            <a:pathLst>
              <a:path h="2141925" w="5710300">
                <a:moveTo>
                  <a:pt x="0" y="0"/>
                </a:moveTo>
                <a:lnTo>
                  <a:pt x="5710300" y="0"/>
                </a:lnTo>
                <a:lnTo>
                  <a:pt x="5710300" y="2141925"/>
                </a:lnTo>
                <a:lnTo>
                  <a:pt x="0" y="214192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6291100" y="7073932"/>
            <a:ext cx="5705800" cy="2141925"/>
          </a:xfrm>
          <a:custGeom>
            <a:avLst/>
            <a:gdLst/>
            <a:ahLst/>
            <a:cxnLst/>
            <a:rect r="r" b="b" t="t" l="l"/>
            <a:pathLst>
              <a:path h="2141925" w="5705800">
                <a:moveTo>
                  <a:pt x="0" y="0"/>
                </a:moveTo>
                <a:lnTo>
                  <a:pt x="5705800" y="0"/>
                </a:lnTo>
                <a:lnTo>
                  <a:pt x="5705800" y="2141925"/>
                </a:lnTo>
                <a:lnTo>
                  <a:pt x="0" y="214192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1992400" y="7073932"/>
            <a:ext cx="5489808" cy="2141925"/>
          </a:xfrm>
          <a:custGeom>
            <a:avLst/>
            <a:gdLst/>
            <a:ahLst/>
            <a:cxnLst/>
            <a:rect r="r" b="b" t="t" l="l"/>
            <a:pathLst>
              <a:path h="2141925" w="5489808">
                <a:moveTo>
                  <a:pt x="0" y="0"/>
                </a:moveTo>
                <a:lnTo>
                  <a:pt x="5489808" y="0"/>
                </a:lnTo>
                <a:lnTo>
                  <a:pt x="5489808" y="2141925"/>
                </a:lnTo>
                <a:lnTo>
                  <a:pt x="0" y="214192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805792" y="9215857"/>
            <a:ext cx="16676416" cy="215992"/>
          </a:xfrm>
          <a:custGeom>
            <a:avLst/>
            <a:gdLst/>
            <a:ahLst/>
            <a:cxnLst/>
            <a:rect r="r" b="b" t="t" l="l"/>
            <a:pathLst>
              <a:path h="215992" w="16676416">
                <a:moveTo>
                  <a:pt x="0" y="0"/>
                </a:moveTo>
                <a:lnTo>
                  <a:pt x="16676416" y="0"/>
                </a:lnTo>
                <a:lnTo>
                  <a:pt x="16676416" y="215993"/>
                </a:lnTo>
                <a:lnTo>
                  <a:pt x="0" y="215993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2365578" y="511885"/>
            <a:ext cx="13556843" cy="1542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01"/>
              </a:lnSpc>
            </a:pPr>
            <a:r>
              <a:rPr lang="en-US" sz="9999" spc="-297" b="true">
                <a:solidFill>
                  <a:srgbClr val="FFFFFF"/>
                </a:solidFill>
                <a:latin typeface="Paperlogy Heavy"/>
                <a:ea typeface="Paperlogy Heavy"/>
                <a:cs typeface="Paperlogy Heavy"/>
                <a:sym typeface="Paperlogy Heavy"/>
              </a:rPr>
              <a:t>우리는 몸을 살리고 있는가?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757508" y="7415395"/>
            <a:ext cx="3365882" cy="729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05"/>
              </a:lnSpc>
            </a:pPr>
            <a:r>
              <a:rPr lang="en-US" b="true" sz="4837" spc="-144">
                <a:solidFill>
                  <a:srgbClr val="FF6448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01. 장벽 누수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19291" y="8404834"/>
            <a:ext cx="5278315" cy="323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b="true" sz="1999" spc="-59">
                <a:solidFill>
                  <a:srgbClr val="FFFFFF"/>
                </a:solidFill>
                <a:latin typeface="Paperlogy Semi-Bold"/>
                <a:ea typeface="Paperlogy Semi-Bold"/>
                <a:cs typeface="Paperlogy Semi-Bold"/>
                <a:sym typeface="Paperlogy Semi-Bold"/>
              </a:rPr>
              <a:t>장벽 틈새 균열 &amp; 장내 미생물 불균형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461059" y="7415395"/>
            <a:ext cx="3365882" cy="729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05"/>
              </a:lnSpc>
            </a:pPr>
            <a:r>
              <a:rPr lang="en-US" b="true" sz="4837" spc="-144">
                <a:solidFill>
                  <a:srgbClr val="FF6448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02. 만성 염증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867080" y="8414359"/>
            <a:ext cx="4463844" cy="314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b="true" sz="2000" spc="-59">
                <a:solidFill>
                  <a:srgbClr val="FFFFFF"/>
                </a:solidFill>
                <a:latin typeface="Paperlogy Semi-Bold"/>
                <a:ea typeface="Paperlogy Semi-Bold"/>
                <a:cs typeface="Paperlogy Semi-Bold"/>
                <a:sym typeface="Paperlogy Semi-Bold"/>
              </a:rPr>
              <a:t>LPS 내독소의 혈류 유입 &amp; 전신 염증 반응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054363" y="7415395"/>
            <a:ext cx="3365882" cy="729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05"/>
              </a:lnSpc>
            </a:pPr>
            <a:r>
              <a:rPr lang="en-US" b="true" sz="4837" spc="-144">
                <a:solidFill>
                  <a:srgbClr val="FF6448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03. 대사 마비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620128" y="8414359"/>
            <a:ext cx="4234352" cy="314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b="true" sz="2000" spc="-59">
                <a:solidFill>
                  <a:srgbClr val="FFFFFF"/>
                </a:solidFill>
                <a:latin typeface="Paperlogy Semi-Bold"/>
                <a:ea typeface="Paperlogy Semi-Bold"/>
                <a:cs typeface="Paperlogy Semi-Bold"/>
                <a:sym typeface="Paperlogy Semi-Bold"/>
              </a:rPr>
              <a:t>지방 연소 기능 셧다운 &amp; 만성 피로 유발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809478" y="1927836"/>
            <a:ext cx="10669045" cy="1542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01"/>
              </a:lnSpc>
            </a:pPr>
            <a:r>
              <a:rPr lang="en-US" b="true" sz="9999" spc="-297">
                <a:solidFill>
                  <a:srgbClr val="F45624"/>
                </a:solidFill>
                <a:latin typeface="Paperlogy Heavy"/>
                <a:ea typeface="Paperlogy Heavy"/>
                <a:cs typeface="Paperlogy Heavy"/>
                <a:sym typeface="Paperlogy Heavy"/>
              </a:rPr>
              <a:t>독소를 쌓고 있는가?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838836" y="9403863"/>
            <a:ext cx="12610327" cy="628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999" spc="-119" b="true">
                <a:solidFill>
                  <a:srgbClr val="FF7840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아무리 좋은 것을 먹어도 몸이 무거운 진짜 이유 : ‘장(腸)의 침묵’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6202269" y="2708759"/>
            <a:ext cx="1095375" cy="4500562"/>
          </a:xfrm>
          <a:custGeom>
            <a:avLst/>
            <a:gdLst/>
            <a:ahLst/>
            <a:cxnLst/>
            <a:rect r="r" b="b" t="t" l="l"/>
            <a:pathLst>
              <a:path h="4500562" w="1095375">
                <a:moveTo>
                  <a:pt x="0" y="0"/>
                </a:moveTo>
                <a:lnTo>
                  <a:pt x="1095375" y="0"/>
                </a:lnTo>
                <a:lnTo>
                  <a:pt x="1095375" y="4500562"/>
                </a:lnTo>
                <a:lnTo>
                  <a:pt x="0" y="45005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6" r="0" b="-2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859" y="2995365"/>
            <a:ext cx="1530478" cy="4941258"/>
          </a:xfrm>
          <a:custGeom>
            <a:avLst/>
            <a:gdLst/>
            <a:ahLst/>
            <a:cxnLst/>
            <a:rect r="r" b="b" t="t" l="l"/>
            <a:pathLst>
              <a:path h="4941258" w="1530478">
                <a:moveTo>
                  <a:pt x="0" y="0"/>
                </a:moveTo>
                <a:lnTo>
                  <a:pt x="1530478" y="0"/>
                </a:lnTo>
                <a:lnTo>
                  <a:pt x="1530478" y="4941258"/>
                </a:lnTo>
                <a:lnTo>
                  <a:pt x="0" y="4941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859" y="5138034"/>
            <a:ext cx="1530478" cy="2798589"/>
          </a:xfrm>
          <a:custGeom>
            <a:avLst/>
            <a:gdLst/>
            <a:ahLst/>
            <a:cxnLst/>
            <a:rect r="r" b="b" t="t" l="l"/>
            <a:pathLst>
              <a:path h="2798589" w="1530478">
                <a:moveTo>
                  <a:pt x="0" y="0"/>
                </a:moveTo>
                <a:lnTo>
                  <a:pt x="1530478" y="0"/>
                </a:lnTo>
                <a:lnTo>
                  <a:pt x="1530478" y="2798589"/>
                </a:lnTo>
                <a:lnTo>
                  <a:pt x="0" y="27985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859" y="6854356"/>
            <a:ext cx="1530478" cy="1727254"/>
          </a:xfrm>
          <a:custGeom>
            <a:avLst/>
            <a:gdLst/>
            <a:ahLst/>
            <a:cxnLst/>
            <a:rect r="r" b="b" t="t" l="l"/>
            <a:pathLst>
              <a:path h="1727254" w="1530478">
                <a:moveTo>
                  <a:pt x="0" y="0"/>
                </a:moveTo>
                <a:lnTo>
                  <a:pt x="1530478" y="0"/>
                </a:lnTo>
                <a:lnTo>
                  <a:pt x="153047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752663" y="5138034"/>
            <a:ext cx="1530478" cy="2798589"/>
          </a:xfrm>
          <a:custGeom>
            <a:avLst/>
            <a:gdLst/>
            <a:ahLst/>
            <a:cxnLst/>
            <a:rect r="r" b="b" t="t" l="l"/>
            <a:pathLst>
              <a:path h="2798589" w="1530478">
                <a:moveTo>
                  <a:pt x="0" y="0"/>
                </a:moveTo>
                <a:lnTo>
                  <a:pt x="1530478" y="0"/>
                </a:lnTo>
                <a:lnTo>
                  <a:pt x="1530478" y="2798589"/>
                </a:lnTo>
                <a:lnTo>
                  <a:pt x="0" y="27985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05765" y="2350377"/>
            <a:ext cx="5017782" cy="6657580"/>
          </a:xfrm>
          <a:custGeom>
            <a:avLst/>
            <a:gdLst/>
            <a:ahLst/>
            <a:cxnLst/>
            <a:rect r="r" b="b" t="t" l="l"/>
            <a:pathLst>
              <a:path h="6657580" w="5017782">
                <a:moveTo>
                  <a:pt x="0" y="0"/>
                </a:moveTo>
                <a:lnTo>
                  <a:pt x="5017782" y="0"/>
                </a:lnTo>
                <a:lnTo>
                  <a:pt x="5017782" y="6657580"/>
                </a:lnTo>
                <a:lnTo>
                  <a:pt x="0" y="66575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24405" y="2995365"/>
            <a:ext cx="4580503" cy="3443576"/>
          </a:xfrm>
          <a:custGeom>
            <a:avLst/>
            <a:gdLst/>
            <a:ahLst/>
            <a:cxnLst/>
            <a:rect r="r" b="b" t="t" l="l"/>
            <a:pathLst>
              <a:path h="3443576" w="4580503">
                <a:moveTo>
                  <a:pt x="0" y="0"/>
                </a:moveTo>
                <a:lnTo>
                  <a:pt x="4580503" y="0"/>
                </a:lnTo>
                <a:lnTo>
                  <a:pt x="4580503" y="3443575"/>
                </a:lnTo>
                <a:lnTo>
                  <a:pt x="0" y="34435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43045" y="6428009"/>
            <a:ext cx="4361863" cy="1082267"/>
          </a:xfrm>
          <a:custGeom>
            <a:avLst/>
            <a:gdLst/>
            <a:ahLst/>
            <a:cxnLst/>
            <a:rect r="r" b="b" t="t" l="l"/>
            <a:pathLst>
              <a:path h="1082267" w="4361863">
                <a:moveTo>
                  <a:pt x="0" y="0"/>
                </a:moveTo>
                <a:lnTo>
                  <a:pt x="4361863" y="0"/>
                </a:lnTo>
                <a:lnTo>
                  <a:pt x="4361863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400494" y="6644322"/>
            <a:ext cx="2984139" cy="58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48"/>
              </a:lnSpc>
            </a:pPr>
            <a:r>
              <a:rPr lang="en-US" b="true" sz="3232" spc="-129">
                <a:solidFill>
                  <a:srgbClr val="96F1F0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실리움 (차전자피)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79175" y="7631255"/>
            <a:ext cx="4426777" cy="771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2"/>
              </a:lnSpc>
            </a:pPr>
            <a:r>
              <a:rPr lang="en-US" b="true" sz="2108" spc="-84">
                <a:solidFill>
                  <a:srgbClr val="C3F0F0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수분을 당겨 수분 젤 형성 →</a:t>
            </a:r>
          </a:p>
          <a:p>
            <a:pPr algn="ctr">
              <a:lnSpc>
                <a:spcPts val="3162"/>
              </a:lnSpc>
            </a:pPr>
            <a:r>
              <a:rPr lang="en-US" b="true" sz="2108" spc="-84">
                <a:solidFill>
                  <a:srgbClr val="C3F0F0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유연한 장 연동 운동 &amp; 자연스러운 포만감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6531255" y="2569017"/>
            <a:ext cx="5225490" cy="6220301"/>
          </a:xfrm>
          <a:custGeom>
            <a:avLst/>
            <a:gdLst/>
            <a:ahLst/>
            <a:cxnLst/>
            <a:rect r="r" b="b" t="t" l="l"/>
            <a:pathLst>
              <a:path h="6220301" w="5225490">
                <a:moveTo>
                  <a:pt x="0" y="0"/>
                </a:moveTo>
                <a:lnTo>
                  <a:pt x="5225490" y="0"/>
                </a:lnTo>
                <a:lnTo>
                  <a:pt x="5225490" y="6220301"/>
                </a:lnTo>
                <a:lnTo>
                  <a:pt x="0" y="622030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749895" y="2776725"/>
            <a:ext cx="4788210" cy="3662216"/>
          </a:xfrm>
          <a:custGeom>
            <a:avLst/>
            <a:gdLst/>
            <a:ahLst/>
            <a:cxnLst/>
            <a:rect r="r" b="b" t="t" l="l"/>
            <a:pathLst>
              <a:path h="3662216" w="4788210">
                <a:moveTo>
                  <a:pt x="0" y="0"/>
                </a:moveTo>
                <a:lnTo>
                  <a:pt x="4788210" y="0"/>
                </a:lnTo>
                <a:lnTo>
                  <a:pt x="4788210" y="3662215"/>
                </a:lnTo>
                <a:lnTo>
                  <a:pt x="0" y="366221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749895" y="6428009"/>
            <a:ext cx="4788210" cy="1082267"/>
          </a:xfrm>
          <a:custGeom>
            <a:avLst/>
            <a:gdLst/>
            <a:ahLst/>
            <a:cxnLst/>
            <a:rect r="r" b="b" t="t" l="l"/>
            <a:pathLst>
              <a:path h="1082267" w="4788210">
                <a:moveTo>
                  <a:pt x="0" y="0"/>
                </a:moveTo>
                <a:lnTo>
                  <a:pt x="4788210" y="0"/>
                </a:lnTo>
                <a:lnTo>
                  <a:pt x="478821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7780992" y="6644322"/>
            <a:ext cx="2696920" cy="58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48"/>
              </a:lnSpc>
            </a:pPr>
            <a:r>
              <a:rPr lang="en-US" b="true" sz="3232" spc="-129">
                <a:solidFill>
                  <a:srgbClr val="F6E59C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오크라꽃 추출물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435334" y="7631869"/>
            <a:ext cx="3388236" cy="738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0"/>
              </a:lnSpc>
            </a:pPr>
            <a:r>
              <a:rPr lang="en-US" b="true" sz="2046" spc="-81">
                <a:solidFill>
                  <a:srgbClr val="F6F6E9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점액질과 플라보노이드가 응축된</a:t>
            </a:r>
          </a:p>
          <a:p>
            <a:pPr algn="ctr">
              <a:lnSpc>
                <a:spcPts val="3070"/>
              </a:lnSpc>
            </a:pPr>
            <a:r>
              <a:rPr lang="en-US" b="true" sz="2046" spc="-81">
                <a:solidFill>
                  <a:srgbClr val="F6F6E9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르메뜨레 독자적 핵심 원료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1964453" y="2350377"/>
            <a:ext cx="5017782" cy="6657580"/>
          </a:xfrm>
          <a:custGeom>
            <a:avLst/>
            <a:gdLst/>
            <a:ahLst/>
            <a:cxnLst/>
            <a:rect r="r" b="b" t="t" l="l"/>
            <a:pathLst>
              <a:path h="6657580" w="5017782">
                <a:moveTo>
                  <a:pt x="0" y="0"/>
                </a:moveTo>
                <a:lnTo>
                  <a:pt x="5017782" y="0"/>
                </a:lnTo>
                <a:lnTo>
                  <a:pt x="5017782" y="6657580"/>
                </a:lnTo>
                <a:lnTo>
                  <a:pt x="0" y="665758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2183092" y="2995365"/>
            <a:ext cx="4580503" cy="3651284"/>
          </a:xfrm>
          <a:custGeom>
            <a:avLst/>
            <a:gdLst/>
            <a:ahLst/>
            <a:cxnLst/>
            <a:rect r="r" b="b" t="t" l="l"/>
            <a:pathLst>
              <a:path h="3651284" w="4580503">
                <a:moveTo>
                  <a:pt x="0" y="0"/>
                </a:moveTo>
                <a:lnTo>
                  <a:pt x="4580503" y="0"/>
                </a:lnTo>
                <a:lnTo>
                  <a:pt x="4580503" y="3651283"/>
                </a:lnTo>
                <a:lnTo>
                  <a:pt x="0" y="365128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2183092" y="6428009"/>
            <a:ext cx="4361863" cy="1082267"/>
          </a:xfrm>
          <a:custGeom>
            <a:avLst/>
            <a:gdLst/>
            <a:ahLst/>
            <a:cxnLst/>
            <a:rect r="r" b="b" t="t" l="l"/>
            <a:pathLst>
              <a:path h="1082267" w="4361863">
                <a:moveTo>
                  <a:pt x="0" y="0"/>
                </a:moveTo>
                <a:lnTo>
                  <a:pt x="4361863" y="0"/>
                </a:lnTo>
                <a:lnTo>
                  <a:pt x="4361863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36914">
            <a:off x="12892764" y="6644325"/>
            <a:ext cx="3152820" cy="58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48"/>
              </a:lnSpc>
            </a:pPr>
            <a:r>
              <a:rPr lang="en-US" b="true" sz="3232" spc="-129">
                <a:solidFill>
                  <a:srgbClr val="F0D1F5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오디 &amp; 베리 복합체</a:t>
            </a:r>
          </a:p>
        </p:txBody>
      </p:sp>
      <p:sp>
        <p:nvSpPr>
          <p:cNvPr name="TextBox 21" id="21"/>
          <p:cNvSpPr txBox="true"/>
          <p:nvPr/>
        </p:nvSpPr>
        <p:spPr>
          <a:xfrm rot="36914">
            <a:off x="12701333" y="7631257"/>
            <a:ext cx="3535271" cy="771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2"/>
              </a:lnSpc>
            </a:pPr>
            <a:r>
              <a:rPr lang="en-US" b="true" sz="2108" spc="-84">
                <a:solidFill>
                  <a:srgbClr val="F0D1F5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안토시아닌(C3G) 항산화 성분 및</a:t>
            </a:r>
          </a:p>
          <a:p>
            <a:pPr algn="ctr">
              <a:lnSpc>
                <a:spcPts val="3162"/>
              </a:lnSpc>
            </a:pPr>
            <a:r>
              <a:rPr lang="en-US" b="true" sz="2108" spc="-84">
                <a:solidFill>
                  <a:srgbClr val="F0D1F5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장내 환경 개선(이놀린)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81046" y="340856"/>
            <a:ext cx="17296813" cy="1542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1"/>
              </a:lnSpc>
            </a:pPr>
            <a:r>
              <a:rPr lang="en-US" b="true" sz="9999" spc="-400">
                <a:solidFill>
                  <a:srgbClr val="F6F6E9"/>
                </a:solidFill>
                <a:latin typeface="Paperlogy Heavy"/>
                <a:ea typeface="Paperlogy Heavy"/>
                <a:cs typeface="Paperlogy Heavy"/>
                <a:sym typeface="Paperlogy Heavy"/>
              </a:rPr>
              <a:t>풀컵 오크라 핵심 성분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934478" y="2068830"/>
            <a:ext cx="2897108" cy="50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799" b="true">
                <a:solidFill>
                  <a:srgbClr val="00E8BB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STEP 2. 장내 정화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7834313" y="2571750"/>
            <a:ext cx="657225" cy="857250"/>
          </a:xfrm>
          <a:custGeom>
            <a:avLst/>
            <a:gdLst/>
            <a:ahLst/>
            <a:cxnLst/>
            <a:rect r="r" b="b" t="t" l="l"/>
            <a:pathLst>
              <a:path h="857250" w="657225">
                <a:moveTo>
                  <a:pt x="0" y="0"/>
                </a:moveTo>
                <a:lnTo>
                  <a:pt x="657225" y="0"/>
                </a:lnTo>
                <a:lnTo>
                  <a:pt x="6572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54008" y="2640821"/>
            <a:ext cx="3188177" cy="521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2800" b="true">
                <a:solidFill>
                  <a:srgbClr val="00E8BB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STEP 1. 강력 흡착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2828925" y="4714875"/>
            <a:ext cx="438150" cy="428625"/>
          </a:xfrm>
          <a:custGeom>
            <a:avLst/>
            <a:gdLst/>
            <a:ahLst/>
            <a:cxnLst/>
            <a:rect r="r" b="b" t="t" l="l"/>
            <a:pathLst>
              <a:path h="428625" w="438150">
                <a:moveTo>
                  <a:pt x="0" y="0"/>
                </a:moveTo>
                <a:lnTo>
                  <a:pt x="438150" y="0"/>
                </a:lnTo>
                <a:lnTo>
                  <a:pt x="4381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481388" y="2786062"/>
            <a:ext cx="2614612" cy="2143125"/>
          </a:xfrm>
          <a:custGeom>
            <a:avLst/>
            <a:gdLst/>
            <a:ahLst/>
            <a:cxnLst/>
            <a:rect r="r" b="b" t="t" l="l"/>
            <a:pathLst>
              <a:path h="2143125" w="2614612">
                <a:moveTo>
                  <a:pt x="0" y="0"/>
                </a:moveTo>
                <a:lnTo>
                  <a:pt x="2614612" y="0"/>
                </a:lnTo>
                <a:lnTo>
                  <a:pt x="2614612" y="2143126"/>
                </a:lnTo>
                <a:lnTo>
                  <a:pt x="0" y="21431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876925" y="4714875"/>
            <a:ext cx="438150" cy="214312"/>
          </a:xfrm>
          <a:custGeom>
            <a:avLst/>
            <a:gdLst/>
            <a:ahLst/>
            <a:cxnLst/>
            <a:rect r="r" b="b" t="t" l="l"/>
            <a:pathLst>
              <a:path h="214312" w="438150">
                <a:moveTo>
                  <a:pt x="0" y="0"/>
                </a:moveTo>
                <a:lnTo>
                  <a:pt x="438150" y="0"/>
                </a:lnTo>
                <a:lnTo>
                  <a:pt x="438150" y="214313"/>
                </a:lnTo>
                <a:lnTo>
                  <a:pt x="0" y="2143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553148" y="2966076"/>
            <a:ext cx="2820914" cy="50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799" b="true">
                <a:solidFill>
                  <a:srgbClr val="00E8BB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STEP 3. 체외 배출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4149388" y="3214688"/>
            <a:ext cx="438150" cy="214312"/>
          </a:xfrm>
          <a:custGeom>
            <a:avLst/>
            <a:gdLst/>
            <a:ahLst/>
            <a:cxnLst/>
            <a:rect r="r" b="b" t="t" l="l"/>
            <a:pathLst>
              <a:path h="214312" w="438150">
                <a:moveTo>
                  <a:pt x="0" y="0"/>
                </a:moveTo>
                <a:lnTo>
                  <a:pt x="438150" y="0"/>
                </a:lnTo>
                <a:lnTo>
                  <a:pt x="438150" y="214312"/>
                </a:lnTo>
                <a:lnTo>
                  <a:pt x="0" y="21431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406312" y="3214688"/>
            <a:ext cx="1966912" cy="1714500"/>
          </a:xfrm>
          <a:custGeom>
            <a:avLst/>
            <a:gdLst/>
            <a:ahLst/>
            <a:cxnLst/>
            <a:rect r="r" b="b" t="t" l="l"/>
            <a:pathLst>
              <a:path h="1714500" w="1966912">
                <a:moveTo>
                  <a:pt x="0" y="0"/>
                </a:moveTo>
                <a:lnTo>
                  <a:pt x="1966913" y="0"/>
                </a:lnTo>
                <a:lnTo>
                  <a:pt x="1966913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753850" y="4714875"/>
            <a:ext cx="876300" cy="214312"/>
          </a:xfrm>
          <a:custGeom>
            <a:avLst/>
            <a:gdLst/>
            <a:ahLst/>
            <a:cxnLst/>
            <a:rect r="r" b="b" t="t" l="l"/>
            <a:pathLst>
              <a:path h="214312" w="876300">
                <a:moveTo>
                  <a:pt x="0" y="0"/>
                </a:moveTo>
                <a:lnTo>
                  <a:pt x="876300" y="0"/>
                </a:lnTo>
                <a:lnTo>
                  <a:pt x="876300" y="214313"/>
                </a:lnTo>
                <a:lnTo>
                  <a:pt x="0" y="21431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33388" y="7929562"/>
            <a:ext cx="5881688" cy="1928812"/>
          </a:xfrm>
          <a:custGeom>
            <a:avLst/>
            <a:gdLst/>
            <a:ahLst/>
            <a:cxnLst/>
            <a:rect r="r" b="b" t="t" l="l"/>
            <a:pathLst>
              <a:path h="1928812" w="5881688">
                <a:moveTo>
                  <a:pt x="0" y="0"/>
                </a:moveTo>
                <a:lnTo>
                  <a:pt x="5881687" y="0"/>
                </a:lnTo>
                <a:lnTo>
                  <a:pt x="5881687" y="1928813"/>
                </a:lnTo>
                <a:lnTo>
                  <a:pt x="0" y="192881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66775" y="8143875"/>
            <a:ext cx="1095375" cy="1285875"/>
          </a:xfrm>
          <a:custGeom>
            <a:avLst/>
            <a:gdLst/>
            <a:ahLst/>
            <a:cxnLst/>
            <a:rect r="r" b="b" t="t" l="l"/>
            <a:pathLst>
              <a:path h="1285875" w="1095375">
                <a:moveTo>
                  <a:pt x="0" y="0"/>
                </a:moveTo>
                <a:lnTo>
                  <a:pt x="1095375" y="0"/>
                </a:lnTo>
                <a:lnTo>
                  <a:pt x="109537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957388" y="8143875"/>
            <a:ext cx="223838" cy="1500188"/>
          </a:xfrm>
          <a:custGeom>
            <a:avLst/>
            <a:gdLst/>
            <a:ahLst/>
            <a:cxnLst/>
            <a:rect r="r" b="b" t="t" l="l"/>
            <a:pathLst>
              <a:path h="1500188" w="223838">
                <a:moveTo>
                  <a:pt x="0" y="0"/>
                </a:moveTo>
                <a:lnTo>
                  <a:pt x="223837" y="0"/>
                </a:lnTo>
                <a:lnTo>
                  <a:pt x="223837" y="1500187"/>
                </a:lnTo>
                <a:lnTo>
                  <a:pt x="0" y="150018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384227" y="8169662"/>
            <a:ext cx="3214688" cy="416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2"/>
              </a:lnSpc>
            </a:pPr>
            <a:r>
              <a:rPr lang="en-US" sz="2321" b="true">
                <a:solidFill>
                  <a:srgbClr val="00E8BB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STEP 1. 강력 흡착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384227" y="8731667"/>
            <a:ext cx="3243576" cy="733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1999" b="true">
                <a:solidFill>
                  <a:srgbClr val="FFFFFF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수분 팽창 젤 매트릭스 형성으로</a:t>
            </a:r>
          </a:p>
          <a:p>
            <a:pPr algn="l">
              <a:lnSpc>
                <a:spcPts val="2999"/>
              </a:lnSpc>
            </a:pPr>
            <a:r>
              <a:rPr lang="en-US" sz="1999" b="true">
                <a:solidFill>
                  <a:srgbClr val="FFFFFF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장벽 묵은 잔여물 집중 포획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6310313" y="7929562"/>
            <a:ext cx="5667375" cy="1928812"/>
          </a:xfrm>
          <a:custGeom>
            <a:avLst/>
            <a:gdLst/>
            <a:ahLst/>
            <a:cxnLst/>
            <a:rect r="r" b="b" t="t" l="l"/>
            <a:pathLst>
              <a:path h="1928812" w="5667375">
                <a:moveTo>
                  <a:pt x="0" y="0"/>
                </a:moveTo>
                <a:lnTo>
                  <a:pt x="5667375" y="0"/>
                </a:lnTo>
                <a:lnTo>
                  <a:pt x="5667375" y="1928813"/>
                </a:lnTo>
                <a:lnTo>
                  <a:pt x="0" y="192881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6529388" y="8143875"/>
            <a:ext cx="1309688" cy="1285875"/>
          </a:xfrm>
          <a:custGeom>
            <a:avLst/>
            <a:gdLst/>
            <a:ahLst/>
            <a:cxnLst/>
            <a:rect r="r" b="b" t="t" l="l"/>
            <a:pathLst>
              <a:path h="1285875" w="1309688">
                <a:moveTo>
                  <a:pt x="0" y="0"/>
                </a:moveTo>
                <a:lnTo>
                  <a:pt x="1309687" y="0"/>
                </a:lnTo>
                <a:lnTo>
                  <a:pt x="1309687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7834313" y="8143875"/>
            <a:ext cx="223838" cy="1500188"/>
          </a:xfrm>
          <a:custGeom>
            <a:avLst/>
            <a:gdLst/>
            <a:ahLst/>
            <a:cxnLst/>
            <a:rect r="r" b="b" t="t" l="l"/>
            <a:pathLst>
              <a:path h="1500188" w="223838">
                <a:moveTo>
                  <a:pt x="0" y="0"/>
                </a:moveTo>
                <a:lnTo>
                  <a:pt x="223837" y="0"/>
                </a:lnTo>
                <a:lnTo>
                  <a:pt x="223837" y="1500187"/>
                </a:lnTo>
                <a:lnTo>
                  <a:pt x="0" y="150018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8277430" y="8731667"/>
            <a:ext cx="3083623" cy="733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1999" b="true">
                <a:solidFill>
                  <a:srgbClr val="FFFFFF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유해 물질 차단 및 맑고 건강한 장내 마이크로바이옴 환경 조성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1972925" y="7929562"/>
            <a:ext cx="5881688" cy="1928812"/>
          </a:xfrm>
          <a:custGeom>
            <a:avLst/>
            <a:gdLst/>
            <a:ahLst/>
            <a:cxnLst/>
            <a:rect r="r" b="b" t="t" l="l"/>
            <a:pathLst>
              <a:path h="1928812" w="5881688">
                <a:moveTo>
                  <a:pt x="0" y="0"/>
                </a:moveTo>
                <a:lnTo>
                  <a:pt x="5881687" y="0"/>
                </a:lnTo>
                <a:lnTo>
                  <a:pt x="5881687" y="1928813"/>
                </a:lnTo>
                <a:lnTo>
                  <a:pt x="0" y="192881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2406312" y="8143875"/>
            <a:ext cx="1095375" cy="1285875"/>
          </a:xfrm>
          <a:custGeom>
            <a:avLst/>
            <a:gdLst/>
            <a:ahLst/>
            <a:cxnLst/>
            <a:rect r="r" b="b" t="t" l="l"/>
            <a:pathLst>
              <a:path h="1285875" w="1095375">
                <a:moveTo>
                  <a:pt x="0" y="0"/>
                </a:moveTo>
                <a:lnTo>
                  <a:pt x="1095376" y="0"/>
                </a:lnTo>
                <a:lnTo>
                  <a:pt x="1095376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3716000" y="8143875"/>
            <a:ext cx="219075" cy="1500188"/>
          </a:xfrm>
          <a:custGeom>
            <a:avLst/>
            <a:gdLst/>
            <a:ahLst/>
            <a:cxnLst/>
            <a:rect r="r" b="b" t="t" l="l"/>
            <a:pathLst>
              <a:path h="1500188" w="219075">
                <a:moveTo>
                  <a:pt x="0" y="0"/>
                </a:moveTo>
                <a:lnTo>
                  <a:pt x="219075" y="0"/>
                </a:lnTo>
                <a:lnTo>
                  <a:pt x="219075" y="1500187"/>
                </a:lnTo>
                <a:lnTo>
                  <a:pt x="0" y="1500187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4010680" y="8731667"/>
            <a:ext cx="3553473" cy="733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1999" b="true">
                <a:solidFill>
                  <a:srgbClr val="FFFFFF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자연스러운 장 연동 운동 촉진으로 잔여감 없는 상쾌한 비움 완성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6529388" y="3857625"/>
            <a:ext cx="657225" cy="1500188"/>
          </a:xfrm>
          <a:custGeom>
            <a:avLst/>
            <a:gdLst/>
            <a:ahLst/>
            <a:cxnLst/>
            <a:rect r="r" b="b" t="t" l="l"/>
            <a:pathLst>
              <a:path h="1500188" w="657225">
                <a:moveTo>
                  <a:pt x="0" y="0"/>
                </a:moveTo>
                <a:lnTo>
                  <a:pt x="657225" y="0"/>
                </a:lnTo>
                <a:lnTo>
                  <a:pt x="657225" y="1500187"/>
                </a:lnTo>
                <a:lnTo>
                  <a:pt x="0" y="1500187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8705850" y="6858000"/>
            <a:ext cx="657225" cy="857250"/>
          </a:xfrm>
          <a:custGeom>
            <a:avLst/>
            <a:gdLst/>
            <a:ahLst/>
            <a:cxnLst/>
            <a:rect r="r" b="b" t="t" l="l"/>
            <a:pathLst>
              <a:path h="857250" w="657225">
                <a:moveTo>
                  <a:pt x="0" y="0"/>
                </a:moveTo>
                <a:lnTo>
                  <a:pt x="657225" y="0"/>
                </a:lnTo>
                <a:lnTo>
                  <a:pt x="6572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2625388" y="8358188"/>
            <a:ext cx="657225" cy="857250"/>
          </a:xfrm>
          <a:custGeom>
            <a:avLst/>
            <a:gdLst/>
            <a:ahLst/>
            <a:cxnLst/>
            <a:rect r="r" b="b" t="t" l="l"/>
            <a:pathLst>
              <a:path h="857250" w="657225">
                <a:moveTo>
                  <a:pt x="0" y="0"/>
                </a:moveTo>
                <a:lnTo>
                  <a:pt x="657224" y="0"/>
                </a:lnTo>
                <a:lnTo>
                  <a:pt x="657224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8224242" y="8169662"/>
            <a:ext cx="3214688" cy="416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2"/>
              </a:lnSpc>
            </a:pPr>
            <a:r>
              <a:rPr lang="en-US" sz="2321" b="true">
                <a:solidFill>
                  <a:srgbClr val="00E8BB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STEP 2. 장내 정화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010680" y="8169662"/>
            <a:ext cx="3214688" cy="416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2"/>
              </a:lnSpc>
            </a:pPr>
            <a:r>
              <a:rPr lang="en-US" sz="2321" b="true">
                <a:solidFill>
                  <a:srgbClr val="00E8BB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STEP 3. 체외 배출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71509" y="247777"/>
            <a:ext cx="15744983" cy="1542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1"/>
              </a:lnSpc>
            </a:pPr>
            <a:r>
              <a:rPr lang="en-US" b="true" sz="9999" spc="-97">
                <a:solidFill>
                  <a:srgbClr val="FFFFFF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장내 노폐물 딥 클렌징 메커니즘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77" r="0" b="-927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643729" y="4377695"/>
            <a:ext cx="5000541" cy="5818812"/>
            <a:chOff x="0" y="0"/>
            <a:chExt cx="6985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0F4C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82550"/>
              <a:ext cx="698500" cy="590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354403" y="3471935"/>
            <a:ext cx="13579193" cy="1066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 b="true">
                <a:solidFill>
                  <a:srgbClr val="FFFFFF"/>
                </a:solidFill>
                <a:latin typeface="Paperlogy Heavy"/>
                <a:ea typeface="Paperlogy Heavy"/>
                <a:cs typeface="Paperlogy Heavy"/>
                <a:sym typeface="Paperlogy Heavy"/>
              </a:rPr>
              <a:t>전 세계가 열광하는 차세대 식물성 영양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643729" y="4588750"/>
            <a:ext cx="4854863" cy="5607756"/>
          </a:xfrm>
          <a:custGeom>
            <a:avLst/>
            <a:gdLst/>
            <a:ahLst/>
            <a:cxnLst/>
            <a:rect r="r" b="b" t="t" l="l"/>
            <a:pathLst>
              <a:path h="5607756" w="4854863">
                <a:moveTo>
                  <a:pt x="0" y="0"/>
                </a:moveTo>
                <a:lnTo>
                  <a:pt x="4854863" y="0"/>
                </a:lnTo>
                <a:lnTo>
                  <a:pt x="4854863" y="5607757"/>
                </a:lnTo>
                <a:lnTo>
                  <a:pt x="0" y="56077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233233" y="645929"/>
            <a:ext cx="9821534" cy="2295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0"/>
              </a:lnSpc>
            </a:pPr>
            <a:r>
              <a:rPr lang="en-US" b="true" sz="15000">
                <a:solidFill>
                  <a:srgbClr val="00F4C4"/>
                </a:solidFill>
                <a:latin typeface="Paperlogy Heavy"/>
                <a:ea typeface="Paperlogy Heavy"/>
                <a:cs typeface="Paperlogy Heavy"/>
                <a:sym typeface="Paperlogy Heavy"/>
              </a:rPr>
              <a:t>$ 11.75 B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196933" y="2874779"/>
            <a:ext cx="5894135" cy="490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>
                <a:solidFill>
                  <a:srgbClr val="FFFFFF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1달러당 약 1,360원 기준으로 약 16조원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865916" y="6858000"/>
            <a:ext cx="2621756" cy="2357438"/>
          </a:xfrm>
          <a:custGeom>
            <a:avLst/>
            <a:gdLst/>
            <a:ahLst/>
            <a:cxnLst/>
            <a:rect r="r" b="b" t="t" l="l"/>
            <a:pathLst>
              <a:path h="2357438" w="2621756">
                <a:moveTo>
                  <a:pt x="0" y="0"/>
                </a:moveTo>
                <a:lnTo>
                  <a:pt x="2621757" y="0"/>
                </a:lnTo>
                <a:lnTo>
                  <a:pt x="2621757" y="2357438"/>
                </a:lnTo>
                <a:lnTo>
                  <a:pt x="0" y="23574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6536531" cy="10287000"/>
          </a:xfrm>
          <a:custGeom>
            <a:avLst/>
            <a:gdLst/>
            <a:ahLst/>
            <a:cxnLst/>
            <a:rect r="r" b="b" t="t" l="l"/>
            <a:pathLst>
              <a:path h="10287000" w="6536531">
                <a:moveTo>
                  <a:pt x="0" y="0"/>
                </a:moveTo>
                <a:lnTo>
                  <a:pt x="6536531" y="0"/>
                </a:lnTo>
                <a:lnTo>
                  <a:pt x="653653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307931" y="0"/>
            <a:ext cx="442912" cy="10287000"/>
          </a:xfrm>
          <a:custGeom>
            <a:avLst/>
            <a:gdLst/>
            <a:ahLst/>
            <a:cxnLst/>
            <a:rect r="r" b="b" t="t" l="l"/>
            <a:pathLst>
              <a:path h="10287000" w="442912">
                <a:moveTo>
                  <a:pt x="0" y="0"/>
                </a:moveTo>
                <a:lnTo>
                  <a:pt x="442913" y="0"/>
                </a:lnTo>
                <a:lnTo>
                  <a:pt x="44291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654794" y="479836"/>
            <a:ext cx="9597362" cy="131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55"/>
              </a:lnSpc>
            </a:pPr>
            <a:r>
              <a:rPr lang="en-US" b="true" sz="7682">
                <a:solidFill>
                  <a:srgbClr val="F45624"/>
                </a:solidFill>
                <a:latin typeface="Paperlogy Heavy"/>
                <a:ea typeface="Paperlogy Heavy"/>
                <a:cs typeface="Paperlogy Heavy"/>
                <a:sym typeface="Paperlogy Heavy"/>
              </a:rPr>
              <a:t>오크라 100g 안에 든 것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7179469" y="1928812"/>
            <a:ext cx="2621756" cy="2357438"/>
          </a:xfrm>
          <a:custGeom>
            <a:avLst/>
            <a:gdLst/>
            <a:ahLst/>
            <a:cxnLst/>
            <a:rect r="r" b="b" t="t" l="l"/>
            <a:pathLst>
              <a:path h="2357438" w="2621756">
                <a:moveTo>
                  <a:pt x="0" y="0"/>
                </a:moveTo>
                <a:lnTo>
                  <a:pt x="2621756" y="0"/>
                </a:lnTo>
                <a:lnTo>
                  <a:pt x="2621756" y="2357438"/>
                </a:lnTo>
                <a:lnTo>
                  <a:pt x="0" y="23574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094796" y="2428747"/>
            <a:ext cx="622687" cy="438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5"/>
              </a:lnSpc>
            </a:pPr>
            <a:r>
              <a:rPr lang="en-US" sz="2575" b="true">
                <a:solidFill>
                  <a:srgbClr val="FFFFFF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열량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563006" y="2853852"/>
            <a:ext cx="731506" cy="979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70"/>
              </a:lnSpc>
            </a:pPr>
            <a:r>
              <a:rPr lang="en-US" sz="5693">
                <a:solidFill>
                  <a:srgbClr val="FFFFFF"/>
                </a:solidFill>
                <a:latin typeface="TDTD장고딕"/>
                <a:ea typeface="TDTD장고딕"/>
                <a:cs typeface="TDTD장고딕"/>
                <a:sym typeface="TDTD장고딕"/>
              </a:rPr>
              <a:t>33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509036" y="3123637"/>
            <a:ext cx="848090" cy="665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0"/>
              </a:lnSpc>
            </a:pPr>
            <a:r>
              <a:rPr lang="en-US" sz="3893">
                <a:solidFill>
                  <a:srgbClr val="FFFFFF"/>
                </a:solidFill>
                <a:latin typeface="TDTD장고딕"/>
                <a:ea typeface="TDTD장고딕"/>
                <a:cs typeface="TDTD장고딕"/>
                <a:sym typeface="TDTD장고딕"/>
              </a:rPr>
              <a:t>kcal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9794081" y="1928812"/>
            <a:ext cx="2621756" cy="2357438"/>
          </a:xfrm>
          <a:custGeom>
            <a:avLst/>
            <a:gdLst/>
            <a:ahLst/>
            <a:cxnLst/>
            <a:rect r="r" b="b" t="t" l="l"/>
            <a:pathLst>
              <a:path h="2357438" w="2621756">
                <a:moveTo>
                  <a:pt x="0" y="0"/>
                </a:moveTo>
                <a:lnTo>
                  <a:pt x="2621757" y="0"/>
                </a:lnTo>
                <a:lnTo>
                  <a:pt x="2621757" y="2357438"/>
                </a:lnTo>
                <a:lnTo>
                  <a:pt x="0" y="235743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456760" y="2853852"/>
            <a:ext cx="731506" cy="96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70"/>
              </a:lnSpc>
            </a:pPr>
            <a:r>
              <a:rPr lang="en-US" sz="5693">
                <a:solidFill>
                  <a:srgbClr val="F8E6B9"/>
                </a:solidFill>
                <a:latin typeface="TDTD장고딕"/>
                <a:ea typeface="TDTD장고딕"/>
                <a:cs typeface="TDTD장고딕"/>
                <a:sym typeface="TDTD장고딕"/>
              </a:rPr>
              <a:t>90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310784" y="3183912"/>
            <a:ext cx="391309" cy="665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0"/>
              </a:lnSpc>
            </a:pPr>
            <a:r>
              <a:rPr lang="en-US" sz="3893">
                <a:solidFill>
                  <a:srgbClr val="F8E6B9"/>
                </a:solidFill>
                <a:latin typeface="TDTD장고딕"/>
                <a:ea typeface="TDTD장고딕"/>
                <a:cs typeface="TDTD장고딕"/>
                <a:sym typeface="TDTD장고딕"/>
              </a:rPr>
              <a:t>%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2408694" y="1928812"/>
            <a:ext cx="2614612" cy="2357438"/>
          </a:xfrm>
          <a:custGeom>
            <a:avLst/>
            <a:gdLst/>
            <a:ahLst/>
            <a:cxnLst/>
            <a:rect r="r" b="b" t="t" l="l"/>
            <a:pathLst>
              <a:path h="2357438" w="2614612">
                <a:moveTo>
                  <a:pt x="0" y="0"/>
                </a:moveTo>
                <a:lnTo>
                  <a:pt x="2614612" y="0"/>
                </a:lnTo>
                <a:lnTo>
                  <a:pt x="2614612" y="2357438"/>
                </a:lnTo>
                <a:lnTo>
                  <a:pt x="0" y="235743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3087687" y="2428747"/>
            <a:ext cx="1245374" cy="438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5"/>
              </a:lnSpc>
            </a:pPr>
            <a:r>
              <a:rPr lang="en-US" sz="2575" b="true">
                <a:solidFill>
                  <a:srgbClr val="FFFFFF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식이섬유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067884" y="2853852"/>
            <a:ext cx="943688" cy="96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70"/>
              </a:lnSpc>
            </a:pPr>
            <a:r>
              <a:rPr lang="en-US" sz="5693">
                <a:solidFill>
                  <a:srgbClr val="FFFFFF"/>
                </a:solidFill>
                <a:latin typeface="TDTD장고딕"/>
                <a:ea typeface="TDTD장고딕"/>
                <a:cs typeface="TDTD장고딕"/>
                <a:sym typeface="TDTD장고딕"/>
              </a:rPr>
              <a:t>3.2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5016162" y="1928812"/>
            <a:ext cx="2621756" cy="2357438"/>
          </a:xfrm>
          <a:custGeom>
            <a:avLst/>
            <a:gdLst/>
            <a:ahLst/>
            <a:cxnLst/>
            <a:rect r="r" b="b" t="t" l="l"/>
            <a:pathLst>
              <a:path h="2357438" w="2621756">
                <a:moveTo>
                  <a:pt x="0" y="0"/>
                </a:moveTo>
                <a:lnTo>
                  <a:pt x="2621757" y="0"/>
                </a:lnTo>
                <a:lnTo>
                  <a:pt x="2621757" y="2357438"/>
                </a:lnTo>
                <a:lnTo>
                  <a:pt x="0" y="235743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5869759" y="2428747"/>
            <a:ext cx="934031" cy="438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5"/>
              </a:lnSpc>
            </a:pPr>
            <a:r>
              <a:rPr lang="en-US" sz="2575" b="true">
                <a:solidFill>
                  <a:srgbClr val="F8E6B9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단백질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694284" y="2853852"/>
            <a:ext cx="943688" cy="96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70"/>
              </a:lnSpc>
            </a:pPr>
            <a:r>
              <a:rPr lang="en-US" sz="5693">
                <a:solidFill>
                  <a:srgbClr val="F8E6B9"/>
                </a:solidFill>
                <a:latin typeface="TDTD장고딕"/>
                <a:ea typeface="TDTD장고딕"/>
                <a:cs typeface="TDTD장고딕"/>
                <a:sym typeface="TDTD장고딕"/>
              </a:rPr>
              <a:t>1.9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7179469" y="4286250"/>
            <a:ext cx="2621756" cy="2357438"/>
          </a:xfrm>
          <a:custGeom>
            <a:avLst/>
            <a:gdLst/>
            <a:ahLst/>
            <a:cxnLst/>
            <a:rect r="r" b="b" t="t" l="l"/>
            <a:pathLst>
              <a:path h="2357438" w="2621756">
                <a:moveTo>
                  <a:pt x="0" y="0"/>
                </a:moveTo>
                <a:lnTo>
                  <a:pt x="2621756" y="0"/>
                </a:lnTo>
                <a:lnTo>
                  <a:pt x="2621756" y="2357438"/>
                </a:lnTo>
                <a:lnTo>
                  <a:pt x="0" y="235743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8094796" y="4794557"/>
            <a:ext cx="622687" cy="438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5"/>
              </a:lnSpc>
            </a:pPr>
            <a:r>
              <a:rPr lang="en-US" sz="2575" b="true">
                <a:solidFill>
                  <a:srgbClr val="F8E6B9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칼슘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683824" y="5234730"/>
            <a:ext cx="731506" cy="96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70"/>
              </a:lnSpc>
            </a:pPr>
            <a:r>
              <a:rPr lang="en-US" sz="5693">
                <a:solidFill>
                  <a:srgbClr val="F8E6B9"/>
                </a:solidFill>
                <a:latin typeface="TDTD장고딕"/>
                <a:ea typeface="TDTD장고딕"/>
                <a:cs typeface="TDTD장고딕"/>
                <a:sym typeface="TDTD장고딕"/>
              </a:rPr>
              <a:t>82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524677" y="5474377"/>
            <a:ext cx="659287" cy="665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0"/>
              </a:lnSpc>
            </a:pPr>
            <a:r>
              <a:rPr lang="en-US" sz="3893">
                <a:solidFill>
                  <a:srgbClr val="F8E6B9"/>
                </a:solidFill>
                <a:latin typeface="TDTD장고딕"/>
                <a:ea typeface="TDTD장고딕"/>
                <a:cs typeface="TDTD장고딕"/>
                <a:sym typeface="TDTD장고딕"/>
              </a:rPr>
              <a:t>mg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9794081" y="4286250"/>
            <a:ext cx="2621756" cy="2357438"/>
          </a:xfrm>
          <a:custGeom>
            <a:avLst/>
            <a:gdLst/>
            <a:ahLst/>
            <a:cxnLst/>
            <a:rect r="r" b="b" t="t" l="l"/>
            <a:pathLst>
              <a:path h="2357438" w="2621756">
                <a:moveTo>
                  <a:pt x="0" y="0"/>
                </a:moveTo>
                <a:lnTo>
                  <a:pt x="2621757" y="0"/>
                </a:lnTo>
                <a:lnTo>
                  <a:pt x="2621757" y="2357438"/>
                </a:lnTo>
                <a:lnTo>
                  <a:pt x="0" y="235743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0462359" y="4794557"/>
            <a:ext cx="1245374" cy="438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5"/>
              </a:lnSpc>
            </a:pPr>
            <a:r>
              <a:rPr lang="en-US" sz="2575" b="true">
                <a:solidFill>
                  <a:srgbClr val="FFFFFF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마그네슘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349604" y="5234730"/>
            <a:ext cx="731506" cy="96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70"/>
              </a:lnSpc>
            </a:pPr>
            <a:r>
              <a:rPr lang="en-US" sz="5693">
                <a:solidFill>
                  <a:srgbClr val="FFFFFF"/>
                </a:solidFill>
                <a:latin typeface="TDTD장고딕"/>
                <a:ea typeface="TDTD장고딕"/>
                <a:cs typeface="TDTD장고딕"/>
                <a:sym typeface="TDTD장고딕"/>
              </a:rPr>
              <a:t>57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176795" y="5474377"/>
            <a:ext cx="659287" cy="665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0"/>
              </a:lnSpc>
            </a:pPr>
            <a:r>
              <a:rPr lang="en-US" sz="3893">
                <a:solidFill>
                  <a:srgbClr val="FFFFFF"/>
                </a:solidFill>
                <a:latin typeface="TDTD장고딕"/>
                <a:ea typeface="TDTD장고딕"/>
                <a:cs typeface="TDTD장고딕"/>
                <a:sym typeface="TDTD장고딕"/>
              </a:rPr>
              <a:t>mg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2408694" y="4286250"/>
            <a:ext cx="2614612" cy="2357438"/>
          </a:xfrm>
          <a:custGeom>
            <a:avLst/>
            <a:gdLst/>
            <a:ahLst/>
            <a:cxnLst/>
            <a:rect r="r" b="b" t="t" l="l"/>
            <a:pathLst>
              <a:path h="2357438" w="2614612">
                <a:moveTo>
                  <a:pt x="0" y="0"/>
                </a:moveTo>
                <a:lnTo>
                  <a:pt x="2614612" y="0"/>
                </a:lnTo>
                <a:lnTo>
                  <a:pt x="2614612" y="2357438"/>
                </a:lnTo>
                <a:lnTo>
                  <a:pt x="0" y="235743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2762587" y="5234730"/>
            <a:ext cx="1097260" cy="96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70"/>
              </a:lnSpc>
            </a:pPr>
            <a:r>
              <a:rPr lang="en-US" sz="5693">
                <a:solidFill>
                  <a:srgbClr val="F8E6B9"/>
                </a:solidFill>
                <a:latin typeface="TDTD장고딕"/>
                <a:ea typeface="TDTD장고딕"/>
                <a:cs typeface="TDTD장고딕"/>
                <a:sym typeface="TDTD장고딕"/>
              </a:rPr>
              <a:t>299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070013" y="5474377"/>
            <a:ext cx="659287" cy="665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0"/>
              </a:lnSpc>
            </a:pPr>
            <a:r>
              <a:rPr lang="en-US" sz="3893">
                <a:solidFill>
                  <a:srgbClr val="F8E6B9"/>
                </a:solidFill>
                <a:latin typeface="TDTD장고딕"/>
                <a:ea typeface="TDTD장고딕"/>
                <a:cs typeface="TDTD장고딕"/>
                <a:sym typeface="TDTD장고딕"/>
              </a:rPr>
              <a:t>mg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5016162" y="4286250"/>
            <a:ext cx="2621756" cy="2357438"/>
          </a:xfrm>
          <a:custGeom>
            <a:avLst/>
            <a:gdLst/>
            <a:ahLst/>
            <a:cxnLst/>
            <a:rect r="r" b="b" t="t" l="l"/>
            <a:pathLst>
              <a:path h="2357438" w="2621756">
                <a:moveTo>
                  <a:pt x="0" y="0"/>
                </a:moveTo>
                <a:lnTo>
                  <a:pt x="2621757" y="0"/>
                </a:lnTo>
                <a:lnTo>
                  <a:pt x="2621757" y="2357438"/>
                </a:lnTo>
                <a:lnTo>
                  <a:pt x="0" y="235743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5587669" y="5234730"/>
            <a:ext cx="731506" cy="96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70"/>
              </a:lnSpc>
            </a:pPr>
            <a:r>
              <a:rPr lang="en-US" sz="5693">
                <a:solidFill>
                  <a:srgbClr val="F8E6B9"/>
                </a:solidFill>
                <a:latin typeface="TDTD장고딕"/>
                <a:ea typeface="TDTD장고딕"/>
                <a:cs typeface="TDTD장고딕"/>
                <a:sym typeface="TDTD장고딕"/>
              </a:rPr>
              <a:t>61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6427451" y="5474377"/>
            <a:ext cx="659287" cy="665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0"/>
              </a:lnSpc>
            </a:pPr>
            <a:r>
              <a:rPr lang="en-US" sz="3893">
                <a:solidFill>
                  <a:srgbClr val="F8E6B9"/>
                </a:solidFill>
                <a:latin typeface="TDTD장고딕"/>
                <a:ea typeface="TDTD장고딕"/>
                <a:cs typeface="TDTD장고딕"/>
                <a:sym typeface="TDTD장고딕"/>
              </a:rPr>
              <a:t>mg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7179469" y="6858000"/>
            <a:ext cx="2621756" cy="2357438"/>
          </a:xfrm>
          <a:custGeom>
            <a:avLst/>
            <a:gdLst/>
            <a:ahLst/>
            <a:cxnLst/>
            <a:rect r="r" b="b" t="t" l="l"/>
            <a:pathLst>
              <a:path h="2357438" w="2621756">
                <a:moveTo>
                  <a:pt x="0" y="0"/>
                </a:moveTo>
                <a:lnTo>
                  <a:pt x="2621756" y="0"/>
                </a:lnTo>
                <a:lnTo>
                  <a:pt x="2621756" y="2357438"/>
                </a:lnTo>
                <a:lnTo>
                  <a:pt x="0" y="23574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7829816" y="7295985"/>
            <a:ext cx="1152648" cy="438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5"/>
              </a:lnSpc>
            </a:pPr>
            <a:r>
              <a:rPr lang="en-US" sz="2575" b="true">
                <a:solidFill>
                  <a:srgbClr val="F8E6B9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비타민C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657571" y="7796434"/>
            <a:ext cx="731506" cy="96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70"/>
              </a:lnSpc>
            </a:pPr>
            <a:r>
              <a:rPr lang="en-US" sz="5693">
                <a:solidFill>
                  <a:srgbClr val="F8E6B9"/>
                </a:solidFill>
                <a:latin typeface="TDTD장고딕"/>
                <a:ea typeface="TDTD장고딕"/>
                <a:cs typeface="TDTD장고딕"/>
                <a:sym typeface="TDTD장고딕"/>
              </a:rPr>
              <a:t>23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524677" y="8036081"/>
            <a:ext cx="659287" cy="665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0"/>
              </a:lnSpc>
            </a:pPr>
            <a:r>
              <a:rPr lang="en-US" sz="3893">
                <a:solidFill>
                  <a:srgbClr val="F8E6B9"/>
                </a:solidFill>
                <a:latin typeface="TDTD장고딕"/>
                <a:ea typeface="TDTD장고딕"/>
                <a:cs typeface="TDTD장고딕"/>
                <a:sym typeface="TDTD장고딕"/>
              </a:rPr>
              <a:t>mg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773703" y="7461743"/>
            <a:ext cx="622687" cy="438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5"/>
              </a:lnSpc>
            </a:pPr>
            <a:r>
              <a:rPr lang="en-US" sz="2575" b="true">
                <a:solidFill>
                  <a:srgbClr val="F8E6B9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염산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417380" y="7796434"/>
            <a:ext cx="731506" cy="96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70"/>
              </a:lnSpc>
            </a:pPr>
            <a:r>
              <a:rPr lang="en-US" sz="5693">
                <a:solidFill>
                  <a:srgbClr val="F8E6B9"/>
                </a:solidFill>
                <a:latin typeface="TDTD장고딕"/>
                <a:ea typeface="TDTD장고딕"/>
                <a:cs typeface="TDTD장고딕"/>
                <a:sym typeface="TDTD장고딕"/>
              </a:rPr>
              <a:t>60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190498" y="8036081"/>
            <a:ext cx="631880" cy="665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0"/>
              </a:lnSpc>
            </a:pPr>
            <a:r>
              <a:rPr lang="en-US" sz="3893">
                <a:solidFill>
                  <a:srgbClr val="F8E6B9"/>
                </a:solidFill>
                <a:latin typeface="TDTD장고딕"/>
                <a:ea typeface="TDTD장고딕"/>
                <a:cs typeface="TDTD장고딕"/>
                <a:sym typeface="TDTD장고딕"/>
              </a:rPr>
              <a:t>μg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12408694" y="6743355"/>
            <a:ext cx="2614612" cy="2466975"/>
          </a:xfrm>
          <a:custGeom>
            <a:avLst/>
            <a:gdLst/>
            <a:ahLst/>
            <a:cxnLst/>
            <a:rect r="r" b="b" t="t" l="l"/>
            <a:pathLst>
              <a:path h="2466975" w="2614612">
                <a:moveTo>
                  <a:pt x="0" y="0"/>
                </a:moveTo>
                <a:lnTo>
                  <a:pt x="2614612" y="0"/>
                </a:lnTo>
                <a:lnTo>
                  <a:pt x="2614612" y="2466975"/>
                </a:lnTo>
                <a:lnTo>
                  <a:pt x="0" y="24669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-4247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13131174" y="7295985"/>
            <a:ext cx="1158401" cy="438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5"/>
              </a:lnSpc>
            </a:pPr>
            <a:r>
              <a:rPr lang="en-US" sz="2575" b="true">
                <a:solidFill>
                  <a:srgbClr val="F8E6B9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비타민K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042708" y="7796434"/>
            <a:ext cx="731506" cy="96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70"/>
              </a:lnSpc>
            </a:pPr>
            <a:r>
              <a:rPr lang="en-US" sz="5693">
                <a:solidFill>
                  <a:srgbClr val="F8E6B9"/>
                </a:solidFill>
                <a:latin typeface="TDTD장고딕"/>
                <a:ea typeface="TDTD장고딕"/>
                <a:cs typeface="TDTD장고딕"/>
                <a:sym typeface="TDTD장고딕"/>
              </a:rPr>
              <a:t>31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869404" y="8036081"/>
            <a:ext cx="631880" cy="665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0"/>
              </a:lnSpc>
            </a:pPr>
            <a:r>
              <a:rPr lang="en-US" sz="3893">
                <a:solidFill>
                  <a:srgbClr val="F8E6B9"/>
                </a:solidFill>
                <a:latin typeface="TDTD장고딕"/>
                <a:ea typeface="TDTD장고딕"/>
                <a:cs typeface="TDTD장고딕"/>
                <a:sym typeface="TDTD장고딕"/>
              </a:rPr>
              <a:t>μg</a:t>
            </a:r>
          </a:p>
        </p:txBody>
      </p:sp>
      <p:sp>
        <p:nvSpPr>
          <p:cNvPr name="Freeform 45" id="45"/>
          <p:cNvSpPr/>
          <p:nvPr/>
        </p:nvSpPr>
        <p:spPr>
          <a:xfrm flipH="false" flipV="false" rot="0">
            <a:off x="15016162" y="6643688"/>
            <a:ext cx="2621756" cy="2571750"/>
          </a:xfrm>
          <a:custGeom>
            <a:avLst/>
            <a:gdLst/>
            <a:ahLst/>
            <a:cxnLst/>
            <a:rect r="r" b="b" t="t" l="l"/>
            <a:pathLst>
              <a:path h="2571750" w="2621756">
                <a:moveTo>
                  <a:pt x="0" y="0"/>
                </a:moveTo>
                <a:lnTo>
                  <a:pt x="2621757" y="0"/>
                </a:lnTo>
                <a:lnTo>
                  <a:pt x="2621757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15869759" y="7039815"/>
            <a:ext cx="934031" cy="438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5"/>
              </a:lnSpc>
            </a:pPr>
            <a:r>
              <a:rPr lang="en-US" sz="2575" b="true">
                <a:solidFill>
                  <a:srgbClr val="F8E6B9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나트륨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5904491" y="7434782"/>
            <a:ext cx="365753" cy="96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70"/>
              </a:lnSpc>
            </a:pPr>
            <a:r>
              <a:rPr lang="en-US" sz="5693">
                <a:solidFill>
                  <a:srgbClr val="F8E6B9"/>
                </a:solidFill>
                <a:latin typeface="TDTD장고딕"/>
                <a:ea typeface="TDTD장고딕"/>
                <a:cs typeface="TDTD장고딕"/>
                <a:sym typeface="TDTD장고딕"/>
              </a:rPr>
              <a:t>7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6256805" y="7689497"/>
            <a:ext cx="659287" cy="665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0"/>
              </a:lnSpc>
            </a:pPr>
            <a:r>
              <a:rPr lang="en-US" sz="3893">
                <a:solidFill>
                  <a:srgbClr val="F8E6B9"/>
                </a:solidFill>
                <a:latin typeface="TDTD장고딕"/>
                <a:ea typeface="TDTD장고딕"/>
                <a:cs typeface="TDTD장고딕"/>
                <a:sym typeface="TDTD장고딕"/>
              </a:rPr>
              <a:t>mg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724805" y="9481914"/>
            <a:ext cx="5304234" cy="366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3"/>
              </a:lnSpc>
            </a:pPr>
            <a:r>
              <a:rPr lang="en-US" sz="2188">
                <a:solidFill>
                  <a:srgbClr val="FFFFFF">
                    <a:alpha val="69804"/>
                  </a:srgbClr>
                </a:solidFill>
                <a:latin typeface="Paperlogy"/>
                <a:ea typeface="Paperlogy"/>
                <a:cs typeface="Paperlogy"/>
                <a:sym typeface="Paperlogy"/>
              </a:rPr>
              <a:t>생오크라 100g 기준 · 표준식품성분표</a:t>
            </a:r>
          </a:p>
        </p:txBody>
      </p:sp>
      <p:sp>
        <p:nvSpPr>
          <p:cNvPr name="Freeform 50" id="50"/>
          <p:cNvSpPr/>
          <p:nvPr/>
        </p:nvSpPr>
        <p:spPr>
          <a:xfrm flipH="false" flipV="false" rot="0">
            <a:off x="9831719" y="6427768"/>
            <a:ext cx="2584119" cy="842647"/>
          </a:xfrm>
          <a:custGeom>
            <a:avLst/>
            <a:gdLst/>
            <a:ahLst/>
            <a:cxnLst/>
            <a:rect r="r" b="b" t="t" l="l"/>
            <a:pathLst>
              <a:path h="842647" w="2584119">
                <a:moveTo>
                  <a:pt x="0" y="0"/>
                </a:moveTo>
                <a:lnTo>
                  <a:pt x="2584119" y="0"/>
                </a:lnTo>
                <a:lnTo>
                  <a:pt x="2584119" y="842647"/>
                </a:lnTo>
                <a:lnTo>
                  <a:pt x="0" y="84264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51" id="51"/>
          <p:cNvSpPr txBox="true"/>
          <p:nvPr/>
        </p:nvSpPr>
        <p:spPr>
          <a:xfrm rot="0">
            <a:off x="10100979" y="6617770"/>
            <a:ext cx="2045599" cy="395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3"/>
              </a:lnSpc>
            </a:pPr>
            <a:r>
              <a:rPr lang="en-US" sz="2338" b="true">
                <a:solidFill>
                  <a:srgbClr val="FFFFFF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세트로 들어있음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5457289" y="8472301"/>
            <a:ext cx="1794867" cy="366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3"/>
              </a:lnSpc>
            </a:pPr>
            <a:r>
              <a:rPr lang="en-US" sz="2188">
                <a:solidFill>
                  <a:srgbClr val="FFFFFF">
                    <a:alpha val="69804"/>
                  </a:srgbClr>
                </a:solidFill>
                <a:latin typeface="Paperlogy"/>
                <a:ea typeface="Paperlogy"/>
                <a:cs typeface="Paperlogy"/>
                <a:sym typeface="Paperlogy"/>
              </a:rPr>
              <a:t>거의 없음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3399031" y="4794557"/>
            <a:ext cx="622687" cy="438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5"/>
              </a:lnSpc>
            </a:pPr>
            <a:r>
              <a:rPr lang="en-US" sz="2575" b="true">
                <a:solidFill>
                  <a:srgbClr val="F8E6B9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칼륨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0773703" y="2428747"/>
            <a:ext cx="622687" cy="438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5"/>
              </a:lnSpc>
            </a:pPr>
            <a:r>
              <a:rPr lang="en-US" sz="2575" b="true">
                <a:solidFill>
                  <a:srgbClr val="F8E6B9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수분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6736606" y="3123637"/>
            <a:ext cx="255290" cy="665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0"/>
              </a:lnSpc>
            </a:pPr>
            <a:r>
              <a:rPr lang="en-US" sz="3893">
                <a:solidFill>
                  <a:srgbClr val="F8E6B9"/>
                </a:solidFill>
                <a:latin typeface="TDTD장고딕"/>
                <a:ea typeface="TDTD장고딕"/>
                <a:cs typeface="TDTD장고딕"/>
                <a:sym typeface="TDTD장고딕"/>
              </a:rPr>
              <a:t>g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4111278" y="3123637"/>
            <a:ext cx="255290" cy="665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0"/>
              </a:lnSpc>
            </a:pPr>
            <a:r>
              <a:rPr lang="en-US" sz="3893">
                <a:solidFill>
                  <a:srgbClr val="FFFFFF"/>
                </a:solidFill>
                <a:latin typeface="TDTD장고딕"/>
                <a:ea typeface="TDTD장고딕"/>
                <a:cs typeface="TDTD장고딕"/>
                <a:sym typeface="TDTD장고딕"/>
              </a:rPr>
              <a:t>g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6181102" y="4794557"/>
            <a:ext cx="311344" cy="438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5"/>
              </a:lnSpc>
            </a:pPr>
            <a:r>
              <a:rPr lang="en-US" sz="2575" b="true">
                <a:solidFill>
                  <a:srgbClr val="F8E6B9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인</a:t>
            </a:r>
          </a:p>
        </p:txBody>
      </p:sp>
      <p:sp>
        <p:nvSpPr>
          <p:cNvPr name="Freeform 58" id="58"/>
          <p:cNvSpPr/>
          <p:nvPr/>
        </p:nvSpPr>
        <p:spPr>
          <a:xfrm>
            <a:off x="8570734" y="6139862"/>
            <a:ext cx="1596931" cy="801027"/>
          </a:xfrm>
          <a:custGeom>
            <a:avLst/>
            <a:gdLst/>
            <a:ahLst/>
            <a:cxnLst/>
            <a:rect r="r" b="b" t="t" l="l"/>
            <a:pathLst>
              <a:path h="801027" w="1596931">
                <a:moveTo>
                  <a:pt x="1596931" y="718138"/>
                </a:moveTo>
                <a:quadBezTo>
                  <a:pt x="483842" y="1058701"/>
                  <a:pt x="0" y="0"/>
                </a:quadBezTo>
              </a:path>
            </a:pathLst>
          </a:custGeom>
          <a:ln cap="flat" w="76200">
            <a:solidFill>
              <a:srgbClr val="B2883E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59" id="59"/>
          <p:cNvSpPr/>
          <p:nvPr/>
        </p:nvSpPr>
        <p:spPr>
          <a:xfrm>
            <a:off x="12263514" y="6790605"/>
            <a:ext cx="1446861" cy="562530"/>
          </a:xfrm>
          <a:custGeom>
            <a:avLst/>
            <a:gdLst/>
            <a:ahLst/>
            <a:cxnLst/>
            <a:rect r="r" b="b" t="t" l="l"/>
            <a:pathLst>
              <a:path h="562530" w="1446861">
                <a:moveTo>
                  <a:pt x="0" y="222903"/>
                </a:moveTo>
                <a:quadBezTo>
                  <a:pt x="898734" y="-354104"/>
                  <a:pt x="1446860" y="562530"/>
                </a:quadBezTo>
              </a:path>
            </a:pathLst>
          </a:custGeom>
          <a:ln cap="flat" w="76200">
            <a:solidFill>
              <a:srgbClr val="B2883E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0171"/>
            <a:ext cx="18288000" cy="10327341"/>
          </a:xfrm>
          <a:custGeom>
            <a:avLst/>
            <a:gdLst/>
            <a:ahLst/>
            <a:cxnLst/>
            <a:rect r="r" b="b" t="t" l="l"/>
            <a:pathLst>
              <a:path h="10327341" w="18288000">
                <a:moveTo>
                  <a:pt x="0" y="0"/>
                </a:moveTo>
                <a:lnTo>
                  <a:pt x="18288000" y="0"/>
                </a:lnTo>
                <a:lnTo>
                  <a:pt x="18288000" y="10327342"/>
                </a:lnTo>
                <a:lnTo>
                  <a:pt x="0" y="103273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82724" y="460508"/>
            <a:ext cx="16722553" cy="1524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99"/>
              </a:lnSpc>
            </a:pPr>
            <a:r>
              <a:rPr lang="en-US" b="true" sz="9999" spc="-299">
                <a:solidFill>
                  <a:srgbClr val="FFFFFF"/>
                </a:solidFill>
                <a:latin typeface="Paperlogy Ultra-Bold"/>
                <a:ea typeface="Paperlogy Ultra-Bold"/>
                <a:cs typeface="Paperlogy Ultra-Bold"/>
                <a:sym typeface="Paperlogy Ultra-Bold"/>
              </a:rPr>
              <a:t>3대 핵심 유효 성분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30306" y="2346512"/>
            <a:ext cx="5674659" cy="6884894"/>
          </a:xfrm>
          <a:custGeom>
            <a:avLst/>
            <a:gdLst/>
            <a:ahLst/>
            <a:cxnLst/>
            <a:rect r="r" b="b" t="t" l="l"/>
            <a:pathLst>
              <a:path h="6884894" w="5674659">
                <a:moveTo>
                  <a:pt x="0" y="0"/>
                </a:moveTo>
                <a:lnTo>
                  <a:pt x="5674659" y="0"/>
                </a:lnTo>
                <a:lnTo>
                  <a:pt x="5674659" y="6884894"/>
                </a:lnTo>
                <a:lnTo>
                  <a:pt x="0" y="68848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60612" y="2561665"/>
            <a:ext cx="4800600" cy="4303059"/>
          </a:xfrm>
          <a:custGeom>
            <a:avLst/>
            <a:gdLst/>
            <a:ahLst/>
            <a:cxnLst/>
            <a:rect r="r" b="b" t="t" l="l"/>
            <a:pathLst>
              <a:path h="4303059" w="4800600">
                <a:moveTo>
                  <a:pt x="0" y="0"/>
                </a:moveTo>
                <a:lnTo>
                  <a:pt x="4800600" y="0"/>
                </a:lnTo>
                <a:lnTo>
                  <a:pt x="4800600" y="4303059"/>
                </a:lnTo>
                <a:lnTo>
                  <a:pt x="0" y="43030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21216" y="6623589"/>
            <a:ext cx="4279392" cy="1004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8"/>
              </a:lnSpc>
            </a:pPr>
            <a:r>
              <a:rPr lang="en-US" b="true" sz="3298" spc="-98">
                <a:solidFill>
                  <a:srgbClr val="FFFFFF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01. 뮤실리지 (Mucilage)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48563" y="7797690"/>
            <a:ext cx="3438144" cy="852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5"/>
              </a:lnSpc>
            </a:pPr>
            <a:r>
              <a:rPr lang="en-US" b="true" sz="2604">
                <a:solidFill>
                  <a:srgbClr val="C45EFF"/>
                </a:solidFill>
                <a:latin typeface="Paperlogy Semi-Bold"/>
                <a:ea typeface="Paperlogy Semi-Bold"/>
                <a:cs typeface="Paperlogy Semi-Bold"/>
                <a:sym typeface="Paperlogy Semi-Bold"/>
              </a:rPr>
              <a:t>껍질 건조 중량 43.1%</a:t>
            </a:r>
          </a:p>
          <a:p>
            <a:pPr algn="ctr">
              <a:lnSpc>
                <a:spcPts val="3385"/>
              </a:lnSpc>
            </a:pPr>
            <a:r>
              <a:rPr lang="en-US" b="true" sz="2604">
                <a:solidFill>
                  <a:srgbClr val="C45EFF"/>
                </a:solidFill>
                <a:latin typeface="Paperlogy Semi-Bold"/>
                <a:ea typeface="Paperlogy Semi-Bold"/>
                <a:cs typeface="Paperlogy Semi-Bold"/>
                <a:sym typeface="Paperlogy Semi-Bold"/>
              </a:rPr>
              <a:t>→수분 젤 코팅막 형성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306671" y="2346512"/>
            <a:ext cx="5674659" cy="6884894"/>
          </a:xfrm>
          <a:custGeom>
            <a:avLst/>
            <a:gdLst/>
            <a:ahLst/>
            <a:cxnLst/>
            <a:rect r="r" b="b" t="t" l="l"/>
            <a:pathLst>
              <a:path h="6884894" w="5674659">
                <a:moveTo>
                  <a:pt x="0" y="0"/>
                </a:moveTo>
                <a:lnTo>
                  <a:pt x="5674658" y="0"/>
                </a:lnTo>
                <a:lnTo>
                  <a:pt x="5674658" y="6884894"/>
                </a:lnTo>
                <a:lnTo>
                  <a:pt x="0" y="68848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736976" y="2776818"/>
            <a:ext cx="4814047" cy="4087906"/>
          </a:xfrm>
          <a:custGeom>
            <a:avLst/>
            <a:gdLst/>
            <a:ahLst/>
            <a:cxnLst/>
            <a:rect r="r" b="b" t="t" l="l"/>
            <a:pathLst>
              <a:path h="4087906" w="4814047">
                <a:moveTo>
                  <a:pt x="0" y="0"/>
                </a:moveTo>
                <a:lnTo>
                  <a:pt x="4814048" y="0"/>
                </a:lnTo>
                <a:lnTo>
                  <a:pt x="4814048" y="4087906"/>
                </a:lnTo>
                <a:lnTo>
                  <a:pt x="0" y="40879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656832" y="6640996"/>
            <a:ext cx="4974336" cy="960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3"/>
              </a:lnSpc>
            </a:pPr>
            <a:r>
              <a:rPr lang="en-US" b="true" sz="3169" spc="-95">
                <a:solidFill>
                  <a:srgbClr val="FFFFFF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02. 플라보노이드 (Flavonoid)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351776" y="7820996"/>
            <a:ext cx="3694176" cy="829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6"/>
              </a:lnSpc>
            </a:pPr>
            <a:r>
              <a:rPr lang="en-US" b="true" sz="2574">
                <a:solidFill>
                  <a:srgbClr val="F8D46A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16종 이상의 향산화 물질 </a:t>
            </a:r>
          </a:p>
          <a:p>
            <a:pPr algn="ctr">
              <a:lnSpc>
                <a:spcPts val="3346"/>
              </a:lnSpc>
            </a:pPr>
            <a:r>
              <a:rPr lang="en-US" b="true" sz="2574">
                <a:solidFill>
                  <a:srgbClr val="F8D46A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→활성산소 차단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2183035" y="2346512"/>
            <a:ext cx="5459506" cy="6884894"/>
          </a:xfrm>
          <a:custGeom>
            <a:avLst/>
            <a:gdLst/>
            <a:ahLst/>
            <a:cxnLst/>
            <a:rect r="r" b="b" t="t" l="l"/>
            <a:pathLst>
              <a:path h="6884894" w="5459506">
                <a:moveTo>
                  <a:pt x="0" y="0"/>
                </a:moveTo>
                <a:lnTo>
                  <a:pt x="5459506" y="0"/>
                </a:lnTo>
                <a:lnTo>
                  <a:pt x="5459506" y="6884894"/>
                </a:lnTo>
                <a:lnTo>
                  <a:pt x="0" y="688489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398188" y="2776818"/>
            <a:ext cx="5029200" cy="4087906"/>
          </a:xfrm>
          <a:custGeom>
            <a:avLst/>
            <a:gdLst/>
            <a:ahLst/>
            <a:cxnLst/>
            <a:rect r="r" b="b" t="t" l="l"/>
            <a:pathLst>
              <a:path h="4087906" w="5029200">
                <a:moveTo>
                  <a:pt x="0" y="0"/>
                </a:moveTo>
                <a:lnTo>
                  <a:pt x="5029200" y="0"/>
                </a:lnTo>
                <a:lnTo>
                  <a:pt x="5029200" y="4087906"/>
                </a:lnTo>
                <a:lnTo>
                  <a:pt x="0" y="408790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713275" y="6667928"/>
            <a:ext cx="4590288" cy="960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3"/>
              </a:lnSpc>
            </a:pPr>
            <a:r>
              <a:rPr lang="en-US" b="true" sz="3169" spc="-95">
                <a:solidFill>
                  <a:srgbClr val="FFFFFF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03. 불용성 식이섬유 </a:t>
            </a:r>
          </a:p>
          <a:p>
            <a:pPr algn="ctr">
              <a:lnSpc>
                <a:spcPts val="3803"/>
              </a:lnSpc>
            </a:pPr>
            <a:r>
              <a:rPr lang="en-US" b="true" sz="3169" spc="-95">
                <a:solidFill>
                  <a:srgbClr val="FFFFFF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(Insoluble Fiber)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713275" y="7811471"/>
            <a:ext cx="4595566" cy="865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3"/>
              </a:lnSpc>
            </a:pPr>
            <a:r>
              <a:rPr lang="en-US" sz="2633" b="true">
                <a:solidFill>
                  <a:srgbClr val="00FF99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장 연동 자극 &amp; 독소 흡착 </a:t>
            </a:r>
          </a:p>
          <a:p>
            <a:pPr algn="ctr">
              <a:lnSpc>
                <a:spcPts val="3423"/>
              </a:lnSpc>
            </a:pPr>
            <a:r>
              <a:rPr lang="en-US" sz="2633" b="true">
                <a:solidFill>
                  <a:srgbClr val="00FF99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→ 변 부피 팽창 &amp; 묵은 찌꺼기 배출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77" r="0" b="-92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696408" y="9429750"/>
            <a:ext cx="448717" cy="642938"/>
          </a:xfrm>
          <a:custGeom>
            <a:avLst/>
            <a:gdLst/>
            <a:ahLst/>
            <a:cxnLst/>
            <a:rect r="r" b="b" t="t" l="l"/>
            <a:pathLst>
              <a:path h="642938" w="448717">
                <a:moveTo>
                  <a:pt x="0" y="0"/>
                </a:moveTo>
                <a:lnTo>
                  <a:pt x="448717" y="0"/>
                </a:lnTo>
                <a:lnTo>
                  <a:pt x="448717" y="642938"/>
                </a:lnTo>
                <a:lnTo>
                  <a:pt x="0" y="6429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9858375"/>
            <a:ext cx="8559105" cy="214312"/>
          </a:xfrm>
          <a:custGeom>
            <a:avLst/>
            <a:gdLst/>
            <a:ahLst/>
            <a:cxnLst/>
            <a:rect r="r" b="b" t="t" l="l"/>
            <a:pathLst>
              <a:path h="214312" w="8559105">
                <a:moveTo>
                  <a:pt x="0" y="0"/>
                </a:moveTo>
                <a:lnTo>
                  <a:pt x="8559105" y="0"/>
                </a:lnTo>
                <a:lnTo>
                  <a:pt x="8559105" y="214313"/>
                </a:lnTo>
                <a:lnTo>
                  <a:pt x="0" y="2143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763904" y="0"/>
            <a:ext cx="9992550" cy="8179889"/>
          </a:xfrm>
          <a:custGeom>
            <a:avLst/>
            <a:gdLst/>
            <a:ahLst/>
            <a:cxnLst/>
            <a:rect r="r" b="b" t="t" l="l"/>
            <a:pathLst>
              <a:path h="8179889" w="9992550">
                <a:moveTo>
                  <a:pt x="0" y="0"/>
                </a:moveTo>
                <a:lnTo>
                  <a:pt x="9992550" y="0"/>
                </a:lnTo>
                <a:lnTo>
                  <a:pt x="9992550" y="8179889"/>
                </a:lnTo>
                <a:lnTo>
                  <a:pt x="0" y="81798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7596" r="0" b="-8797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696408" y="4071938"/>
            <a:ext cx="227707" cy="1928812"/>
          </a:xfrm>
          <a:custGeom>
            <a:avLst/>
            <a:gdLst/>
            <a:ahLst/>
            <a:cxnLst/>
            <a:rect r="r" b="b" t="t" l="l"/>
            <a:pathLst>
              <a:path h="1928812" w="227707">
                <a:moveTo>
                  <a:pt x="0" y="0"/>
                </a:moveTo>
                <a:lnTo>
                  <a:pt x="227707" y="0"/>
                </a:lnTo>
                <a:lnTo>
                  <a:pt x="227707" y="1928812"/>
                </a:lnTo>
                <a:lnTo>
                  <a:pt x="0" y="19288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377307"/>
            <a:ext cx="13899766" cy="3047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9"/>
              </a:lnSpc>
            </a:pPr>
            <a:r>
              <a:rPr lang="en-US" sz="9999" spc="-199" b="true">
                <a:solidFill>
                  <a:srgbClr val="FFFFFF"/>
                </a:solidFill>
                <a:latin typeface="Paperlogy Heavy"/>
                <a:ea typeface="Paperlogy Heavy"/>
                <a:cs typeface="Paperlogy Heavy"/>
                <a:sym typeface="Paperlogy Heavy"/>
              </a:rPr>
              <a:t>뮤실리지:</a:t>
            </a:r>
          </a:p>
          <a:p>
            <a:pPr algn="l">
              <a:lnSpc>
                <a:spcPts val="12001"/>
              </a:lnSpc>
            </a:pPr>
            <a:r>
              <a:rPr lang="en-US" sz="9999" spc="-200" b="true">
                <a:solidFill>
                  <a:srgbClr val="FFFFFF"/>
                </a:solidFill>
                <a:latin typeface="Paperlogy Heavy"/>
                <a:ea typeface="Paperlogy Heavy"/>
                <a:cs typeface="Paperlogy Heavy"/>
                <a:sym typeface="Paperlogy Heavy"/>
              </a:rPr>
              <a:t>천연 코팅 보호막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69495" y="3587562"/>
            <a:ext cx="8630465" cy="1555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11"/>
              </a:lnSpc>
            </a:pPr>
            <a:r>
              <a:rPr lang="en-US" b="true" sz="5175" spc="-103">
                <a:solidFill>
                  <a:srgbClr val="F45624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“강한 위산과 자극 물질로부터 </a:t>
            </a:r>
          </a:p>
          <a:p>
            <a:pPr algn="l">
              <a:lnSpc>
                <a:spcPts val="6211"/>
              </a:lnSpc>
            </a:pPr>
            <a:r>
              <a:rPr lang="en-US" b="true" sz="5175" spc="-103">
                <a:solidFill>
                  <a:srgbClr val="F45624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위점막을 부드럽게 감싸줍니다.”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17025" y="8179889"/>
            <a:ext cx="4671505" cy="1435894"/>
            <a:chOff x="0" y="0"/>
            <a:chExt cx="6228674" cy="1914525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6228674" cy="1914525"/>
              <a:chOff x="0" y="0"/>
              <a:chExt cx="1230355" cy="378178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230355" cy="378178"/>
              </a:xfrm>
              <a:custGeom>
                <a:avLst/>
                <a:gdLst/>
                <a:ahLst/>
                <a:cxnLst/>
                <a:rect r="r" b="b" t="t" l="l"/>
                <a:pathLst>
                  <a:path h="378178" w="1230355">
                    <a:moveTo>
                      <a:pt x="49718" y="0"/>
                    </a:moveTo>
                    <a:lnTo>
                      <a:pt x="1180637" y="0"/>
                    </a:lnTo>
                    <a:cubicBezTo>
                      <a:pt x="1193823" y="0"/>
                      <a:pt x="1206469" y="5238"/>
                      <a:pt x="1215793" y="14562"/>
                    </a:cubicBezTo>
                    <a:cubicBezTo>
                      <a:pt x="1225117" y="23886"/>
                      <a:pt x="1230355" y="36532"/>
                      <a:pt x="1230355" y="49718"/>
                    </a:cubicBezTo>
                    <a:lnTo>
                      <a:pt x="1230355" y="328460"/>
                    </a:lnTo>
                    <a:cubicBezTo>
                      <a:pt x="1230355" y="341646"/>
                      <a:pt x="1225117" y="354292"/>
                      <a:pt x="1215793" y="363616"/>
                    </a:cubicBezTo>
                    <a:cubicBezTo>
                      <a:pt x="1206469" y="372940"/>
                      <a:pt x="1193823" y="378178"/>
                      <a:pt x="1180637" y="378178"/>
                    </a:cubicBezTo>
                    <a:lnTo>
                      <a:pt x="49718" y="378178"/>
                    </a:lnTo>
                    <a:cubicBezTo>
                      <a:pt x="36532" y="378178"/>
                      <a:pt x="23886" y="372940"/>
                      <a:pt x="14562" y="363616"/>
                    </a:cubicBezTo>
                    <a:cubicBezTo>
                      <a:pt x="5238" y="354292"/>
                      <a:pt x="0" y="341646"/>
                      <a:pt x="0" y="328460"/>
                    </a:cubicBezTo>
                    <a:lnTo>
                      <a:pt x="0" y="49718"/>
                    </a:lnTo>
                    <a:cubicBezTo>
                      <a:pt x="0" y="36532"/>
                      <a:pt x="5238" y="23886"/>
                      <a:pt x="14562" y="14562"/>
                    </a:cubicBezTo>
                    <a:cubicBezTo>
                      <a:pt x="23886" y="5238"/>
                      <a:pt x="36532" y="0"/>
                      <a:pt x="49718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494747">
                      <a:alpha val="53000"/>
                    </a:srgbClr>
                  </a:gs>
                </a:gsLst>
                <a:lin ang="0"/>
              </a:gradFill>
              <a:ln w="38100" cap="rnd">
                <a:gradFill>
                  <a:gsLst>
                    <a:gs pos="0">
                      <a:srgbClr val="646464">
                        <a:alpha val="100000"/>
                      </a:srgbClr>
                    </a:gs>
                    <a:gs pos="50000">
                      <a:srgbClr val="000000">
                        <a:alpha val="53500"/>
                      </a:srgbClr>
                    </a:gs>
                    <a:gs pos="100000">
                      <a:srgbClr val="555555">
                        <a:alpha val="100000"/>
                      </a:srgbClr>
                    </a:gs>
                  </a:gsLst>
                  <a:lin ang="2700000"/>
                </a:gradFill>
                <a:prstDash val="solid"/>
                <a:round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57150"/>
                <a:ext cx="1230355" cy="4353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05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439424" y="536684"/>
              <a:ext cx="729947" cy="9011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207"/>
                </a:lnSpc>
              </a:pPr>
              <a:r>
                <a:rPr lang="en-US" sz="4338" spc="-86" b="true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01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2211951" y="293048"/>
              <a:ext cx="1540581" cy="6664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09"/>
                </a:lnSpc>
              </a:pPr>
              <a:r>
                <a:rPr lang="en-US" sz="3256" spc="-65" b="true">
                  <a:solidFill>
                    <a:srgbClr val="FFFFFF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위점막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2210770" y="935986"/>
              <a:ext cx="1658680" cy="6664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09"/>
                </a:lnSpc>
              </a:pPr>
              <a:r>
                <a:rPr lang="en-US" sz="3256" spc="-65" b="true">
                  <a:solidFill>
                    <a:srgbClr val="8F8F8F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젤 코팅</a:t>
              </a:r>
            </a:p>
          </p:txBody>
        </p:sp>
        <p:sp>
          <p:nvSpPr>
            <p:cNvPr name="AutoShape 16" id="16"/>
            <p:cNvSpPr/>
            <p:nvPr/>
          </p:nvSpPr>
          <p:spPr>
            <a:xfrm flipH="true">
              <a:off x="1690070" y="312098"/>
              <a:ext cx="0" cy="1257540"/>
            </a:xfrm>
            <a:prstGeom prst="line">
              <a:avLst/>
            </a:prstGeom>
            <a:ln cap="flat" w="50800">
              <a:solidFill>
                <a:srgbClr val="A3A3A3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6808247" y="8179889"/>
            <a:ext cx="4671505" cy="1435894"/>
            <a:chOff x="0" y="0"/>
            <a:chExt cx="1230355" cy="3781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30355" cy="378178"/>
            </a:xfrm>
            <a:custGeom>
              <a:avLst/>
              <a:gdLst/>
              <a:ahLst/>
              <a:cxnLst/>
              <a:rect r="r" b="b" t="t" l="l"/>
              <a:pathLst>
                <a:path h="378178" w="1230355">
                  <a:moveTo>
                    <a:pt x="49718" y="0"/>
                  </a:moveTo>
                  <a:lnTo>
                    <a:pt x="1180637" y="0"/>
                  </a:lnTo>
                  <a:cubicBezTo>
                    <a:pt x="1193823" y="0"/>
                    <a:pt x="1206469" y="5238"/>
                    <a:pt x="1215793" y="14562"/>
                  </a:cubicBezTo>
                  <a:cubicBezTo>
                    <a:pt x="1225117" y="23886"/>
                    <a:pt x="1230355" y="36532"/>
                    <a:pt x="1230355" y="49718"/>
                  </a:cubicBezTo>
                  <a:lnTo>
                    <a:pt x="1230355" y="328460"/>
                  </a:lnTo>
                  <a:cubicBezTo>
                    <a:pt x="1230355" y="341646"/>
                    <a:pt x="1225117" y="354292"/>
                    <a:pt x="1215793" y="363616"/>
                  </a:cubicBezTo>
                  <a:cubicBezTo>
                    <a:pt x="1206469" y="372940"/>
                    <a:pt x="1193823" y="378178"/>
                    <a:pt x="1180637" y="378178"/>
                  </a:cubicBezTo>
                  <a:lnTo>
                    <a:pt x="49718" y="378178"/>
                  </a:lnTo>
                  <a:cubicBezTo>
                    <a:pt x="36532" y="378178"/>
                    <a:pt x="23886" y="372940"/>
                    <a:pt x="14562" y="363616"/>
                  </a:cubicBezTo>
                  <a:cubicBezTo>
                    <a:pt x="5238" y="354292"/>
                    <a:pt x="0" y="341646"/>
                    <a:pt x="0" y="328460"/>
                  </a:cubicBezTo>
                  <a:lnTo>
                    <a:pt x="0" y="49718"/>
                  </a:lnTo>
                  <a:cubicBezTo>
                    <a:pt x="0" y="36532"/>
                    <a:pt x="5238" y="23886"/>
                    <a:pt x="14562" y="14562"/>
                  </a:cubicBezTo>
                  <a:cubicBezTo>
                    <a:pt x="23886" y="5238"/>
                    <a:pt x="36532" y="0"/>
                    <a:pt x="4971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494747">
                    <a:alpha val="53000"/>
                  </a:srgbClr>
                </a:gs>
              </a:gsLst>
              <a:lin ang="0"/>
            </a:gradFill>
            <a:ln w="38100" cap="rnd">
              <a:gradFill>
                <a:gsLst>
                  <a:gs pos="0">
                    <a:srgbClr val="646464">
                      <a:alpha val="100000"/>
                    </a:srgbClr>
                  </a:gs>
                  <a:gs pos="50000">
                    <a:srgbClr val="000000">
                      <a:alpha val="53500"/>
                    </a:srgbClr>
                  </a:gs>
                  <a:gs pos="100000">
                    <a:srgbClr val="555555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230355" cy="435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5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7137815" y="8572877"/>
            <a:ext cx="686823" cy="685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7"/>
              </a:lnSpc>
            </a:pPr>
            <a:r>
              <a:rPr lang="en-US" sz="4338" spc="-86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02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467211" y="8394912"/>
            <a:ext cx="2380521" cy="504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9"/>
              </a:lnSpc>
            </a:pPr>
            <a:r>
              <a:rPr lang="en-US" sz="3256" spc="-65" b="true">
                <a:solidFill>
                  <a:srgbClr val="FFFFFF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강한 산과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466325" y="8877115"/>
            <a:ext cx="2667271" cy="504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9"/>
              </a:lnSpc>
            </a:pPr>
            <a:r>
              <a:rPr lang="en-US" sz="3256" spc="-65" b="true">
                <a:solidFill>
                  <a:srgbClr val="8F8F8F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자극 물질 차단</a:t>
            </a:r>
          </a:p>
        </p:txBody>
      </p:sp>
      <p:sp>
        <p:nvSpPr>
          <p:cNvPr name="AutoShape 23" id="23"/>
          <p:cNvSpPr/>
          <p:nvPr/>
        </p:nvSpPr>
        <p:spPr>
          <a:xfrm flipH="true">
            <a:off x="8075800" y="8413962"/>
            <a:ext cx="0" cy="943155"/>
          </a:xfrm>
          <a:prstGeom prst="line">
            <a:avLst/>
          </a:prstGeom>
          <a:ln cap="flat" w="38100">
            <a:solidFill>
              <a:srgbClr val="A3A3A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12698953" y="8179889"/>
            <a:ext cx="4671505" cy="1435894"/>
            <a:chOff x="0" y="0"/>
            <a:chExt cx="1230355" cy="37817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30355" cy="378178"/>
            </a:xfrm>
            <a:custGeom>
              <a:avLst/>
              <a:gdLst/>
              <a:ahLst/>
              <a:cxnLst/>
              <a:rect r="r" b="b" t="t" l="l"/>
              <a:pathLst>
                <a:path h="378178" w="1230355">
                  <a:moveTo>
                    <a:pt x="49718" y="0"/>
                  </a:moveTo>
                  <a:lnTo>
                    <a:pt x="1180637" y="0"/>
                  </a:lnTo>
                  <a:cubicBezTo>
                    <a:pt x="1193823" y="0"/>
                    <a:pt x="1206469" y="5238"/>
                    <a:pt x="1215793" y="14562"/>
                  </a:cubicBezTo>
                  <a:cubicBezTo>
                    <a:pt x="1225117" y="23886"/>
                    <a:pt x="1230355" y="36532"/>
                    <a:pt x="1230355" y="49718"/>
                  </a:cubicBezTo>
                  <a:lnTo>
                    <a:pt x="1230355" y="328460"/>
                  </a:lnTo>
                  <a:cubicBezTo>
                    <a:pt x="1230355" y="341646"/>
                    <a:pt x="1225117" y="354292"/>
                    <a:pt x="1215793" y="363616"/>
                  </a:cubicBezTo>
                  <a:cubicBezTo>
                    <a:pt x="1206469" y="372940"/>
                    <a:pt x="1193823" y="378178"/>
                    <a:pt x="1180637" y="378178"/>
                  </a:cubicBezTo>
                  <a:lnTo>
                    <a:pt x="49718" y="378178"/>
                  </a:lnTo>
                  <a:cubicBezTo>
                    <a:pt x="36532" y="378178"/>
                    <a:pt x="23886" y="372940"/>
                    <a:pt x="14562" y="363616"/>
                  </a:cubicBezTo>
                  <a:cubicBezTo>
                    <a:pt x="5238" y="354292"/>
                    <a:pt x="0" y="341646"/>
                    <a:pt x="0" y="328460"/>
                  </a:cubicBezTo>
                  <a:lnTo>
                    <a:pt x="0" y="49718"/>
                  </a:lnTo>
                  <a:cubicBezTo>
                    <a:pt x="0" y="36532"/>
                    <a:pt x="5238" y="23886"/>
                    <a:pt x="14562" y="14562"/>
                  </a:cubicBezTo>
                  <a:cubicBezTo>
                    <a:pt x="23886" y="5238"/>
                    <a:pt x="36532" y="0"/>
                    <a:pt x="4971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494747">
                    <a:alpha val="53000"/>
                  </a:srgbClr>
                </a:gs>
              </a:gsLst>
              <a:lin ang="0"/>
            </a:gradFill>
            <a:ln w="38100" cap="rnd">
              <a:gradFill>
                <a:gsLst>
                  <a:gs pos="0">
                    <a:srgbClr val="646464">
                      <a:alpha val="100000"/>
                    </a:srgbClr>
                  </a:gs>
                  <a:gs pos="50000">
                    <a:srgbClr val="000000">
                      <a:alpha val="53500"/>
                    </a:srgbClr>
                  </a:gs>
                  <a:gs pos="100000">
                    <a:srgbClr val="555555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1230355" cy="435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5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3028521" y="8572877"/>
            <a:ext cx="673572" cy="685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7"/>
              </a:lnSpc>
            </a:pPr>
            <a:r>
              <a:rPr lang="en-US" sz="4338" spc="-86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03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357916" y="8394912"/>
            <a:ext cx="2398537" cy="504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9"/>
              </a:lnSpc>
            </a:pPr>
            <a:r>
              <a:rPr lang="en-US" sz="3256" spc="-65" b="true">
                <a:solidFill>
                  <a:srgbClr val="FFFFFF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편안한 위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357031" y="8877115"/>
            <a:ext cx="2775367" cy="504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9"/>
              </a:lnSpc>
            </a:pPr>
            <a:r>
              <a:rPr lang="en-US" sz="3256" spc="-65" b="true">
                <a:solidFill>
                  <a:srgbClr val="8F8F8F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환경 조성</a:t>
            </a:r>
          </a:p>
        </p:txBody>
      </p:sp>
      <p:sp>
        <p:nvSpPr>
          <p:cNvPr name="AutoShape 30" id="30"/>
          <p:cNvSpPr/>
          <p:nvPr/>
        </p:nvSpPr>
        <p:spPr>
          <a:xfrm flipH="true">
            <a:off x="13966506" y="8413962"/>
            <a:ext cx="0" cy="943155"/>
          </a:xfrm>
          <a:prstGeom prst="line">
            <a:avLst/>
          </a:prstGeom>
          <a:ln cap="flat" w="38100">
            <a:solidFill>
              <a:srgbClr val="A3A3A3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96" r="0" b="-19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036919" y="1410846"/>
            <a:ext cx="8214161" cy="8487233"/>
          </a:xfrm>
          <a:custGeom>
            <a:avLst/>
            <a:gdLst/>
            <a:ahLst/>
            <a:cxnLst/>
            <a:rect r="r" b="b" t="t" l="l"/>
            <a:pathLst>
              <a:path h="8487233" w="8214161">
                <a:moveTo>
                  <a:pt x="0" y="0"/>
                </a:moveTo>
                <a:lnTo>
                  <a:pt x="8214162" y="0"/>
                </a:lnTo>
                <a:lnTo>
                  <a:pt x="8214162" y="8487233"/>
                </a:lnTo>
                <a:lnTo>
                  <a:pt x="0" y="84872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518" t="-12444" r="-12213" b="-8274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68096" y="5973269"/>
            <a:ext cx="3145116" cy="661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50"/>
              </a:lnSpc>
            </a:pPr>
            <a:r>
              <a:rPr lang="en-US" b="true" sz="3821">
                <a:solidFill>
                  <a:srgbClr val="C45EFF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03.항염 &amp; 대사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23968" y="7192495"/>
            <a:ext cx="4543029" cy="1295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4336" indent="-202168" lvl="1">
              <a:lnSpc>
                <a:spcPts val="2621"/>
              </a:lnSpc>
              <a:buFont typeface="Arial"/>
              <a:buChar char="•"/>
            </a:pPr>
            <a:r>
              <a:rPr lang="en-US" sz="1872">
                <a:solidFill>
                  <a:srgbClr val="FFFFFF"/>
                </a:solidFill>
                <a:latin typeface="Paperlogy"/>
                <a:ea typeface="Paperlogy"/>
                <a:cs typeface="Paperlogy"/>
                <a:sym typeface="Paperlogy"/>
              </a:rPr>
              <a:t>독자적 오크라꽃 플라보노이드와 C3G </a:t>
            </a:r>
          </a:p>
          <a:p>
            <a:pPr algn="l">
              <a:lnSpc>
                <a:spcPts val="2621"/>
              </a:lnSpc>
            </a:pPr>
            <a:r>
              <a:rPr lang="en-US" sz="1872">
                <a:solidFill>
                  <a:srgbClr val="FFFFFF"/>
                </a:solidFill>
                <a:latin typeface="Paperlogy"/>
                <a:ea typeface="Paperlogy"/>
                <a:cs typeface="Paperlogy"/>
                <a:sym typeface="Paperlogy"/>
              </a:rPr>
              <a:t>        안토시아닌의 결합 </a:t>
            </a:r>
          </a:p>
          <a:p>
            <a:pPr algn="l" marL="404336" indent="-202168" lvl="1">
              <a:lnSpc>
                <a:spcPts val="2621"/>
              </a:lnSpc>
              <a:buFont typeface="Arial"/>
              <a:buChar char="•"/>
            </a:pPr>
            <a:r>
              <a:rPr lang="en-US" sz="1872">
                <a:solidFill>
                  <a:srgbClr val="FFFFFF"/>
                </a:solidFill>
                <a:latin typeface="Paperlogy"/>
                <a:ea typeface="Paperlogy"/>
                <a:cs typeface="Paperlogy"/>
                <a:sym typeface="Paperlogy"/>
              </a:rPr>
              <a:t>활성산소 및 만성 염증을 진정시켜 닫힌 전신 지방 연소 스위치 점화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19467" y="857250"/>
            <a:ext cx="14849066" cy="1387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b="true" sz="8000" spc="-400">
                <a:solidFill>
                  <a:srgbClr val="FFFFFF"/>
                </a:solidFill>
                <a:latin typeface="Paperlogy Heavy"/>
                <a:ea typeface="Paperlogy Heavy"/>
                <a:cs typeface="Paperlogy Heavy"/>
                <a:sym typeface="Paperlogy Heavy"/>
              </a:rPr>
              <a:t>비우고, 감싸고, 살려내는 작동 메커니즘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48010" y="2555435"/>
            <a:ext cx="3217180" cy="661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50"/>
              </a:lnSpc>
            </a:pPr>
            <a:r>
              <a:rPr lang="en-US" b="true" sz="3821">
                <a:solidFill>
                  <a:srgbClr val="B2883E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01.비움 &amp; 증식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96380" y="3774166"/>
            <a:ext cx="4069065" cy="1259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Paperlogy"/>
                <a:ea typeface="Paperlogy"/>
                <a:cs typeface="Paperlogy"/>
                <a:sym typeface="Paperlogy"/>
              </a:rPr>
              <a:t>50배 팽창 젤의 장벽 묵은 변·독소 강력 흡착 배출 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Paperlogy"/>
                <a:ea typeface="Paperlogy"/>
                <a:cs typeface="Paperlogy"/>
                <a:sym typeface="Paperlogy"/>
              </a:rPr>
              <a:t>프리바이오틱스 발효를 통한 단쇄지방산(SCFA) 생성 및 장벽 복구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334092" y="2545910"/>
            <a:ext cx="3416716" cy="704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9"/>
              </a:lnSpc>
            </a:pPr>
            <a:r>
              <a:rPr lang="en-US" b="true" sz="4078">
                <a:solidFill>
                  <a:srgbClr val="14DF14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02.보호 &amp; 윤활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334092" y="3804620"/>
            <a:ext cx="4441054" cy="1295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4336" indent="-202168" lvl="1">
              <a:lnSpc>
                <a:spcPts val="2621"/>
              </a:lnSpc>
              <a:buFont typeface="Arial"/>
              <a:buChar char="•"/>
            </a:pPr>
            <a:r>
              <a:rPr lang="en-US" sz="1872">
                <a:solidFill>
                  <a:srgbClr val="FFFFFF"/>
                </a:solidFill>
                <a:latin typeface="Paperlogy"/>
                <a:ea typeface="Paperlogy"/>
                <a:cs typeface="Paperlogy"/>
                <a:sym typeface="Paperlogy"/>
              </a:rPr>
              <a:t>뮤실리지가 팽창 젤에 코팅되어 복통 없는 무자극 슬라이딩 </a:t>
            </a:r>
          </a:p>
          <a:p>
            <a:pPr algn="l" marL="404336" indent="-202168" lvl="1">
              <a:lnSpc>
                <a:spcPts val="2621"/>
              </a:lnSpc>
              <a:buFont typeface="Arial"/>
              <a:buChar char="•"/>
            </a:pPr>
            <a:r>
              <a:rPr lang="en-US" sz="1872">
                <a:solidFill>
                  <a:srgbClr val="FFFFFF"/>
                </a:solidFill>
                <a:latin typeface="Paperlogy"/>
                <a:ea typeface="Paperlogy"/>
                <a:cs typeface="Paperlogy"/>
                <a:sym typeface="Paperlogy"/>
              </a:rPr>
              <a:t>비워진 장벽 점막 틈새를 밀착 실링하여 </a:t>
            </a:r>
          </a:p>
          <a:p>
            <a:pPr algn="l" marL="404336" indent="-202168" lvl="1">
              <a:lnSpc>
                <a:spcPts val="2621"/>
              </a:lnSpc>
              <a:buFont typeface="Arial"/>
              <a:buChar char="•"/>
            </a:pPr>
            <a:r>
              <a:rPr lang="en-US" sz="1872">
                <a:solidFill>
                  <a:srgbClr val="FFFFFF"/>
                </a:solidFill>
                <a:latin typeface="Paperlogy"/>
                <a:ea typeface="Paperlogy"/>
                <a:cs typeface="Paperlogy"/>
                <a:sym typeface="Paperlogy"/>
              </a:rPr>
              <a:t>독소(LPS) 재유입 차단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733381" y="9450193"/>
            <a:ext cx="12821238" cy="531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8"/>
              </a:lnSpc>
            </a:pPr>
            <a:r>
              <a:rPr lang="en-US" b="true" sz="3106">
                <a:solidFill>
                  <a:srgbClr val="F45624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미지근한 물 150ml에 풀컵오크라 1포 + 오크라블룸 1~2포를 함께 타서 음용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13640" y="3282622"/>
            <a:ext cx="2302112" cy="415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>
                <a:solidFill>
                  <a:srgbClr val="B2883E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차전자피 + 이눌린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23968" y="6700951"/>
            <a:ext cx="3599978" cy="415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>
                <a:solidFill>
                  <a:srgbClr val="C45EFF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오크라 꽃+베리류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086710" y="3314991"/>
            <a:ext cx="2392908" cy="415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>
                <a:solidFill>
                  <a:srgbClr val="14DF14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오크라의 뮤실리지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075673" y="116752"/>
            <a:ext cx="8764963" cy="582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7"/>
              </a:lnSpc>
            </a:pPr>
            <a:r>
              <a:rPr lang="en-US" sz="3348">
                <a:solidFill>
                  <a:srgbClr val="F45624"/>
                </a:solidFill>
                <a:latin typeface="Paperlogy"/>
                <a:ea typeface="Paperlogy"/>
                <a:cs typeface="Paperlogy"/>
                <a:sym typeface="Paperlogy"/>
              </a:rPr>
              <a:t>FULL CUP × </a:t>
            </a:r>
            <a:r>
              <a:rPr lang="en-US" b="true" sz="3348">
                <a:solidFill>
                  <a:srgbClr val="F45624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BLOOM : 3단계 장내 리셋 시너지</a:t>
            </a:r>
          </a:p>
        </p:txBody>
      </p:sp>
      <p:sp>
        <p:nvSpPr>
          <p:cNvPr name="AutoShape 16" id="16"/>
          <p:cNvSpPr/>
          <p:nvPr/>
        </p:nvSpPr>
        <p:spPr>
          <a:xfrm>
            <a:off x="3965190" y="3484208"/>
            <a:ext cx="2984107" cy="758493"/>
          </a:xfrm>
          <a:prstGeom prst="line">
            <a:avLst/>
          </a:prstGeom>
          <a:ln cap="flat" w="76200">
            <a:gradFill>
              <a:gsLst>
                <a:gs pos="0">
                  <a:srgbClr val="6D5500">
                    <a:alpha val="100000"/>
                  </a:srgbClr>
                </a:gs>
                <a:gs pos="25000">
                  <a:srgbClr val="B2883E">
                    <a:alpha val="100000"/>
                  </a:srgbClr>
                </a:gs>
                <a:gs pos="50000">
                  <a:srgbClr val="C89C00">
                    <a:alpha val="100000"/>
                  </a:srgbClr>
                </a:gs>
                <a:gs pos="75000">
                  <a:srgbClr val="E3B100">
                    <a:alpha val="100000"/>
                  </a:srgbClr>
                </a:gs>
                <a:gs pos="100000">
                  <a:srgbClr val="FFCA0C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arrow" len="sm" w="med"/>
          </a:ln>
        </p:spPr>
      </p:sp>
      <p:sp>
        <p:nvSpPr>
          <p:cNvPr name="AutoShape 17" id="17"/>
          <p:cNvSpPr/>
          <p:nvPr/>
        </p:nvSpPr>
        <p:spPr>
          <a:xfrm>
            <a:off x="4399502" y="6791748"/>
            <a:ext cx="4495379" cy="448372"/>
          </a:xfrm>
          <a:prstGeom prst="line">
            <a:avLst/>
          </a:prstGeom>
          <a:ln cap="flat" w="76200">
            <a:gradFill>
              <a:gsLst>
                <a:gs pos="0">
                  <a:srgbClr val="37003B">
                    <a:alpha val="100000"/>
                  </a:srgbClr>
                </a:gs>
                <a:gs pos="20000">
                  <a:srgbClr val="570068">
                    <a:alpha val="100000"/>
                  </a:srgbClr>
                </a:gs>
                <a:gs pos="40000">
                  <a:srgbClr val="6E00A1">
                    <a:alpha val="100000"/>
                  </a:srgbClr>
                </a:gs>
                <a:gs pos="60000">
                  <a:srgbClr val="9100D4">
                    <a:alpha val="100000"/>
                  </a:srgbClr>
                </a:gs>
                <a:gs pos="80000">
                  <a:srgbClr val="AE00FF">
                    <a:alpha val="100000"/>
                  </a:srgbClr>
                </a:gs>
                <a:gs pos="100000">
                  <a:srgbClr val="BD34F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arrow" len="sm" w="med"/>
          </a:ln>
        </p:spPr>
      </p:sp>
      <p:sp>
        <p:nvSpPr>
          <p:cNvPr name="AutoShape 18" id="18"/>
          <p:cNvSpPr/>
          <p:nvPr/>
        </p:nvSpPr>
        <p:spPr>
          <a:xfrm flipH="true">
            <a:off x="11471306" y="3484208"/>
            <a:ext cx="2369330" cy="925030"/>
          </a:xfrm>
          <a:prstGeom prst="line">
            <a:avLst/>
          </a:prstGeom>
          <a:ln cap="flat" w="76200">
            <a:gradFill>
              <a:gsLst>
                <a:gs pos="0">
                  <a:srgbClr val="004B2C">
                    <a:alpha val="100000"/>
                  </a:srgbClr>
                </a:gs>
                <a:gs pos="20000">
                  <a:srgbClr val="007200">
                    <a:alpha val="100000"/>
                  </a:srgbClr>
                </a:gs>
                <a:gs pos="40000">
                  <a:srgbClr val="018F01">
                    <a:alpha val="100000"/>
                  </a:srgbClr>
                </a:gs>
                <a:gs pos="60000">
                  <a:srgbClr val="00D100">
                    <a:alpha val="100000"/>
                  </a:srgbClr>
                </a:gs>
                <a:gs pos="80000">
                  <a:srgbClr val="06FF06">
                    <a:alpha val="100000"/>
                  </a:srgbClr>
                </a:gs>
                <a:gs pos="100000">
                  <a:srgbClr val="2AFF2A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77" r="0" b="-927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810893" y="317154"/>
            <a:ext cx="8666213" cy="1542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1"/>
              </a:lnSpc>
            </a:pPr>
            <a:r>
              <a:rPr lang="en-US" b="true" sz="9999" spc="-297">
                <a:solidFill>
                  <a:srgbClr val="FFFFFF">
                    <a:alpha val="94902"/>
                  </a:srgbClr>
                </a:solidFill>
                <a:latin typeface="Paperlogy Heavy"/>
                <a:ea typeface="Paperlogy Heavy"/>
                <a:cs typeface="Paperlogy Heavy"/>
                <a:sym typeface="Paperlogy Heavy"/>
              </a:rPr>
              <a:t>비우고 · 보호하다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244949" y="2307625"/>
            <a:ext cx="7063605" cy="4644562"/>
          </a:xfrm>
          <a:custGeom>
            <a:avLst/>
            <a:gdLst/>
            <a:ahLst/>
            <a:cxnLst/>
            <a:rect r="r" b="b" t="t" l="l"/>
            <a:pathLst>
              <a:path h="4644562" w="7063605">
                <a:moveTo>
                  <a:pt x="0" y="0"/>
                </a:moveTo>
                <a:lnTo>
                  <a:pt x="7063605" y="0"/>
                </a:lnTo>
                <a:lnTo>
                  <a:pt x="7063605" y="4644563"/>
                </a:lnTo>
                <a:lnTo>
                  <a:pt x="0" y="46445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56743" y="7629824"/>
            <a:ext cx="1112979" cy="273964"/>
          </a:xfrm>
          <a:custGeom>
            <a:avLst/>
            <a:gdLst/>
            <a:ahLst/>
            <a:cxnLst/>
            <a:rect r="r" b="b" t="t" l="l"/>
            <a:pathLst>
              <a:path h="273964" w="1112979">
                <a:moveTo>
                  <a:pt x="0" y="0"/>
                </a:moveTo>
                <a:lnTo>
                  <a:pt x="1112979" y="0"/>
                </a:lnTo>
                <a:lnTo>
                  <a:pt x="1112979" y="273964"/>
                </a:lnTo>
                <a:lnTo>
                  <a:pt x="0" y="2739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852599" y="7355860"/>
            <a:ext cx="856138" cy="1095856"/>
          </a:xfrm>
          <a:custGeom>
            <a:avLst/>
            <a:gdLst/>
            <a:ahLst/>
            <a:cxnLst/>
            <a:rect r="r" b="b" t="t" l="l"/>
            <a:pathLst>
              <a:path h="1095856" w="856138">
                <a:moveTo>
                  <a:pt x="0" y="0"/>
                </a:moveTo>
                <a:lnTo>
                  <a:pt x="856138" y="0"/>
                </a:lnTo>
                <a:lnTo>
                  <a:pt x="856138" y="1095857"/>
                </a:lnTo>
                <a:lnTo>
                  <a:pt x="0" y="10958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752065" y="7658219"/>
            <a:ext cx="1112979" cy="273964"/>
          </a:xfrm>
          <a:custGeom>
            <a:avLst/>
            <a:gdLst/>
            <a:ahLst/>
            <a:cxnLst/>
            <a:rect r="r" b="b" t="t" l="l"/>
            <a:pathLst>
              <a:path h="273964" w="1112979">
                <a:moveTo>
                  <a:pt x="0" y="0"/>
                </a:moveTo>
                <a:lnTo>
                  <a:pt x="1112979" y="0"/>
                </a:lnTo>
                <a:lnTo>
                  <a:pt x="1112979" y="273964"/>
                </a:lnTo>
                <a:lnTo>
                  <a:pt x="0" y="2739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869722" y="8941530"/>
            <a:ext cx="839015" cy="821892"/>
          </a:xfrm>
          <a:custGeom>
            <a:avLst/>
            <a:gdLst/>
            <a:ahLst/>
            <a:cxnLst/>
            <a:rect r="r" b="b" t="t" l="l"/>
            <a:pathLst>
              <a:path h="821892" w="839015">
                <a:moveTo>
                  <a:pt x="0" y="0"/>
                </a:moveTo>
                <a:lnTo>
                  <a:pt x="839015" y="0"/>
                </a:lnTo>
                <a:lnTo>
                  <a:pt x="839015" y="821892"/>
                </a:lnTo>
                <a:lnTo>
                  <a:pt x="0" y="82189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9379" t="0" r="-25314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797169" y="7387773"/>
            <a:ext cx="5095785" cy="805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3"/>
              </a:lnSpc>
            </a:pPr>
            <a:r>
              <a:rPr lang="en-US" sz="5310" spc="-158" b="true">
                <a:solidFill>
                  <a:srgbClr val="FFFFFF">
                    <a:alpha val="94902"/>
                  </a:srgbClr>
                </a:solidFill>
                <a:latin typeface="Paperlogy Bold"/>
                <a:ea typeface="Paperlogy Bold"/>
                <a:cs typeface="Paperlogy Bold"/>
                <a:sym typeface="Paperlogy Bold"/>
              </a:rPr>
              <a:t>풀컵 오크라 </a:t>
            </a:r>
            <a:r>
              <a:rPr lang="en-US" sz="5310" spc="-158" b="true">
                <a:solidFill>
                  <a:srgbClr val="17E3B9">
                    <a:alpha val="94902"/>
                  </a:srgbClr>
                </a:solidFill>
                <a:latin typeface="Paperlogy Bold"/>
                <a:ea typeface="Paperlogy Bold"/>
                <a:cs typeface="Paperlogy Bold"/>
                <a:sym typeface="Paperlogy Bold"/>
              </a:rPr>
              <a:t>[비움]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16611" y="8338263"/>
            <a:ext cx="5520281" cy="451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2"/>
              </a:lnSpc>
            </a:pPr>
            <a:r>
              <a:rPr lang="en-US" sz="2943" spc="-87" b="true">
                <a:solidFill>
                  <a:srgbClr val="E8D591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차전자피 식이섬유 &amp; 오크라꽃 수분 젤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02182" y="9082168"/>
            <a:ext cx="4594509" cy="555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25"/>
              </a:lnSpc>
            </a:pPr>
            <a:r>
              <a:rPr lang="en-US" sz="3687" spc="-109" b="true">
                <a:solidFill>
                  <a:srgbClr val="17E3B9">
                    <a:alpha val="94902"/>
                  </a:srgbClr>
                </a:solidFill>
                <a:latin typeface="Paperlogy Bold"/>
                <a:ea typeface="Paperlogy Bold"/>
                <a:cs typeface="Paperlogy Bold"/>
                <a:sym typeface="Paperlogy Bold"/>
              </a:rPr>
              <a:t>장내 딥 클렌징 &amp; 포만감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453507" y="7033005"/>
            <a:ext cx="8100062" cy="2617165"/>
            <a:chOff x="0" y="0"/>
            <a:chExt cx="10800083" cy="348955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217723" y="0"/>
              <a:ext cx="1850563" cy="1805428"/>
            </a:xfrm>
            <a:custGeom>
              <a:avLst/>
              <a:gdLst/>
              <a:ahLst/>
              <a:cxnLst/>
              <a:rect r="r" b="b" t="t" l="l"/>
              <a:pathLst>
                <a:path h="1805428" w="1850563">
                  <a:moveTo>
                    <a:pt x="0" y="0"/>
                  </a:moveTo>
                  <a:lnTo>
                    <a:pt x="1850564" y="0"/>
                  </a:lnTo>
                  <a:lnTo>
                    <a:pt x="1850564" y="1805428"/>
                  </a:lnTo>
                  <a:lnTo>
                    <a:pt x="0" y="18054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578809" y="361086"/>
              <a:ext cx="1128392" cy="1444342"/>
            </a:xfrm>
            <a:custGeom>
              <a:avLst/>
              <a:gdLst/>
              <a:ahLst/>
              <a:cxnLst/>
              <a:rect r="r" b="b" t="t" l="l"/>
              <a:pathLst>
                <a:path h="1444342" w="1128392">
                  <a:moveTo>
                    <a:pt x="0" y="0"/>
                  </a:moveTo>
                  <a:lnTo>
                    <a:pt x="1128392" y="0"/>
                  </a:lnTo>
                  <a:lnTo>
                    <a:pt x="1128392" y="1444342"/>
                  </a:lnTo>
                  <a:lnTo>
                    <a:pt x="0" y="14443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9333173" y="759596"/>
              <a:ext cx="1466910" cy="361086"/>
            </a:xfrm>
            <a:custGeom>
              <a:avLst/>
              <a:gdLst/>
              <a:ahLst/>
              <a:cxnLst/>
              <a:rect r="r" b="b" t="t" l="l"/>
              <a:pathLst>
                <a:path h="361086" w="1466910">
                  <a:moveTo>
                    <a:pt x="0" y="0"/>
                  </a:moveTo>
                  <a:lnTo>
                    <a:pt x="1466910" y="0"/>
                  </a:lnTo>
                  <a:lnTo>
                    <a:pt x="1466910" y="361085"/>
                  </a:lnTo>
                  <a:lnTo>
                    <a:pt x="0" y="361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217723" y="2451003"/>
              <a:ext cx="1180425" cy="1038550"/>
            </a:xfrm>
            <a:custGeom>
              <a:avLst/>
              <a:gdLst/>
              <a:ahLst/>
              <a:cxnLst/>
              <a:rect r="r" b="b" t="t" l="l"/>
              <a:pathLst>
                <a:path h="1038550" w="1180425">
                  <a:moveTo>
                    <a:pt x="0" y="0"/>
                  </a:moveTo>
                  <a:lnTo>
                    <a:pt x="1180425" y="0"/>
                  </a:lnTo>
                  <a:lnTo>
                    <a:pt x="1180425" y="1038550"/>
                  </a:lnTo>
                  <a:lnTo>
                    <a:pt x="0" y="1038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26181" t="-39072" r="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2808769" y="406176"/>
              <a:ext cx="6716260" cy="10583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300"/>
                </a:lnSpc>
              </a:pPr>
              <a:r>
                <a:rPr lang="en-US" sz="5249" spc="-156" b="true">
                  <a:solidFill>
                    <a:srgbClr val="FFFFFF">
                      <a:alpha val="94902"/>
                    </a:srgbClr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오크라 블룸 </a:t>
              </a:r>
              <a:r>
                <a:rPr lang="en-US" sz="5249" spc="-156" b="true">
                  <a:solidFill>
                    <a:srgbClr val="F45CF2">
                      <a:alpha val="94902"/>
                    </a:srgbClr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[보호]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2398148" y="2639393"/>
              <a:ext cx="7314858" cy="7289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74"/>
                </a:lnSpc>
              </a:pPr>
              <a:r>
                <a:rPr lang="en-US" sz="3645" spc="-108" b="true">
                  <a:solidFill>
                    <a:srgbClr val="F45CF2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위장 점막 코팅 &amp; 활력 부스팅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2906094" y="1582738"/>
              <a:ext cx="5360735" cy="6678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29"/>
                </a:lnSpc>
              </a:pPr>
              <a:r>
                <a:rPr lang="en-US" b="true" sz="3020">
                  <a:solidFill>
                    <a:srgbClr val="F2EABD"/>
                  </a:solidFill>
                  <a:latin typeface="Paperlogy Medium"/>
                  <a:ea typeface="Paperlogy Medium"/>
                  <a:cs typeface="Paperlogy Medium"/>
                  <a:sym typeface="Paperlogy Medium"/>
                </a:rPr>
                <a:t>순도 98% 오크라 추출물</a:t>
              </a:r>
            </a:p>
          </p:txBody>
        </p:sp>
        <p:sp>
          <p:nvSpPr>
            <p:cNvPr name="Freeform 20" id="20"/>
            <p:cNvSpPr/>
            <p:nvPr/>
          </p:nvSpPr>
          <p:spPr>
            <a:xfrm flipH="false" flipV="false" rot="-10800000">
              <a:off x="0" y="902714"/>
              <a:ext cx="1466910" cy="361086"/>
            </a:xfrm>
            <a:custGeom>
              <a:avLst/>
              <a:gdLst/>
              <a:ahLst/>
              <a:cxnLst/>
              <a:rect r="r" b="b" t="t" l="l"/>
              <a:pathLst>
                <a:path h="361086" w="1466910">
                  <a:moveTo>
                    <a:pt x="0" y="0"/>
                  </a:moveTo>
                  <a:lnTo>
                    <a:pt x="1466910" y="0"/>
                  </a:lnTo>
                  <a:lnTo>
                    <a:pt x="1466910" y="361085"/>
                  </a:lnTo>
                  <a:lnTo>
                    <a:pt x="0" y="361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9366554" y="2307625"/>
            <a:ext cx="8273968" cy="4582505"/>
          </a:xfrm>
          <a:custGeom>
            <a:avLst/>
            <a:gdLst/>
            <a:ahLst/>
            <a:cxnLst/>
            <a:rect r="r" b="b" t="t" l="l"/>
            <a:pathLst>
              <a:path h="4582505" w="8273968">
                <a:moveTo>
                  <a:pt x="0" y="0"/>
                </a:moveTo>
                <a:lnTo>
                  <a:pt x="8273968" y="0"/>
                </a:lnTo>
                <a:lnTo>
                  <a:pt x="8273968" y="4582505"/>
                </a:lnTo>
                <a:lnTo>
                  <a:pt x="0" y="458250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0171"/>
            <a:ext cx="18288000" cy="10327341"/>
          </a:xfrm>
          <a:custGeom>
            <a:avLst/>
            <a:gdLst/>
            <a:ahLst/>
            <a:cxnLst/>
            <a:rect r="r" b="b" t="t" l="l"/>
            <a:pathLst>
              <a:path h="10327341" w="18288000">
                <a:moveTo>
                  <a:pt x="0" y="0"/>
                </a:moveTo>
                <a:lnTo>
                  <a:pt x="18288000" y="0"/>
                </a:lnTo>
                <a:lnTo>
                  <a:pt x="18288000" y="10327342"/>
                </a:lnTo>
                <a:lnTo>
                  <a:pt x="0" y="103273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45459" y="2824739"/>
            <a:ext cx="3065929" cy="2796988"/>
          </a:xfrm>
          <a:custGeom>
            <a:avLst/>
            <a:gdLst/>
            <a:ahLst/>
            <a:cxnLst/>
            <a:rect r="r" b="b" t="t" l="l"/>
            <a:pathLst>
              <a:path h="2796988" w="3065929">
                <a:moveTo>
                  <a:pt x="0" y="0"/>
                </a:moveTo>
                <a:lnTo>
                  <a:pt x="3065929" y="0"/>
                </a:lnTo>
                <a:lnTo>
                  <a:pt x="3065929" y="2796988"/>
                </a:lnTo>
                <a:lnTo>
                  <a:pt x="0" y="27969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34671" y="3470198"/>
            <a:ext cx="887506" cy="860612"/>
          </a:xfrm>
          <a:custGeom>
            <a:avLst/>
            <a:gdLst/>
            <a:ahLst/>
            <a:cxnLst/>
            <a:rect r="r" b="b" t="t" l="l"/>
            <a:pathLst>
              <a:path h="860612" w="887506">
                <a:moveTo>
                  <a:pt x="0" y="0"/>
                </a:moveTo>
                <a:lnTo>
                  <a:pt x="887505" y="0"/>
                </a:lnTo>
                <a:lnTo>
                  <a:pt x="887505" y="860612"/>
                </a:lnTo>
                <a:lnTo>
                  <a:pt x="0" y="8606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482788" y="2824739"/>
            <a:ext cx="3052482" cy="2796988"/>
          </a:xfrm>
          <a:custGeom>
            <a:avLst/>
            <a:gdLst/>
            <a:ahLst/>
            <a:cxnLst/>
            <a:rect r="r" b="b" t="t" l="l"/>
            <a:pathLst>
              <a:path h="2796988" w="3052482">
                <a:moveTo>
                  <a:pt x="0" y="0"/>
                </a:moveTo>
                <a:lnTo>
                  <a:pt x="3052483" y="0"/>
                </a:lnTo>
                <a:lnTo>
                  <a:pt x="3052483" y="2796988"/>
                </a:lnTo>
                <a:lnTo>
                  <a:pt x="0" y="27969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572000" y="3470198"/>
            <a:ext cx="874059" cy="860612"/>
          </a:xfrm>
          <a:custGeom>
            <a:avLst/>
            <a:gdLst/>
            <a:ahLst/>
            <a:cxnLst/>
            <a:rect r="r" b="b" t="t" l="l"/>
            <a:pathLst>
              <a:path h="860612" w="874059">
                <a:moveTo>
                  <a:pt x="0" y="0"/>
                </a:moveTo>
                <a:lnTo>
                  <a:pt x="874059" y="0"/>
                </a:lnTo>
                <a:lnTo>
                  <a:pt x="874059" y="860612"/>
                </a:lnTo>
                <a:lnTo>
                  <a:pt x="0" y="8606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091518" y="2824739"/>
            <a:ext cx="3281082" cy="2796988"/>
          </a:xfrm>
          <a:custGeom>
            <a:avLst/>
            <a:gdLst/>
            <a:ahLst/>
            <a:cxnLst/>
            <a:rect r="r" b="b" t="t" l="l"/>
            <a:pathLst>
              <a:path h="2796988" w="3281082">
                <a:moveTo>
                  <a:pt x="0" y="0"/>
                </a:moveTo>
                <a:lnTo>
                  <a:pt x="3281082" y="0"/>
                </a:lnTo>
                <a:lnTo>
                  <a:pt x="3281082" y="2796988"/>
                </a:lnTo>
                <a:lnTo>
                  <a:pt x="0" y="279698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395882" y="3470198"/>
            <a:ext cx="672353" cy="860612"/>
          </a:xfrm>
          <a:custGeom>
            <a:avLst/>
            <a:gdLst/>
            <a:ahLst/>
            <a:cxnLst/>
            <a:rect r="r" b="b" t="t" l="l"/>
            <a:pathLst>
              <a:path h="860612" w="672353">
                <a:moveTo>
                  <a:pt x="0" y="0"/>
                </a:moveTo>
                <a:lnTo>
                  <a:pt x="672353" y="0"/>
                </a:lnTo>
                <a:lnTo>
                  <a:pt x="672353" y="860612"/>
                </a:lnTo>
                <a:lnTo>
                  <a:pt x="0" y="86061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915400" y="2824739"/>
            <a:ext cx="3065929" cy="2796988"/>
          </a:xfrm>
          <a:custGeom>
            <a:avLst/>
            <a:gdLst/>
            <a:ahLst/>
            <a:cxnLst/>
            <a:rect r="r" b="b" t="t" l="l"/>
            <a:pathLst>
              <a:path h="2796988" w="3065929">
                <a:moveTo>
                  <a:pt x="0" y="0"/>
                </a:moveTo>
                <a:lnTo>
                  <a:pt x="3065929" y="0"/>
                </a:lnTo>
                <a:lnTo>
                  <a:pt x="3065929" y="2796988"/>
                </a:lnTo>
                <a:lnTo>
                  <a:pt x="0" y="279698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219765" y="3470198"/>
            <a:ext cx="672353" cy="860612"/>
          </a:xfrm>
          <a:custGeom>
            <a:avLst/>
            <a:gdLst/>
            <a:ahLst/>
            <a:cxnLst/>
            <a:rect r="r" b="b" t="t" l="l"/>
            <a:pathLst>
              <a:path h="860612" w="672353">
                <a:moveTo>
                  <a:pt x="0" y="0"/>
                </a:moveTo>
                <a:lnTo>
                  <a:pt x="672353" y="0"/>
                </a:lnTo>
                <a:lnTo>
                  <a:pt x="672353" y="860612"/>
                </a:lnTo>
                <a:lnTo>
                  <a:pt x="0" y="86061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537576" y="2824739"/>
            <a:ext cx="3267635" cy="2796988"/>
          </a:xfrm>
          <a:custGeom>
            <a:avLst/>
            <a:gdLst/>
            <a:ahLst/>
            <a:cxnLst/>
            <a:rect r="r" b="b" t="t" l="l"/>
            <a:pathLst>
              <a:path h="2796988" w="3267635">
                <a:moveTo>
                  <a:pt x="0" y="0"/>
                </a:moveTo>
                <a:lnTo>
                  <a:pt x="3267636" y="0"/>
                </a:lnTo>
                <a:lnTo>
                  <a:pt x="3267636" y="2796988"/>
                </a:lnTo>
                <a:lnTo>
                  <a:pt x="0" y="279698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841941" y="3470198"/>
            <a:ext cx="874059" cy="860612"/>
          </a:xfrm>
          <a:custGeom>
            <a:avLst/>
            <a:gdLst/>
            <a:ahLst/>
            <a:cxnLst/>
            <a:rect r="r" b="b" t="t" l="l"/>
            <a:pathLst>
              <a:path h="860612" w="874059">
                <a:moveTo>
                  <a:pt x="0" y="0"/>
                </a:moveTo>
                <a:lnTo>
                  <a:pt x="874059" y="0"/>
                </a:lnTo>
                <a:lnTo>
                  <a:pt x="874059" y="860612"/>
                </a:lnTo>
                <a:lnTo>
                  <a:pt x="0" y="86061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361459" y="2824739"/>
            <a:ext cx="3065929" cy="2796988"/>
          </a:xfrm>
          <a:custGeom>
            <a:avLst/>
            <a:gdLst/>
            <a:ahLst/>
            <a:cxnLst/>
            <a:rect r="r" b="b" t="t" l="l"/>
            <a:pathLst>
              <a:path h="2796988" w="3065929">
                <a:moveTo>
                  <a:pt x="0" y="0"/>
                </a:moveTo>
                <a:lnTo>
                  <a:pt x="3065929" y="0"/>
                </a:lnTo>
                <a:lnTo>
                  <a:pt x="3065929" y="2796988"/>
                </a:lnTo>
                <a:lnTo>
                  <a:pt x="0" y="279698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665824" y="3470198"/>
            <a:ext cx="672353" cy="860612"/>
          </a:xfrm>
          <a:custGeom>
            <a:avLst/>
            <a:gdLst/>
            <a:ahLst/>
            <a:cxnLst/>
            <a:rect r="r" b="b" t="t" l="l"/>
            <a:pathLst>
              <a:path h="860612" w="672353">
                <a:moveTo>
                  <a:pt x="0" y="0"/>
                </a:moveTo>
                <a:lnTo>
                  <a:pt x="672352" y="0"/>
                </a:lnTo>
                <a:lnTo>
                  <a:pt x="672352" y="860612"/>
                </a:lnTo>
                <a:lnTo>
                  <a:pt x="0" y="86061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810435" y="4565542"/>
            <a:ext cx="5244353" cy="4518212"/>
          </a:xfrm>
          <a:custGeom>
            <a:avLst/>
            <a:gdLst/>
            <a:ahLst/>
            <a:cxnLst/>
            <a:rect r="r" b="b" t="t" l="l"/>
            <a:pathLst>
              <a:path h="4518212" w="5244353">
                <a:moveTo>
                  <a:pt x="0" y="0"/>
                </a:moveTo>
                <a:lnTo>
                  <a:pt x="5244353" y="0"/>
                </a:lnTo>
                <a:lnTo>
                  <a:pt x="5244353" y="4518212"/>
                </a:lnTo>
                <a:lnTo>
                  <a:pt x="0" y="451821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4114800" y="5211001"/>
            <a:ext cx="3281082" cy="2796988"/>
          </a:xfrm>
          <a:custGeom>
            <a:avLst/>
            <a:gdLst/>
            <a:ahLst/>
            <a:cxnLst/>
            <a:rect r="r" b="b" t="t" l="l"/>
            <a:pathLst>
              <a:path h="2796988" w="3281082">
                <a:moveTo>
                  <a:pt x="0" y="0"/>
                </a:moveTo>
                <a:lnTo>
                  <a:pt x="3281082" y="0"/>
                </a:lnTo>
                <a:lnTo>
                  <a:pt x="3281082" y="2796988"/>
                </a:lnTo>
                <a:lnTo>
                  <a:pt x="0" y="2796988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560859" y="4565542"/>
            <a:ext cx="5459506" cy="4518212"/>
          </a:xfrm>
          <a:custGeom>
            <a:avLst/>
            <a:gdLst/>
            <a:ahLst/>
            <a:cxnLst/>
            <a:rect r="r" b="b" t="t" l="l"/>
            <a:pathLst>
              <a:path h="4518212" w="5459506">
                <a:moveTo>
                  <a:pt x="0" y="0"/>
                </a:moveTo>
                <a:lnTo>
                  <a:pt x="5459506" y="0"/>
                </a:lnTo>
                <a:lnTo>
                  <a:pt x="5459506" y="4518212"/>
                </a:lnTo>
                <a:lnTo>
                  <a:pt x="0" y="451821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434918" y="5211001"/>
            <a:ext cx="3052482" cy="2796988"/>
          </a:xfrm>
          <a:custGeom>
            <a:avLst/>
            <a:gdLst/>
            <a:ahLst/>
            <a:cxnLst/>
            <a:rect r="r" b="b" t="t" l="l"/>
            <a:pathLst>
              <a:path h="2796988" w="3052482">
                <a:moveTo>
                  <a:pt x="0" y="0"/>
                </a:moveTo>
                <a:lnTo>
                  <a:pt x="3052482" y="0"/>
                </a:lnTo>
                <a:lnTo>
                  <a:pt x="3052482" y="2796988"/>
                </a:lnTo>
                <a:lnTo>
                  <a:pt x="0" y="2796988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645459" y="8370794"/>
            <a:ext cx="1317812" cy="1290918"/>
          </a:xfrm>
          <a:custGeom>
            <a:avLst/>
            <a:gdLst/>
            <a:ahLst/>
            <a:cxnLst/>
            <a:rect r="r" b="b" t="t" l="l"/>
            <a:pathLst>
              <a:path h="1290918" w="1317812">
                <a:moveTo>
                  <a:pt x="0" y="0"/>
                </a:moveTo>
                <a:lnTo>
                  <a:pt x="1317812" y="0"/>
                </a:lnTo>
                <a:lnTo>
                  <a:pt x="1317812" y="1290918"/>
                </a:lnTo>
                <a:lnTo>
                  <a:pt x="0" y="1290918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075765" y="8585947"/>
            <a:ext cx="672353" cy="645459"/>
          </a:xfrm>
          <a:custGeom>
            <a:avLst/>
            <a:gdLst/>
            <a:ahLst/>
            <a:cxnLst/>
            <a:rect r="r" b="b" t="t" l="l"/>
            <a:pathLst>
              <a:path h="645459" w="672353">
                <a:moveTo>
                  <a:pt x="0" y="0"/>
                </a:moveTo>
                <a:lnTo>
                  <a:pt x="672353" y="0"/>
                </a:lnTo>
                <a:lnTo>
                  <a:pt x="672353" y="645459"/>
                </a:lnTo>
                <a:lnTo>
                  <a:pt x="0" y="645459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6306671" y="8370794"/>
            <a:ext cx="228600" cy="1075765"/>
          </a:xfrm>
          <a:custGeom>
            <a:avLst/>
            <a:gdLst/>
            <a:ahLst/>
            <a:cxnLst/>
            <a:rect r="r" b="b" t="t" l="l"/>
            <a:pathLst>
              <a:path h="1075765" w="228600">
                <a:moveTo>
                  <a:pt x="0" y="0"/>
                </a:moveTo>
                <a:lnTo>
                  <a:pt x="228600" y="0"/>
                </a:lnTo>
                <a:lnTo>
                  <a:pt x="228600" y="1075765"/>
                </a:lnTo>
                <a:lnTo>
                  <a:pt x="0" y="107576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6521824" y="8370794"/>
            <a:ext cx="1317812" cy="1290918"/>
          </a:xfrm>
          <a:custGeom>
            <a:avLst/>
            <a:gdLst/>
            <a:ahLst/>
            <a:cxnLst/>
            <a:rect r="r" b="b" t="t" l="l"/>
            <a:pathLst>
              <a:path h="1290918" w="1317812">
                <a:moveTo>
                  <a:pt x="0" y="0"/>
                </a:moveTo>
                <a:lnTo>
                  <a:pt x="1317811" y="0"/>
                </a:lnTo>
                <a:lnTo>
                  <a:pt x="1317811" y="1290918"/>
                </a:lnTo>
                <a:lnTo>
                  <a:pt x="0" y="1290918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6965576" y="8585947"/>
            <a:ext cx="443753" cy="645459"/>
          </a:xfrm>
          <a:custGeom>
            <a:avLst/>
            <a:gdLst/>
            <a:ahLst/>
            <a:cxnLst/>
            <a:rect r="r" b="b" t="t" l="l"/>
            <a:pathLst>
              <a:path h="645459" w="443753">
                <a:moveTo>
                  <a:pt x="0" y="0"/>
                </a:moveTo>
                <a:lnTo>
                  <a:pt x="443753" y="0"/>
                </a:lnTo>
                <a:lnTo>
                  <a:pt x="443753" y="645459"/>
                </a:lnTo>
                <a:lnTo>
                  <a:pt x="0" y="645459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1537576" y="8370794"/>
            <a:ext cx="228600" cy="1075765"/>
          </a:xfrm>
          <a:custGeom>
            <a:avLst/>
            <a:gdLst/>
            <a:ahLst/>
            <a:cxnLst/>
            <a:rect r="r" b="b" t="t" l="l"/>
            <a:pathLst>
              <a:path h="1075765" w="228600">
                <a:moveTo>
                  <a:pt x="0" y="0"/>
                </a:moveTo>
                <a:lnTo>
                  <a:pt x="228600" y="0"/>
                </a:lnTo>
                <a:lnTo>
                  <a:pt x="228600" y="1075765"/>
                </a:lnTo>
                <a:lnTo>
                  <a:pt x="0" y="107576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1752729" y="8370794"/>
            <a:ext cx="1317812" cy="1290918"/>
          </a:xfrm>
          <a:custGeom>
            <a:avLst/>
            <a:gdLst/>
            <a:ahLst/>
            <a:cxnLst/>
            <a:rect r="r" b="b" t="t" l="l"/>
            <a:pathLst>
              <a:path h="1290918" w="1317812">
                <a:moveTo>
                  <a:pt x="0" y="0"/>
                </a:moveTo>
                <a:lnTo>
                  <a:pt x="1317812" y="0"/>
                </a:lnTo>
                <a:lnTo>
                  <a:pt x="1317812" y="1290918"/>
                </a:lnTo>
                <a:lnTo>
                  <a:pt x="0" y="1290918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2183035" y="8585947"/>
            <a:ext cx="457200" cy="645459"/>
          </a:xfrm>
          <a:custGeom>
            <a:avLst/>
            <a:gdLst/>
            <a:ahLst/>
            <a:cxnLst/>
            <a:rect r="r" b="b" t="t" l="l"/>
            <a:pathLst>
              <a:path h="645459" w="457200">
                <a:moveTo>
                  <a:pt x="0" y="0"/>
                </a:moveTo>
                <a:lnTo>
                  <a:pt x="457200" y="0"/>
                </a:lnTo>
                <a:lnTo>
                  <a:pt x="457200" y="645459"/>
                </a:lnTo>
                <a:lnTo>
                  <a:pt x="0" y="645459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5085054" y="5553901"/>
            <a:ext cx="1651923" cy="1115048"/>
          </a:xfrm>
          <a:custGeom>
            <a:avLst/>
            <a:gdLst/>
            <a:ahLst/>
            <a:cxnLst/>
            <a:rect r="r" b="b" t="t" l="l"/>
            <a:pathLst>
              <a:path h="1115048" w="1651923">
                <a:moveTo>
                  <a:pt x="0" y="0"/>
                </a:moveTo>
                <a:lnTo>
                  <a:pt x="1651922" y="0"/>
                </a:lnTo>
                <a:lnTo>
                  <a:pt x="1651922" y="1115047"/>
                </a:lnTo>
                <a:lnTo>
                  <a:pt x="0" y="1115047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1364432" y="5707452"/>
            <a:ext cx="1393007" cy="807944"/>
          </a:xfrm>
          <a:custGeom>
            <a:avLst/>
            <a:gdLst/>
            <a:ahLst/>
            <a:cxnLst/>
            <a:rect r="r" b="b" t="t" l="l"/>
            <a:pathLst>
              <a:path h="807944" w="1393007">
                <a:moveTo>
                  <a:pt x="0" y="0"/>
                </a:moveTo>
                <a:lnTo>
                  <a:pt x="1393008" y="0"/>
                </a:lnTo>
                <a:lnTo>
                  <a:pt x="1393008" y="807944"/>
                </a:lnTo>
                <a:lnTo>
                  <a:pt x="0" y="807944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3344015" y="123259"/>
            <a:ext cx="11599971" cy="2806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true">
                <a:solidFill>
                  <a:srgbClr val="FFFFFF"/>
                </a:solidFill>
                <a:latin typeface="Paperlogy Heavy"/>
                <a:ea typeface="Paperlogy Heavy"/>
                <a:cs typeface="Paperlogy Heavy"/>
                <a:sym typeface="Paperlogy Heavy"/>
              </a:rPr>
              <a:t>씨앗의 선택부터 완제품까지, </a:t>
            </a:r>
          </a:p>
          <a:p>
            <a:pPr algn="ctr">
              <a:lnSpc>
                <a:spcPts val="11200"/>
              </a:lnSpc>
            </a:pPr>
            <a:r>
              <a:rPr lang="en-US" sz="8000" b="true">
                <a:solidFill>
                  <a:srgbClr val="FFFFFF"/>
                </a:solidFill>
                <a:latin typeface="Paperlogy Heavy"/>
                <a:ea typeface="Paperlogy Heavy"/>
                <a:cs typeface="Paperlogy Heavy"/>
                <a:sym typeface="Paperlogy Heavy"/>
              </a:rPr>
              <a:t>타협 없는 전 주기 관리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878322" y="4249594"/>
            <a:ext cx="894208" cy="316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FFFFFF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정밀 생산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671689" y="6652655"/>
            <a:ext cx="2509040" cy="797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799" b="true">
                <a:solidFill>
                  <a:srgbClr val="FFFFFF"/>
                </a:solidFill>
                <a:latin typeface="Paperlogy Ultra-Bold"/>
                <a:ea typeface="Paperlogy Ultra-Bold"/>
                <a:cs typeface="Paperlogy Ultra-Bold"/>
                <a:sym typeface="Paperlogy Ultra-Bold"/>
              </a:rPr>
              <a:t>글로벌 청정 원료</a:t>
            </a:r>
          </a:p>
          <a:p>
            <a:pPr algn="ctr">
              <a:lnSpc>
                <a:spcPts val="3079"/>
              </a:lnSpc>
            </a:pPr>
            <a:r>
              <a:rPr lang="en-US" sz="2799" b="true">
                <a:solidFill>
                  <a:srgbClr val="FFFFFF"/>
                </a:solidFill>
                <a:latin typeface="Paperlogy Ultra-Bold"/>
                <a:ea typeface="Paperlogy Ultra-Bold"/>
                <a:cs typeface="Paperlogy Ultra-Bold"/>
                <a:sym typeface="Paperlogy Ultra-Bold"/>
              </a:rPr>
              <a:t>재배 기지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879907" y="6734440"/>
            <a:ext cx="2391103" cy="797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799" b="true">
                <a:solidFill>
                  <a:srgbClr val="FFFFFF"/>
                </a:solidFill>
                <a:latin typeface="Paperlogy Ultra-Bold"/>
                <a:ea typeface="Paperlogy Ultra-Bold"/>
                <a:cs typeface="Paperlogy Ultra-Bold"/>
                <a:sym typeface="Paperlogy Ultra-Bold"/>
              </a:rPr>
              <a:t>글로벌 전문 제조 파트너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066544" y="8648238"/>
            <a:ext cx="3767328" cy="342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329" b="true">
                <a:solidFill>
                  <a:srgbClr val="F45624"/>
                </a:solidFill>
                <a:latin typeface="Paperlogy Ultra-Bold"/>
                <a:ea typeface="Paperlogy Ultra-Bold"/>
                <a:cs typeface="Paperlogy Ultra-Bold"/>
                <a:sym typeface="Paperlogy Ultra-Bold"/>
              </a:rPr>
              <a:t>· 100% 추적 가능한 청정 원료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139696" y="9086949"/>
            <a:ext cx="3521516" cy="568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2000" b="true">
                <a:solidFill>
                  <a:srgbClr val="FFFFFF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280ha(약 84만 평) 직영 </a:t>
            </a:r>
          </a:p>
          <a:p>
            <a:pPr algn="ctr">
              <a:lnSpc>
                <a:spcPts val="2200"/>
              </a:lnSpc>
            </a:pPr>
            <a:r>
              <a:rPr lang="en-US" sz="2000" b="true">
                <a:solidFill>
                  <a:srgbClr val="FFFFFF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무공해 재배 기지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808976" y="8655298"/>
            <a:ext cx="2816352" cy="32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4"/>
              </a:lnSpc>
            </a:pPr>
            <a:r>
              <a:rPr lang="en-US" sz="2276" b="true">
                <a:solidFill>
                  <a:srgbClr val="F45624"/>
                </a:solidFill>
                <a:latin typeface="Paperlogy Ultra-Bold"/>
                <a:ea typeface="Paperlogy Ultra-Bold"/>
                <a:cs typeface="Paperlogy Ultra-Bold"/>
                <a:sym typeface="Paperlogy Ultra-Bold"/>
              </a:rPr>
              <a:t>· 독자적 저온 물리 추출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020610" y="9086949"/>
            <a:ext cx="2940872" cy="568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2000" b="true">
                <a:solidFill>
                  <a:srgbClr val="FFFFFF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유효 성분 파괴를 최소화하는 </a:t>
            </a:r>
          </a:p>
          <a:p>
            <a:pPr algn="ctr">
              <a:lnSpc>
                <a:spcPts val="2200"/>
              </a:lnSpc>
            </a:pPr>
            <a:r>
              <a:rPr lang="en-US" sz="2000" b="true">
                <a:solidFill>
                  <a:srgbClr val="FFFFFF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정말 기술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002768" y="8672219"/>
            <a:ext cx="2962656" cy="30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7"/>
              </a:lnSpc>
            </a:pPr>
            <a:r>
              <a:rPr lang="en-US" sz="2170" b="true">
                <a:solidFill>
                  <a:srgbClr val="F45624"/>
                </a:solidFill>
                <a:latin typeface="Paperlogy Ultra-Bold"/>
                <a:ea typeface="Paperlogy Ultra-Bold"/>
                <a:cs typeface="Paperlogy Ultra-Bold"/>
                <a:sym typeface="Paperlogy Ultra-Bold"/>
              </a:rPr>
              <a:t>· 글로벌 공인 생산 인프라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251516" y="9093279"/>
            <a:ext cx="3273762" cy="568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2000" b="true">
                <a:solidFill>
                  <a:srgbClr val="FFFFFF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GMP 10만급 및 국제 표준 인증</a:t>
            </a:r>
          </a:p>
          <a:p>
            <a:pPr algn="ctr">
              <a:lnSpc>
                <a:spcPts val="2200"/>
              </a:lnSpc>
            </a:pPr>
            <a:r>
              <a:rPr lang="en-US" sz="2000" b="true">
                <a:solidFill>
                  <a:srgbClr val="FFFFFF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 제조망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693948" y="4249594"/>
            <a:ext cx="968950" cy="316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FFFFFF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품종 육종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462003" y="4249594"/>
            <a:ext cx="1094053" cy="316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FFFFFF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유기농 재배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379746" y="4249594"/>
            <a:ext cx="858460" cy="316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FFFFFF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저온 추출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126853" y="4249594"/>
            <a:ext cx="858176" cy="316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FFFFFF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배합 설계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5665824" y="4249594"/>
            <a:ext cx="894208" cy="316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FFFFFF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안전 검증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0171"/>
            <a:ext cx="18288000" cy="10327341"/>
          </a:xfrm>
          <a:custGeom>
            <a:avLst/>
            <a:gdLst/>
            <a:ahLst/>
            <a:cxnLst/>
            <a:rect r="r" b="b" t="t" l="l"/>
            <a:pathLst>
              <a:path h="10327341" w="18288000">
                <a:moveTo>
                  <a:pt x="0" y="0"/>
                </a:moveTo>
                <a:lnTo>
                  <a:pt x="18288000" y="0"/>
                </a:lnTo>
                <a:lnTo>
                  <a:pt x="18288000" y="10327342"/>
                </a:lnTo>
                <a:lnTo>
                  <a:pt x="0" y="103273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15153" y="410135"/>
            <a:ext cx="5889812" cy="860612"/>
          </a:xfrm>
          <a:custGeom>
            <a:avLst/>
            <a:gdLst/>
            <a:ahLst/>
            <a:cxnLst/>
            <a:rect r="r" b="b" t="t" l="l"/>
            <a:pathLst>
              <a:path h="860612" w="5889812">
                <a:moveTo>
                  <a:pt x="0" y="0"/>
                </a:moveTo>
                <a:lnTo>
                  <a:pt x="5889812" y="0"/>
                </a:lnTo>
                <a:lnTo>
                  <a:pt x="5889812" y="860612"/>
                </a:lnTo>
                <a:lnTo>
                  <a:pt x="0" y="8606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30306" y="853568"/>
            <a:ext cx="16971264" cy="1079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 spc="-240" b="true">
                <a:solidFill>
                  <a:srgbClr val="FFFFFF"/>
                </a:solidFill>
                <a:latin typeface="Paperlogy Heavy"/>
                <a:ea typeface="Paperlogy Heavy"/>
                <a:cs typeface="Paperlogy Heavy"/>
                <a:sym typeface="Paperlogy Heavy"/>
              </a:rPr>
              <a:t>화학 비료 Zero의 청정 직영 기지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020160" y="1776693"/>
            <a:ext cx="318254" cy="2995332"/>
          </a:xfrm>
          <a:custGeom>
            <a:avLst/>
            <a:gdLst/>
            <a:ahLst/>
            <a:cxnLst/>
            <a:rect r="r" b="b" t="t" l="l"/>
            <a:pathLst>
              <a:path h="2995332" w="318254">
                <a:moveTo>
                  <a:pt x="0" y="0"/>
                </a:moveTo>
                <a:lnTo>
                  <a:pt x="318254" y="0"/>
                </a:lnTo>
                <a:lnTo>
                  <a:pt x="318254" y="2995332"/>
                </a:lnTo>
                <a:lnTo>
                  <a:pt x="0" y="29953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30306" y="4774501"/>
            <a:ext cx="1102659" cy="1290918"/>
          </a:xfrm>
          <a:custGeom>
            <a:avLst/>
            <a:gdLst/>
            <a:ahLst/>
            <a:cxnLst/>
            <a:rect r="r" b="b" t="t" l="l"/>
            <a:pathLst>
              <a:path h="1290918" w="1102659">
                <a:moveTo>
                  <a:pt x="0" y="0"/>
                </a:moveTo>
                <a:lnTo>
                  <a:pt x="1102659" y="0"/>
                </a:lnTo>
                <a:lnTo>
                  <a:pt x="1102659" y="1290918"/>
                </a:lnTo>
                <a:lnTo>
                  <a:pt x="0" y="12909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04365" y="6000965"/>
            <a:ext cx="6433003" cy="275947"/>
          </a:xfrm>
          <a:custGeom>
            <a:avLst/>
            <a:gdLst/>
            <a:ahLst/>
            <a:cxnLst/>
            <a:rect r="r" b="b" t="t" l="l"/>
            <a:pathLst>
              <a:path h="275947" w="6433003">
                <a:moveTo>
                  <a:pt x="0" y="0"/>
                </a:moveTo>
                <a:lnTo>
                  <a:pt x="6433003" y="0"/>
                </a:lnTo>
                <a:lnTo>
                  <a:pt x="6433003" y="275947"/>
                </a:lnTo>
                <a:lnTo>
                  <a:pt x="0" y="2759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30306" y="6440877"/>
            <a:ext cx="1102659" cy="1075765"/>
          </a:xfrm>
          <a:custGeom>
            <a:avLst/>
            <a:gdLst/>
            <a:ahLst/>
            <a:cxnLst/>
            <a:rect r="r" b="b" t="t" l="l"/>
            <a:pathLst>
              <a:path h="1075765" w="1102659">
                <a:moveTo>
                  <a:pt x="0" y="0"/>
                </a:moveTo>
                <a:lnTo>
                  <a:pt x="1102659" y="0"/>
                </a:lnTo>
                <a:lnTo>
                  <a:pt x="1102659" y="1075765"/>
                </a:lnTo>
                <a:lnTo>
                  <a:pt x="0" y="107576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04365" y="7656644"/>
            <a:ext cx="6433003" cy="275947"/>
          </a:xfrm>
          <a:custGeom>
            <a:avLst/>
            <a:gdLst/>
            <a:ahLst/>
            <a:cxnLst/>
            <a:rect r="r" b="b" t="t" l="l"/>
            <a:pathLst>
              <a:path h="275947" w="6433003">
                <a:moveTo>
                  <a:pt x="0" y="0"/>
                </a:moveTo>
                <a:lnTo>
                  <a:pt x="6433003" y="0"/>
                </a:lnTo>
                <a:lnTo>
                  <a:pt x="6433003" y="275947"/>
                </a:lnTo>
                <a:lnTo>
                  <a:pt x="0" y="27594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30306" y="7979578"/>
            <a:ext cx="1102659" cy="1075765"/>
          </a:xfrm>
          <a:custGeom>
            <a:avLst/>
            <a:gdLst/>
            <a:ahLst/>
            <a:cxnLst/>
            <a:rect r="r" b="b" t="t" l="l"/>
            <a:pathLst>
              <a:path h="1075765" w="1102659">
                <a:moveTo>
                  <a:pt x="0" y="0"/>
                </a:moveTo>
                <a:lnTo>
                  <a:pt x="1102659" y="0"/>
                </a:lnTo>
                <a:lnTo>
                  <a:pt x="1102659" y="1075764"/>
                </a:lnTo>
                <a:lnTo>
                  <a:pt x="0" y="107576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30306" y="2760937"/>
            <a:ext cx="2592409" cy="1383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61"/>
              </a:lnSpc>
            </a:pPr>
            <a:r>
              <a:rPr lang="en-US" b="true" sz="10361" spc="-310">
                <a:solidFill>
                  <a:srgbClr val="FFFFFF"/>
                </a:solidFill>
                <a:latin typeface="Paperlogy Heavy"/>
                <a:ea typeface="Paperlogy Heavy"/>
                <a:cs typeface="Paperlogy Heavy"/>
                <a:sym typeface="Paperlogy Heavy"/>
              </a:rPr>
              <a:t>280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220562" y="3196060"/>
            <a:ext cx="1145715" cy="739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8"/>
              </a:lnSpc>
            </a:pPr>
            <a:r>
              <a:rPr lang="en-US" sz="5568" spc="-167" b="true">
                <a:solidFill>
                  <a:srgbClr val="0055E9"/>
                </a:solidFill>
                <a:latin typeface="Paperlogy Heavy"/>
                <a:ea typeface="Paperlogy Heavy"/>
                <a:cs typeface="Paperlogy Heavy"/>
                <a:sym typeface="Paperlogy Heavy"/>
              </a:rPr>
              <a:t>ha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830398" y="2670552"/>
            <a:ext cx="1855953" cy="1465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17"/>
              </a:lnSpc>
            </a:pPr>
            <a:r>
              <a:rPr lang="en-US" b="true" sz="11017" spc="-330">
                <a:solidFill>
                  <a:srgbClr val="FFFFFF"/>
                </a:solidFill>
                <a:latin typeface="Paperlogy Heavy"/>
                <a:ea typeface="Paperlogy Heavy"/>
                <a:cs typeface="Paperlogy Heavy"/>
                <a:sym typeface="Paperlogy Heavy"/>
              </a:rPr>
              <a:t>84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886693" y="3196060"/>
            <a:ext cx="1701349" cy="739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8"/>
              </a:lnSpc>
            </a:pPr>
            <a:r>
              <a:rPr lang="en-US" sz="5568" spc="-167" b="true">
                <a:solidFill>
                  <a:srgbClr val="0055E9"/>
                </a:solidFill>
                <a:latin typeface="Paperlogy Heavy"/>
                <a:ea typeface="Paperlogy Heavy"/>
                <a:cs typeface="Paperlogy Heavy"/>
                <a:sym typeface="Paperlogy Heavy"/>
              </a:rPr>
              <a:t>만평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90998" y="5104979"/>
            <a:ext cx="6098418" cy="400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8" indent="-323849" lvl="1">
              <a:lnSpc>
                <a:spcPts val="2999"/>
              </a:lnSpc>
              <a:buFont typeface="Arial"/>
              <a:buChar char="•"/>
            </a:pPr>
            <a:r>
              <a:rPr lang="en-US" b="true" sz="2999" spc="-89">
                <a:solidFill>
                  <a:srgbClr val="FFFFFF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20년 역사의 오크라 전문 가지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83562" y="5683519"/>
            <a:ext cx="5406253" cy="269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spc="-60" b="true">
                <a:solidFill>
                  <a:srgbClr val="FFFFFF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: 대규모 오크라 산업화 및 작염 재배 노하우 (2003년~)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90998" y="6610287"/>
            <a:ext cx="6098418" cy="400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8" indent="-323849" lvl="1">
              <a:lnSpc>
                <a:spcPts val="2999"/>
              </a:lnSpc>
              <a:buFont typeface="Arial"/>
              <a:buChar char="•"/>
            </a:pPr>
            <a:r>
              <a:rPr lang="en-US" b="true" sz="2999" spc="-89">
                <a:solidFill>
                  <a:srgbClr val="FFFFFF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약 84만 평 규모의 청정 단지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83562" y="7178479"/>
            <a:ext cx="5406253" cy="269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spc="-60" b="true">
                <a:solidFill>
                  <a:srgbClr val="FFFFFF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: 3,200무 무공해 가지 + 1,000무 유기농 시범 기지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90998" y="8265966"/>
            <a:ext cx="6098418" cy="400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8" indent="-323849" lvl="1">
              <a:lnSpc>
                <a:spcPts val="2999"/>
              </a:lnSpc>
              <a:buFont typeface="Arial"/>
              <a:buChar char="•"/>
            </a:pPr>
            <a:r>
              <a:rPr lang="en-US" b="true" sz="2999" spc="-89">
                <a:solidFill>
                  <a:srgbClr val="FFFFFF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최고 권위 산학연 R&amp;D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83562" y="8830398"/>
            <a:ext cx="5406253" cy="269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spc="-60" b="true">
                <a:solidFill>
                  <a:srgbClr val="FFFFFF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: CDC 및 질병예방통제센터, 주요 대학병원 고동 연구</a:t>
            </a:r>
          </a:p>
        </p:txBody>
      </p:sp>
      <p:sp>
        <p:nvSpPr>
          <p:cNvPr name="AutoShape 21" id="21"/>
          <p:cNvSpPr/>
          <p:nvPr/>
        </p:nvSpPr>
        <p:spPr>
          <a:xfrm>
            <a:off x="547300" y="4144069"/>
            <a:ext cx="7537166" cy="0"/>
          </a:xfrm>
          <a:prstGeom prst="line">
            <a:avLst/>
          </a:prstGeom>
          <a:ln cap="flat" w="38100">
            <a:solidFill>
              <a:srgbClr val="0055E9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4816593" cy="2718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2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5390" y="5405463"/>
            <a:ext cx="4053419" cy="4881537"/>
          </a:xfrm>
          <a:custGeom>
            <a:avLst/>
            <a:gdLst/>
            <a:ahLst/>
            <a:cxnLst/>
            <a:rect r="r" b="b" t="t" l="l"/>
            <a:pathLst>
              <a:path h="4881537" w="4053419">
                <a:moveTo>
                  <a:pt x="0" y="0"/>
                </a:moveTo>
                <a:lnTo>
                  <a:pt x="4053419" y="0"/>
                </a:lnTo>
                <a:lnTo>
                  <a:pt x="4053419" y="4881537"/>
                </a:lnTo>
                <a:lnTo>
                  <a:pt x="0" y="48815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752709" y="2250874"/>
            <a:ext cx="12782583" cy="3659908"/>
            <a:chOff x="0" y="0"/>
            <a:chExt cx="17043444" cy="487987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7841260" y="2181340"/>
              <a:ext cx="1362142" cy="1320865"/>
            </a:xfrm>
            <a:custGeom>
              <a:avLst/>
              <a:gdLst/>
              <a:ahLst/>
              <a:cxnLst/>
              <a:rect r="r" b="b" t="t" l="l"/>
              <a:pathLst>
                <a:path h="1320865" w="1362142">
                  <a:moveTo>
                    <a:pt x="0" y="0"/>
                  </a:moveTo>
                  <a:lnTo>
                    <a:pt x="1362142" y="0"/>
                  </a:lnTo>
                  <a:lnTo>
                    <a:pt x="1362142" y="1320865"/>
                  </a:lnTo>
                  <a:lnTo>
                    <a:pt x="0" y="1320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8236168" y="2515861"/>
              <a:ext cx="572327" cy="4755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29"/>
                </a:lnSpc>
              </a:pPr>
              <a:r>
                <a:rPr lang="en-US" b="true" sz="2357" spc="47">
                  <a:solidFill>
                    <a:srgbClr val="0D0D0D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VS</a:t>
              </a:r>
            </a:p>
          </p:txBody>
        </p:sp>
        <p:grpSp>
          <p:nvGrpSpPr>
            <p:cNvPr name="Group 9" id="9"/>
            <p:cNvGrpSpPr/>
            <p:nvPr/>
          </p:nvGrpSpPr>
          <p:grpSpPr>
            <a:xfrm rot="0">
              <a:off x="0" y="788323"/>
              <a:ext cx="7763841" cy="4076209"/>
              <a:chOff x="0" y="0"/>
              <a:chExt cx="902117" cy="473634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902117" cy="473634"/>
              </a:xfrm>
              <a:custGeom>
                <a:avLst/>
                <a:gdLst/>
                <a:ahLst/>
                <a:cxnLst/>
                <a:rect r="r" b="b" t="t" l="l"/>
                <a:pathLst>
                  <a:path h="473634" w="902117">
                    <a:moveTo>
                      <a:pt x="0" y="0"/>
                    </a:moveTo>
                    <a:lnTo>
                      <a:pt x="902117" y="0"/>
                    </a:lnTo>
                    <a:lnTo>
                      <a:pt x="902117" y="473634"/>
                    </a:lnTo>
                    <a:lnTo>
                      <a:pt x="0" y="473634"/>
                    </a:lnTo>
                    <a:close/>
                  </a:path>
                </a:pathLst>
              </a:custGeom>
              <a:blipFill>
                <a:blip r:embed="rId4"/>
                <a:stretch>
                  <a:fillRect l="-1507" t="-8709" r="-1712" b="-4499"/>
                </a:stretch>
              </a:blipFill>
              <a:ln w="66675" cap="sq">
                <a:solidFill>
                  <a:srgbClr val="D4A83B"/>
                </a:solidFill>
                <a:prstDash val="solid"/>
                <a:miter/>
              </a:ln>
            </p:spPr>
          </p:sp>
        </p:grpSp>
        <p:sp>
          <p:nvSpPr>
            <p:cNvPr name="TextBox 11" id="11"/>
            <p:cNvSpPr txBox="true"/>
            <p:nvPr/>
          </p:nvSpPr>
          <p:spPr>
            <a:xfrm rot="0">
              <a:off x="10335331" y="-19050"/>
              <a:ext cx="5631503" cy="6285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b="true" sz="3000" spc="60">
                  <a:solidFill>
                    <a:srgbClr val="D4A83B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&lt;기능성 추출 전용 품종&gt;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861086" y="-19050"/>
              <a:ext cx="3964227" cy="6285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b="true" sz="3000" spc="60">
                  <a:solidFill>
                    <a:srgbClr val="FFFFFF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&lt;일반 식용 품종&gt;</a:t>
              </a:r>
            </a:p>
          </p:txBody>
        </p:sp>
        <p:grpSp>
          <p:nvGrpSpPr>
            <p:cNvPr name="Group 13" id="13"/>
            <p:cNvGrpSpPr/>
            <p:nvPr/>
          </p:nvGrpSpPr>
          <p:grpSpPr>
            <a:xfrm rot="0">
              <a:off x="9279602" y="803668"/>
              <a:ext cx="7763841" cy="4076209"/>
              <a:chOff x="0" y="0"/>
              <a:chExt cx="902117" cy="473634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902117" cy="473634"/>
              </a:xfrm>
              <a:custGeom>
                <a:avLst/>
                <a:gdLst/>
                <a:ahLst/>
                <a:cxnLst/>
                <a:rect r="r" b="b" t="t" l="l"/>
                <a:pathLst>
                  <a:path h="473634" w="902117">
                    <a:moveTo>
                      <a:pt x="0" y="0"/>
                    </a:moveTo>
                    <a:lnTo>
                      <a:pt x="902117" y="0"/>
                    </a:lnTo>
                    <a:lnTo>
                      <a:pt x="902117" y="473634"/>
                    </a:lnTo>
                    <a:lnTo>
                      <a:pt x="0" y="473634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2059" t="-7532" r="-1160" b="-5676"/>
                </a:stretch>
              </a:blipFill>
              <a:ln w="66675" cap="sq">
                <a:solidFill>
                  <a:srgbClr val="D4A83B"/>
                </a:solidFill>
                <a:prstDash val="solid"/>
                <a:miter/>
              </a:ln>
            </p:spPr>
          </p:sp>
        </p:grpSp>
      </p:grpSp>
      <p:sp>
        <p:nvSpPr>
          <p:cNvPr name="AutoShape 15" id="15"/>
          <p:cNvSpPr/>
          <p:nvPr/>
        </p:nvSpPr>
        <p:spPr>
          <a:xfrm>
            <a:off x="2815989" y="6938262"/>
            <a:ext cx="12656023" cy="0"/>
          </a:xfrm>
          <a:prstGeom prst="line">
            <a:avLst/>
          </a:prstGeom>
          <a:ln cap="flat" w="38100">
            <a:solidFill>
              <a:srgbClr val="94949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12764662" y="39864"/>
            <a:ext cx="5519766" cy="7539193"/>
          </a:xfrm>
          <a:custGeom>
            <a:avLst/>
            <a:gdLst/>
            <a:ahLst/>
            <a:cxnLst/>
            <a:rect r="r" b="b" t="t" l="l"/>
            <a:pathLst>
              <a:path h="7539193" w="5519766">
                <a:moveTo>
                  <a:pt x="0" y="0"/>
                </a:moveTo>
                <a:lnTo>
                  <a:pt x="5519766" y="0"/>
                </a:lnTo>
                <a:lnTo>
                  <a:pt x="5519766" y="7539193"/>
                </a:lnTo>
                <a:lnTo>
                  <a:pt x="0" y="75391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182736" y="6371541"/>
            <a:ext cx="3227545" cy="42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799" spc="56" b="true">
                <a:solidFill>
                  <a:srgbClr val="D4A83B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르메뜨레 독점 품종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147739" y="7119465"/>
            <a:ext cx="4431201" cy="342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199" spc="44" b="true">
                <a:solidFill>
                  <a:srgbClr val="D4A83B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기능성 건강식품·고순도 분말 원료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147739" y="7740300"/>
            <a:ext cx="3154899" cy="342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199" spc="44" b="true">
                <a:solidFill>
                  <a:srgbClr val="D4A83B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점액 다당류 고농축 특화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147739" y="8375423"/>
            <a:ext cx="4041749" cy="342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199" spc="44" b="true">
                <a:solidFill>
                  <a:srgbClr val="D4A83B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고농축 육성 </a:t>
            </a:r>
            <a:r>
              <a:rPr lang="en-US" sz="2199" spc="44" b="true">
                <a:solidFill>
                  <a:srgbClr val="D43B44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대두 잎 대비 100배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147739" y="9010545"/>
            <a:ext cx="4355617" cy="342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199" spc="44" b="true">
                <a:solidFill>
                  <a:srgbClr val="D4A83B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저온 수욕 추출, </a:t>
            </a:r>
            <a:r>
              <a:rPr lang="en-US" sz="2199" spc="44" b="true">
                <a:solidFill>
                  <a:srgbClr val="D43B44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고순도 정제 98%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147739" y="9645668"/>
            <a:ext cx="3262542" cy="342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199" spc="44" b="true">
                <a:solidFill>
                  <a:srgbClr val="D4A83B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지방 표준·기원 표준 인증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0" y="-14801"/>
            <a:ext cx="3396065" cy="2881510"/>
          </a:xfrm>
          <a:custGeom>
            <a:avLst/>
            <a:gdLst/>
            <a:ahLst/>
            <a:cxnLst/>
            <a:rect r="r" b="b" t="t" l="l"/>
            <a:pathLst>
              <a:path h="2881510" w="3396065">
                <a:moveTo>
                  <a:pt x="0" y="0"/>
                </a:moveTo>
                <a:lnTo>
                  <a:pt x="3396065" y="0"/>
                </a:lnTo>
                <a:lnTo>
                  <a:pt x="3396065" y="2881510"/>
                </a:lnTo>
                <a:lnTo>
                  <a:pt x="0" y="28815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028700" y="637797"/>
            <a:ext cx="13850513" cy="1238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1"/>
              </a:lnSpc>
            </a:pPr>
            <a:r>
              <a:rPr lang="en-US" b="true" sz="8000" spc="160">
                <a:solidFill>
                  <a:srgbClr val="FFFFFF"/>
                </a:solidFill>
                <a:latin typeface="Paperlogy Heavy"/>
                <a:ea typeface="Paperlogy Heavy"/>
                <a:cs typeface="Paperlogy Heavy"/>
                <a:sym typeface="Paperlogy Heavy"/>
              </a:rPr>
              <a:t>일반 품종 vs 독자 품종 비교 분석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014164" y="9645668"/>
            <a:ext cx="1179268" cy="342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b="true" sz="2199" spc="44">
                <a:solidFill>
                  <a:srgbClr val="737373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규격화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014164" y="6371541"/>
            <a:ext cx="1543711" cy="42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b="true" sz="2799" spc="56">
                <a:solidFill>
                  <a:srgbClr val="737373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비교 항목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014164" y="7119465"/>
            <a:ext cx="1714575" cy="342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b="true" sz="2199" spc="44">
                <a:solidFill>
                  <a:srgbClr val="737373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주요 용도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014164" y="7740300"/>
            <a:ext cx="2117056" cy="342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b="true" sz="2199" spc="44">
                <a:solidFill>
                  <a:srgbClr val="737373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활성 다당체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014164" y="9010545"/>
            <a:ext cx="2100957" cy="342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b="true" sz="2199" spc="44">
                <a:solidFill>
                  <a:srgbClr val="737373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추출 적합도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014164" y="8375423"/>
            <a:ext cx="2374634" cy="342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b="true" sz="2199" spc="44">
                <a:solidFill>
                  <a:srgbClr val="737373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폴라보노이드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018771" y="6371541"/>
            <a:ext cx="2703070" cy="42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b="true" sz="2800" spc="56">
                <a:solidFill>
                  <a:srgbClr val="FFFFFF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일반 식용 오크라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018771" y="7119465"/>
            <a:ext cx="2944358" cy="342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b="true" sz="2200" spc="44">
                <a:solidFill>
                  <a:srgbClr val="FFFFFF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신선 채소·일반 조리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018771" y="7740300"/>
            <a:ext cx="1411240" cy="342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b="true" sz="2200" spc="44">
                <a:solidFill>
                  <a:srgbClr val="FFFFFF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표준 수치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018771" y="9010545"/>
            <a:ext cx="2998545" cy="342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b="true" sz="2200" spc="44">
                <a:solidFill>
                  <a:srgbClr val="FFFFFF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열 가공 시 팩틴 파괴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018771" y="9645668"/>
            <a:ext cx="2822481" cy="342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b="true" sz="2200" spc="44">
                <a:solidFill>
                  <a:srgbClr val="FFFFFF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비표준 일반 농산물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018771" y="8375423"/>
            <a:ext cx="1411240" cy="342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b="true" sz="2200" spc="44">
                <a:solidFill>
                  <a:srgbClr val="FFFFFF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일반 수준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0">
            <a:off x="16715934" y="3943655"/>
            <a:ext cx="4958158" cy="6703989"/>
          </a:xfrm>
          <a:custGeom>
            <a:avLst/>
            <a:gdLst/>
            <a:ahLst/>
            <a:cxnLst/>
            <a:rect r="r" b="b" t="t" l="l"/>
            <a:pathLst>
              <a:path h="6703989" w="4958158">
                <a:moveTo>
                  <a:pt x="0" y="0"/>
                </a:moveTo>
                <a:lnTo>
                  <a:pt x="4958159" y="0"/>
                </a:lnTo>
                <a:lnTo>
                  <a:pt x="4958159" y="6703989"/>
                </a:lnTo>
                <a:lnTo>
                  <a:pt x="0" y="670398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0171"/>
            <a:ext cx="18288000" cy="10327341"/>
          </a:xfrm>
          <a:custGeom>
            <a:avLst/>
            <a:gdLst/>
            <a:ahLst/>
            <a:cxnLst/>
            <a:rect r="r" b="b" t="t" l="l"/>
            <a:pathLst>
              <a:path h="10327341" w="18288000">
                <a:moveTo>
                  <a:pt x="0" y="0"/>
                </a:moveTo>
                <a:lnTo>
                  <a:pt x="18288000" y="0"/>
                </a:lnTo>
                <a:lnTo>
                  <a:pt x="18288000" y="10327342"/>
                </a:lnTo>
                <a:lnTo>
                  <a:pt x="0" y="103273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343419"/>
            <a:ext cx="5889812" cy="10327341"/>
          </a:xfrm>
          <a:custGeom>
            <a:avLst/>
            <a:gdLst/>
            <a:ahLst/>
            <a:cxnLst/>
            <a:rect r="r" b="b" t="t" l="l"/>
            <a:pathLst>
              <a:path h="10327341" w="5889812">
                <a:moveTo>
                  <a:pt x="0" y="0"/>
                </a:moveTo>
                <a:lnTo>
                  <a:pt x="5889812" y="0"/>
                </a:lnTo>
                <a:lnTo>
                  <a:pt x="5889812" y="10327341"/>
                </a:lnTo>
                <a:lnTo>
                  <a:pt x="0" y="103273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45459" y="2776818"/>
            <a:ext cx="887506" cy="860612"/>
          </a:xfrm>
          <a:custGeom>
            <a:avLst/>
            <a:gdLst/>
            <a:ahLst/>
            <a:cxnLst/>
            <a:rect r="r" b="b" t="t" l="l"/>
            <a:pathLst>
              <a:path h="860612" w="887506">
                <a:moveTo>
                  <a:pt x="0" y="0"/>
                </a:moveTo>
                <a:lnTo>
                  <a:pt x="887506" y="0"/>
                </a:lnTo>
                <a:lnTo>
                  <a:pt x="887506" y="860611"/>
                </a:lnTo>
                <a:lnTo>
                  <a:pt x="0" y="8606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56031" y="2746076"/>
            <a:ext cx="2372651" cy="99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4"/>
              </a:lnSpc>
            </a:pPr>
            <a:r>
              <a:rPr lang="en-US" sz="5794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50,000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88522" y="3814780"/>
            <a:ext cx="2230563" cy="666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1"/>
              </a:lnSpc>
            </a:pPr>
            <a:r>
              <a:rPr lang="en-US" sz="1986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100% of the total</a:t>
            </a:r>
          </a:p>
          <a:p>
            <a:pPr algn="l">
              <a:lnSpc>
                <a:spcPts val="2781"/>
              </a:lnSpc>
            </a:pPr>
            <a:r>
              <a:rPr lang="en-US" sz="1986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price of the hotel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45459" y="5143500"/>
            <a:ext cx="887506" cy="860612"/>
          </a:xfrm>
          <a:custGeom>
            <a:avLst/>
            <a:gdLst/>
            <a:ahLst/>
            <a:cxnLst/>
            <a:rect r="r" b="b" t="t" l="l"/>
            <a:pathLst>
              <a:path h="860612" w="887506">
                <a:moveTo>
                  <a:pt x="0" y="0"/>
                </a:moveTo>
                <a:lnTo>
                  <a:pt x="887506" y="0"/>
                </a:lnTo>
                <a:lnTo>
                  <a:pt x="887506" y="860612"/>
                </a:lnTo>
                <a:lnTo>
                  <a:pt x="0" y="8606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10933" y="5014252"/>
            <a:ext cx="3466672" cy="99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4"/>
              </a:lnSpc>
            </a:pPr>
            <a:r>
              <a:rPr lang="en-US" sz="5794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USD 1000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76794" y="6082955"/>
            <a:ext cx="3403407" cy="666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1"/>
              </a:lnSpc>
            </a:pPr>
            <a:r>
              <a:rPr lang="en-US" sz="1986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www.reallygreatsite.com</a:t>
            </a:r>
          </a:p>
          <a:p>
            <a:pPr algn="l">
              <a:lnSpc>
                <a:spcPts val="2781"/>
              </a:lnSpc>
            </a:pPr>
            <a:r>
              <a:rPr lang="en-US" sz="1986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hello@reallygreatsite.com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430306" y="6864724"/>
            <a:ext cx="5459506" cy="215153"/>
          </a:xfrm>
          <a:custGeom>
            <a:avLst/>
            <a:gdLst/>
            <a:ahLst/>
            <a:cxnLst/>
            <a:rect r="r" b="b" t="t" l="l"/>
            <a:pathLst>
              <a:path h="215153" w="5459506">
                <a:moveTo>
                  <a:pt x="0" y="0"/>
                </a:moveTo>
                <a:lnTo>
                  <a:pt x="5459506" y="0"/>
                </a:lnTo>
                <a:lnTo>
                  <a:pt x="5459506" y="215152"/>
                </a:lnTo>
                <a:lnTo>
                  <a:pt x="0" y="2151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45459" y="7295029"/>
            <a:ext cx="887506" cy="860612"/>
          </a:xfrm>
          <a:custGeom>
            <a:avLst/>
            <a:gdLst/>
            <a:ahLst/>
            <a:cxnLst/>
            <a:rect r="r" b="b" t="t" l="l"/>
            <a:pathLst>
              <a:path h="860612" w="887506">
                <a:moveTo>
                  <a:pt x="0" y="0"/>
                </a:moveTo>
                <a:lnTo>
                  <a:pt x="887506" y="0"/>
                </a:lnTo>
                <a:lnTo>
                  <a:pt x="887506" y="860612"/>
                </a:lnTo>
                <a:lnTo>
                  <a:pt x="0" y="86061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826452" y="7206822"/>
            <a:ext cx="3235634" cy="99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4"/>
              </a:lnSpc>
            </a:pPr>
            <a:r>
              <a:rPr lang="en-US" sz="5794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$123.456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76384" y="8290646"/>
            <a:ext cx="3444450" cy="666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1"/>
              </a:lnSpc>
            </a:pPr>
            <a:r>
              <a:rPr lang="en-US" sz="1986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+123-456-7890</a:t>
            </a:r>
          </a:p>
          <a:p>
            <a:pPr algn="l">
              <a:lnSpc>
                <a:spcPts val="2781"/>
              </a:lnSpc>
            </a:pPr>
            <a:r>
              <a:rPr lang="en-US" sz="1986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123 Anywhere St., Any City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6324729" y="2561665"/>
            <a:ext cx="1963271" cy="1721224"/>
          </a:xfrm>
          <a:custGeom>
            <a:avLst/>
            <a:gdLst/>
            <a:ahLst/>
            <a:cxnLst/>
            <a:rect r="r" b="b" t="t" l="l"/>
            <a:pathLst>
              <a:path h="1721224" w="1963271">
                <a:moveTo>
                  <a:pt x="0" y="0"/>
                </a:moveTo>
                <a:lnTo>
                  <a:pt x="1963271" y="0"/>
                </a:lnTo>
                <a:lnTo>
                  <a:pt x="1963271" y="1721223"/>
                </a:lnTo>
                <a:lnTo>
                  <a:pt x="0" y="172122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-421875">
            <a:off x="16939102" y="3245449"/>
            <a:ext cx="1285304" cy="543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441" b="true">
                <a:solidFill>
                  <a:srgbClr val="38B6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GMP</a:t>
            </a:r>
          </a:p>
          <a:p>
            <a:pPr algn="l">
              <a:lnSpc>
                <a:spcPts val="1441"/>
              </a:lnSpc>
            </a:pPr>
            <a:r>
              <a:rPr lang="en-US" sz="1441" b="true">
                <a:solidFill>
                  <a:srgbClr val="38B6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CLASS 100,000</a:t>
            </a:r>
          </a:p>
          <a:p>
            <a:pPr algn="l">
              <a:lnSpc>
                <a:spcPts val="1441"/>
              </a:lnSpc>
            </a:pPr>
            <a:r>
              <a:rPr lang="en-US" sz="1441" b="true">
                <a:solidFill>
                  <a:srgbClr val="38B6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CLEAN ROOM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2841941" y="5358653"/>
            <a:ext cx="874059" cy="2151529"/>
          </a:xfrm>
          <a:custGeom>
            <a:avLst/>
            <a:gdLst/>
            <a:ahLst/>
            <a:cxnLst/>
            <a:rect r="r" b="b" t="t" l="l"/>
            <a:pathLst>
              <a:path h="2151529" w="874059">
                <a:moveTo>
                  <a:pt x="0" y="0"/>
                </a:moveTo>
                <a:lnTo>
                  <a:pt x="874059" y="0"/>
                </a:lnTo>
                <a:lnTo>
                  <a:pt x="874059" y="2151529"/>
                </a:lnTo>
                <a:lnTo>
                  <a:pt x="0" y="215152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361459" y="5358653"/>
            <a:ext cx="887506" cy="1721224"/>
          </a:xfrm>
          <a:custGeom>
            <a:avLst/>
            <a:gdLst/>
            <a:ahLst/>
            <a:cxnLst/>
            <a:rect r="r" b="b" t="t" l="l"/>
            <a:pathLst>
              <a:path h="1721224" w="887506">
                <a:moveTo>
                  <a:pt x="0" y="0"/>
                </a:moveTo>
                <a:lnTo>
                  <a:pt x="887506" y="0"/>
                </a:lnTo>
                <a:lnTo>
                  <a:pt x="887506" y="1721223"/>
                </a:lnTo>
                <a:lnTo>
                  <a:pt x="0" y="172122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5432612" y="3207124"/>
            <a:ext cx="7207624" cy="6884894"/>
          </a:xfrm>
          <a:custGeom>
            <a:avLst/>
            <a:gdLst/>
            <a:ahLst/>
            <a:cxnLst/>
            <a:rect r="r" b="b" t="t" l="l"/>
            <a:pathLst>
              <a:path h="6884894" w="7207624">
                <a:moveTo>
                  <a:pt x="0" y="0"/>
                </a:moveTo>
                <a:lnTo>
                  <a:pt x="7207623" y="0"/>
                </a:lnTo>
                <a:lnTo>
                  <a:pt x="7207623" y="6884894"/>
                </a:lnTo>
                <a:lnTo>
                  <a:pt x="0" y="688489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5880976" y="5358653"/>
            <a:ext cx="2407024" cy="4948518"/>
          </a:xfrm>
          <a:custGeom>
            <a:avLst/>
            <a:gdLst/>
            <a:ahLst/>
            <a:cxnLst/>
            <a:rect r="r" b="b" t="t" l="l"/>
            <a:pathLst>
              <a:path h="4948518" w="2407024">
                <a:moveTo>
                  <a:pt x="0" y="0"/>
                </a:moveTo>
                <a:lnTo>
                  <a:pt x="2407024" y="0"/>
                </a:lnTo>
                <a:lnTo>
                  <a:pt x="2407024" y="4948518"/>
                </a:lnTo>
                <a:lnTo>
                  <a:pt x="0" y="494851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5432612" y="410135"/>
            <a:ext cx="7207624" cy="860612"/>
          </a:xfrm>
          <a:custGeom>
            <a:avLst/>
            <a:gdLst/>
            <a:ahLst/>
            <a:cxnLst/>
            <a:rect r="r" b="b" t="t" l="l"/>
            <a:pathLst>
              <a:path h="860612" w="7207624">
                <a:moveTo>
                  <a:pt x="0" y="0"/>
                </a:moveTo>
                <a:lnTo>
                  <a:pt x="7207623" y="0"/>
                </a:lnTo>
                <a:lnTo>
                  <a:pt x="7207623" y="860612"/>
                </a:lnTo>
                <a:lnTo>
                  <a:pt x="0" y="86061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264675" y="249211"/>
            <a:ext cx="17758650" cy="1387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b="true" sz="8000" spc="-400">
                <a:solidFill>
                  <a:srgbClr val="FFFFFF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의약품 생산 수준의 GMP 10만급 청정 인프라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215153" y="2346512"/>
            <a:ext cx="5889812" cy="2581835"/>
          </a:xfrm>
          <a:custGeom>
            <a:avLst/>
            <a:gdLst/>
            <a:ahLst/>
            <a:cxnLst/>
            <a:rect r="r" b="b" t="t" l="l"/>
            <a:pathLst>
              <a:path h="2581835" w="5889812">
                <a:moveTo>
                  <a:pt x="0" y="0"/>
                </a:moveTo>
                <a:lnTo>
                  <a:pt x="5889812" y="0"/>
                </a:lnTo>
                <a:lnTo>
                  <a:pt x="5889812" y="2581835"/>
                </a:lnTo>
                <a:lnTo>
                  <a:pt x="0" y="258183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645459" y="2776818"/>
            <a:ext cx="887506" cy="1075765"/>
          </a:xfrm>
          <a:custGeom>
            <a:avLst/>
            <a:gdLst/>
            <a:ahLst/>
            <a:cxnLst/>
            <a:rect r="r" b="b" t="t" l="l"/>
            <a:pathLst>
              <a:path h="1075765" w="887506">
                <a:moveTo>
                  <a:pt x="0" y="0"/>
                </a:moveTo>
                <a:lnTo>
                  <a:pt x="887506" y="0"/>
                </a:lnTo>
                <a:lnTo>
                  <a:pt x="887506" y="1075764"/>
                </a:lnTo>
                <a:lnTo>
                  <a:pt x="0" y="107576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842868" y="3725354"/>
            <a:ext cx="4808718" cy="772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FFFFFF"/>
                </a:solidFill>
                <a:latin typeface="Paperlogy Semi-Bold"/>
                <a:ea typeface="Paperlogy Semi-Bold"/>
                <a:cs typeface="Paperlogy Semi-Bold"/>
                <a:sym typeface="Paperlogy Semi-Bold"/>
              </a:rPr>
              <a:t>50,000㎡(약 1만 5천 평) 가공 기지 :</a:t>
            </a:r>
          </a:p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FFFFFF"/>
                </a:solidFill>
                <a:latin typeface="Paperlogy Semi-Bold"/>
                <a:ea typeface="Paperlogy Semi-Bold"/>
                <a:cs typeface="Paperlogy Semi-Bold"/>
                <a:sym typeface="Paperlogy Semi-Bold"/>
              </a:rPr>
              <a:t>아시아 최대급 첨단 바이오 가공 단지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215153" y="4498041"/>
            <a:ext cx="5889812" cy="2366682"/>
          </a:xfrm>
          <a:custGeom>
            <a:avLst/>
            <a:gdLst/>
            <a:ahLst/>
            <a:cxnLst/>
            <a:rect r="r" b="b" t="t" l="l"/>
            <a:pathLst>
              <a:path h="2366682" w="5889812">
                <a:moveTo>
                  <a:pt x="0" y="0"/>
                </a:moveTo>
                <a:lnTo>
                  <a:pt x="5889812" y="0"/>
                </a:lnTo>
                <a:lnTo>
                  <a:pt x="5889812" y="2366683"/>
                </a:lnTo>
                <a:lnTo>
                  <a:pt x="0" y="236668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645459" y="5143500"/>
            <a:ext cx="887506" cy="860612"/>
          </a:xfrm>
          <a:custGeom>
            <a:avLst/>
            <a:gdLst/>
            <a:ahLst/>
            <a:cxnLst/>
            <a:rect r="r" b="b" t="t" l="l"/>
            <a:pathLst>
              <a:path h="860612" w="887506">
                <a:moveTo>
                  <a:pt x="0" y="0"/>
                </a:moveTo>
                <a:lnTo>
                  <a:pt x="887506" y="0"/>
                </a:lnTo>
                <a:lnTo>
                  <a:pt x="887506" y="860612"/>
                </a:lnTo>
                <a:lnTo>
                  <a:pt x="0" y="86061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842868" y="5968212"/>
            <a:ext cx="4994837" cy="772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b="true">
                <a:solidFill>
                  <a:srgbClr val="FFFFFF"/>
                </a:solidFill>
                <a:latin typeface="Paperlogy Semi-Bold"/>
                <a:ea typeface="Paperlogy Semi-Bold"/>
                <a:cs typeface="Paperlogy Semi-Bold"/>
                <a:sym typeface="Paperlogy Semi-Bold"/>
              </a:rPr>
              <a:t>GMP 10만급 무균 청정구역 :</a:t>
            </a:r>
          </a:p>
          <a:p>
            <a:pPr algn="l">
              <a:lnSpc>
                <a:spcPts val="3080"/>
              </a:lnSpc>
            </a:pPr>
            <a:r>
              <a:rPr lang="en-US" sz="2200" b="true">
                <a:solidFill>
                  <a:srgbClr val="FFFFFF"/>
                </a:solidFill>
                <a:latin typeface="Paperlogy Semi-Bold"/>
                <a:ea typeface="Paperlogy Semi-Bold"/>
                <a:cs typeface="Paperlogy Semi-Bold"/>
                <a:sym typeface="Paperlogy Semi-Bold"/>
              </a:rPr>
              <a:t>의약품 수준의 정밀 청정 구역 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215153" y="7079876"/>
            <a:ext cx="5889812" cy="2366682"/>
          </a:xfrm>
          <a:custGeom>
            <a:avLst/>
            <a:gdLst/>
            <a:ahLst/>
            <a:cxnLst/>
            <a:rect r="r" b="b" t="t" l="l"/>
            <a:pathLst>
              <a:path h="2366682" w="5889812">
                <a:moveTo>
                  <a:pt x="0" y="0"/>
                </a:moveTo>
                <a:lnTo>
                  <a:pt x="5889812" y="0"/>
                </a:lnTo>
                <a:lnTo>
                  <a:pt x="5889812" y="2366683"/>
                </a:lnTo>
                <a:lnTo>
                  <a:pt x="0" y="2366683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645459" y="7295029"/>
            <a:ext cx="887506" cy="1075765"/>
          </a:xfrm>
          <a:custGeom>
            <a:avLst/>
            <a:gdLst/>
            <a:ahLst/>
            <a:cxnLst/>
            <a:rect r="r" b="b" t="t" l="l"/>
            <a:pathLst>
              <a:path h="1075765" w="887506">
                <a:moveTo>
                  <a:pt x="0" y="0"/>
                </a:moveTo>
                <a:lnTo>
                  <a:pt x="887506" y="0"/>
                </a:lnTo>
                <a:lnTo>
                  <a:pt x="887506" y="1075765"/>
                </a:lnTo>
                <a:lnTo>
                  <a:pt x="0" y="107576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842868" y="8267847"/>
            <a:ext cx="6391885" cy="772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b="true">
                <a:solidFill>
                  <a:srgbClr val="FFFFFF"/>
                </a:solidFill>
                <a:latin typeface="Paperlogy Semi-Bold"/>
                <a:ea typeface="Paperlogy Semi-Bold"/>
                <a:cs typeface="Paperlogy Semi-Bold"/>
                <a:sym typeface="Paperlogy Semi-Bold"/>
              </a:rPr>
              <a:t>수욕(Water Bath) 저온 추출 :</a:t>
            </a:r>
          </a:p>
          <a:p>
            <a:pPr algn="l">
              <a:lnSpc>
                <a:spcPts val="3080"/>
              </a:lnSpc>
            </a:pPr>
            <a:r>
              <a:rPr lang="en-US" sz="2200" b="true">
                <a:solidFill>
                  <a:srgbClr val="FFFFFF"/>
                </a:solidFill>
                <a:latin typeface="Paperlogy Semi-Bold"/>
                <a:ea typeface="Paperlogy Semi-Bold"/>
                <a:cs typeface="Paperlogy Semi-Bold"/>
                <a:sym typeface="Paperlogy Semi-Bold"/>
              </a:rPr>
              <a:t>열 손실을 방지하고 유효 성분을 100% 보존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828800" y="2880471"/>
            <a:ext cx="2864687" cy="820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44"/>
              </a:lnSpc>
            </a:pPr>
            <a:r>
              <a:rPr lang="en-US" sz="4817" spc="-240" b="true">
                <a:solidFill>
                  <a:srgbClr val="F45624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 </a:t>
            </a:r>
            <a:r>
              <a:rPr lang="en-US" b="true" sz="4817" spc="-240">
                <a:solidFill>
                  <a:srgbClr val="F45624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50,000㎡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828800" y="5066283"/>
            <a:ext cx="3438144" cy="79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59"/>
              </a:lnSpc>
            </a:pPr>
            <a:r>
              <a:rPr lang="en-US" b="true" sz="4685" spc="-234">
                <a:solidFill>
                  <a:srgbClr val="F45624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GMP 10만급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792224" y="7413823"/>
            <a:ext cx="3218688" cy="694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0"/>
              </a:lnSpc>
            </a:pPr>
            <a:r>
              <a:rPr lang="en-US" b="true" sz="3957" spc="-197">
                <a:solidFill>
                  <a:srgbClr val="F45624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저온 수욕 추출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440209" y="1627214"/>
            <a:ext cx="7407582" cy="771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1"/>
              </a:lnSpc>
              <a:spcBef>
                <a:spcPct val="0"/>
              </a:spcBef>
            </a:pPr>
            <a:r>
              <a:rPr lang="en-US" b="true" sz="5000" spc="100">
                <a:solidFill>
                  <a:srgbClr val="F45624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BAIKEJIAN COMPANY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77" r="0" b="-927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396820" y="2446891"/>
            <a:ext cx="4004914" cy="6523153"/>
            <a:chOff x="0" y="0"/>
            <a:chExt cx="1054792" cy="171803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54792" cy="1718032"/>
            </a:xfrm>
            <a:custGeom>
              <a:avLst/>
              <a:gdLst/>
              <a:ahLst/>
              <a:cxnLst/>
              <a:rect r="r" b="b" t="t" l="l"/>
              <a:pathLst>
                <a:path h="1718032" w="1054792">
                  <a:moveTo>
                    <a:pt x="98588" y="0"/>
                  </a:moveTo>
                  <a:lnTo>
                    <a:pt x="956204" y="0"/>
                  </a:lnTo>
                  <a:cubicBezTo>
                    <a:pt x="1010653" y="0"/>
                    <a:pt x="1054792" y="44140"/>
                    <a:pt x="1054792" y="98588"/>
                  </a:cubicBezTo>
                  <a:lnTo>
                    <a:pt x="1054792" y="1619444"/>
                  </a:lnTo>
                  <a:cubicBezTo>
                    <a:pt x="1054792" y="1645591"/>
                    <a:pt x="1044405" y="1670667"/>
                    <a:pt x="1025916" y="1689156"/>
                  </a:cubicBezTo>
                  <a:cubicBezTo>
                    <a:pt x="1007428" y="1707645"/>
                    <a:pt x="982351" y="1718032"/>
                    <a:pt x="956204" y="1718032"/>
                  </a:cubicBezTo>
                  <a:lnTo>
                    <a:pt x="98588" y="1718032"/>
                  </a:lnTo>
                  <a:cubicBezTo>
                    <a:pt x="72441" y="1718032"/>
                    <a:pt x="47365" y="1707645"/>
                    <a:pt x="28876" y="1689156"/>
                  </a:cubicBezTo>
                  <a:cubicBezTo>
                    <a:pt x="10387" y="1670667"/>
                    <a:pt x="0" y="1645591"/>
                    <a:pt x="0" y="1619444"/>
                  </a:cubicBezTo>
                  <a:lnTo>
                    <a:pt x="0" y="98588"/>
                  </a:lnTo>
                  <a:cubicBezTo>
                    <a:pt x="0" y="72441"/>
                    <a:pt x="10387" y="47365"/>
                    <a:pt x="28876" y="28876"/>
                  </a:cubicBezTo>
                  <a:cubicBezTo>
                    <a:pt x="47365" y="10387"/>
                    <a:pt x="72441" y="0"/>
                    <a:pt x="98588" y="0"/>
                  </a:cubicBezTo>
                  <a:close/>
                </a:path>
              </a:pathLst>
            </a:custGeom>
            <a:ln w="38100" cap="rnd">
              <a:solidFill>
                <a:srgbClr val="F850F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054792" cy="17180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57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4249460" y="2524756"/>
            <a:ext cx="1773033" cy="5067229"/>
          </a:xfrm>
          <a:custGeom>
            <a:avLst/>
            <a:gdLst/>
            <a:ahLst/>
            <a:cxnLst/>
            <a:rect r="r" b="b" t="t" l="l"/>
            <a:pathLst>
              <a:path h="5067229" w="1773033">
                <a:moveTo>
                  <a:pt x="0" y="0"/>
                </a:moveTo>
                <a:lnTo>
                  <a:pt x="1773033" y="0"/>
                </a:lnTo>
                <a:lnTo>
                  <a:pt x="1773033" y="5067229"/>
                </a:lnTo>
                <a:lnTo>
                  <a:pt x="0" y="50672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2256" t="0" r="-62089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13490">
            <a:off x="16049798" y="3473904"/>
            <a:ext cx="1266536" cy="3806222"/>
          </a:xfrm>
          <a:custGeom>
            <a:avLst/>
            <a:gdLst/>
            <a:ahLst/>
            <a:cxnLst/>
            <a:rect r="r" b="b" t="t" l="l"/>
            <a:pathLst>
              <a:path h="3806222" w="1266536">
                <a:moveTo>
                  <a:pt x="0" y="0"/>
                </a:moveTo>
                <a:lnTo>
                  <a:pt x="1266536" y="0"/>
                </a:lnTo>
                <a:lnTo>
                  <a:pt x="1266536" y="3806222"/>
                </a:lnTo>
                <a:lnTo>
                  <a:pt x="0" y="38062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7453" t="-31292" r="-91658" b="-3382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3744635" y="2446891"/>
            <a:ext cx="4004914" cy="6523153"/>
            <a:chOff x="0" y="0"/>
            <a:chExt cx="1054792" cy="17180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54792" cy="1718032"/>
            </a:xfrm>
            <a:custGeom>
              <a:avLst/>
              <a:gdLst/>
              <a:ahLst/>
              <a:cxnLst/>
              <a:rect r="r" b="b" t="t" l="l"/>
              <a:pathLst>
                <a:path h="1718032" w="1054792">
                  <a:moveTo>
                    <a:pt x="98588" y="0"/>
                  </a:moveTo>
                  <a:lnTo>
                    <a:pt x="956204" y="0"/>
                  </a:lnTo>
                  <a:cubicBezTo>
                    <a:pt x="1010653" y="0"/>
                    <a:pt x="1054792" y="44140"/>
                    <a:pt x="1054792" y="98588"/>
                  </a:cubicBezTo>
                  <a:lnTo>
                    <a:pt x="1054792" y="1619444"/>
                  </a:lnTo>
                  <a:cubicBezTo>
                    <a:pt x="1054792" y="1645591"/>
                    <a:pt x="1044405" y="1670667"/>
                    <a:pt x="1025916" y="1689156"/>
                  </a:cubicBezTo>
                  <a:cubicBezTo>
                    <a:pt x="1007428" y="1707645"/>
                    <a:pt x="982351" y="1718032"/>
                    <a:pt x="956204" y="1718032"/>
                  </a:cubicBezTo>
                  <a:lnTo>
                    <a:pt x="98588" y="1718032"/>
                  </a:lnTo>
                  <a:cubicBezTo>
                    <a:pt x="72441" y="1718032"/>
                    <a:pt x="47365" y="1707645"/>
                    <a:pt x="28876" y="1689156"/>
                  </a:cubicBezTo>
                  <a:cubicBezTo>
                    <a:pt x="10387" y="1670667"/>
                    <a:pt x="0" y="1645591"/>
                    <a:pt x="0" y="1619444"/>
                  </a:cubicBezTo>
                  <a:lnTo>
                    <a:pt x="0" y="98588"/>
                  </a:lnTo>
                  <a:cubicBezTo>
                    <a:pt x="0" y="72441"/>
                    <a:pt x="10387" y="47365"/>
                    <a:pt x="28876" y="28876"/>
                  </a:cubicBezTo>
                  <a:cubicBezTo>
                    <a:pt x="47365" y="10387"/>
                    <a:pt x="72441" y="0"/>
                    <a:pt x="98588" y="0"/>
                  </a:cubicBezTo>
                  <a:close/>
                </a:path>
              </a:pathLst>
            </a:custGeom>
            <a:ln w="95250" cap="rnd">
              <a:gradFill>
                <a:gsLst>
                  <a:gs pos="0">
                    <a:srgbClr val="9100D4">
                      <a:alpha val="100000"/>
                    </a:srgbClr>
                  </a:gs>
                  <a:gs pos="50000">
                    <a:srgbClr val="AE00FF">
                      <a:alpha val="100000"/>
                    </a:srgbClr>
                  </a:gs>
                  <a:gs pos="100000">
                    <a:srgbClr val="BD34F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054792" cy="17180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57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9622380" y="6864724"/>
            <a:ext cx="3281082" cy="215153"/>
          </a:xfrm>
          <a:custGeom>
            <a:avLst/>
            <a:gdLst/>
            <a:ahLst/>
            <a:cxnLst/>
            <a:rect r="r" b="b" t="t" l="l"/>
            <a:pathLst>
              <a:path h="215153" w="3281082">
                <a:moveTo>
                  <a:pt x="0" y="0"/>
                </a:moveTo>
                <a:lnTo>
                  <a:pt x="3281083" y="0"/>
                </a:lnTo>
                <a:lnTo>
                  <a:pt x="3281083" y="215152"/>
                </a:lnTo>
                <a:lnTo>
                  <a:pt x="0" y="2151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841073" y="7725335"/>
            <a:ext cx="443753" cy="430306"/>
          </a:xfrm>
          <a:custGeom>
            <a:avLst/>
            <a:gdLst/>
            <a:ahLst/>
            <a:cxnLst/>
            <a:rect r="r" b="b" t="t" l="l"/>
            <a:pathLst>
              <a:path h="430306" w="443753">
                <a:moveTo>
                  <a:pt x="0" y="0"/>
                </a:moveTo>
                <a:lnTo>
                  <a:pt x="443753" y="0"/>
                </a:lnTo>
                <a:lnTo>
                  <a:pt x="443753" y="430306"/>
                </a:lnTo>
                <a:lnTo>
                  <a:pt x="0" y="4303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AutoShape 13" id="13"/>
          <p:cNvSpPr/>
          <p:nvPr/>
        </p:nvSpPr>
        <p:spPr>
          <a:xfrm>
            <a:off x="14173260" y="7079876"/>
            <a:ext cx="3343158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14619114" y="2160612"/>
            <a:ext cx="2186172" cy="697797"/>
            <a:chOff x="0" y="0"/>
            <a:chExt cx="575782" cy="18378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75782" cy="183782"/>
            </a:xfrm>
            <a:custGeom>
              <a:avLst/>
              <a:gdLst/>
              <a:ahLst/>
              <a:cxnLst/>
              <a:rect r="r" b="b" t="t" l="l"/>
              <a:pathLst>
                <a:path h="183782" w="575782">
                  <a:moveTo>
                    <a:pt x="91891" y="0"/>
                  </a:moveTo>
                  <a:lnTo>
                    <a:pt x="483891" y="0"/>
                  </a:lnTo>
                  <a:cubicBezTo>
                    <a:pt x="534641" y="0"/>
                    <a:pt x="575782" y="41141"/>
                    <a:pt x="575782" y="91891"/>
                  </a:cubicBezTo>
                  <a:lnTo>
                    <a:pt x="575782" y="91891"/>
                  </a:lnTo>
                  <a:cubicBezTo>
                    <a:pt x="575782" y="116262"/>
                    <a:pt x="566101" y="139635"/>
                    <a:pt x="548868" y="156868"/>
                  </a:cubicBezTo>
                  <a:cubicBezTo>
                    <a:pt x="531635" y="174101"/>
                    <a:pt x="508262" y="183782"/>
                    <a:pt x="483891" y="183782"/>
                  </a:cubicBezTo>
                  <a:lnTo>
                    <a:pt x="91891" y="183782"/>
                  </a:lnTo>
                  <a:cubicBezTo>
                    <a:pt x="41141" y="183782"/>
                    <a:pt x="0" y="142641"/>
                    <a:pt x="0" y="91891"/>
                  </a:cubicBezTo>
                  <a:lnTo>
                    <a:pt x="0" y="91891"/>
                  </a:lnTo>
                  <a:cubicBezTo>
                    <a:pt x="0" y="41141"/>
                    <a:pt x="41141" y="0"/>
                    <a:pt x="91891" y="0"/>
                  </a:cubicBezTo>
                  <a:close/>
                </a:path>
              </a:pathLst>
            </a:custGeom>
            <a:solidFill>
              <a:srgbClr val="000000"/>
            </a:solidFill>
            <a:ln w="95250" cap="rnd">
              <a:gradFill>
                <a:gsLst>
                  <a:gs pos="0">
                    <a:srgbClr val="9100D4">
                      <a:alpha val="100000"/>
                    </a:srgbClr>
                  </a:gs>
                  <a:gs pos="50000">
                    <a:srgbClr val="AE00FF">
                      <a:alpha val="100000"/>
                    </a:srgbClr>
                  </a:gs>
                  <a:gs pos="100000">
                    <a:srgbClr val="BD34F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575782" cy="183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57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1772634">
            <a:off x="10534503" y="2580869"/>
            <a:ext cx="1683181" cy="5058334"/>
          </a:xfrm>
          <a:custGeom>
            <a:avLst/>
            <a:gdLst/>
            <a:ahLst/>
            <a:cxnLst/>
            <a:rect r="r" b="b" t="t" l="l"/>
            <a:pathLst>
              <a:path h="5058334" w="1683181">
                <a:moveTo>
                  <a:pt x="0" y="0"/>
                </a:moveTo>
                <a:lnTo>
                  <a:pt x="1683181" y="0"/>
                </a:lnTo>
                <a:lnTo>
                  <a:pt x="1683181" y="5058333"/>
                </a:lnTo>
                <a:lnTo>
                  <a:pt x="0" y="50583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7453" t="-31292" r="-91658" b="-3382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9968078" y="6293264"/>
            <a:ext cx="2198284" cy="527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74"/>
              </a:lnSpc>
            </a:pPr>
            <a:r>
              <a:rPr lang="en-US" sz="3478" b="true">
                <a:solidFill>
                  <a:srgbClr val="F850F8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오크라 블룸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97042" y="7346150"/>
            <a:ext cx="2871621" cy="30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7"/>
              </a:lnSpc>
            </a:pPr>
            <a:r>
              <a:rPr lang="en-US" sz="2047" b="true">
                <a:solidFill>
                  <a:srgbClr val="F850F8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:  8배 고농축 오크라 98%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07017" y="7769542"/>
            <a:ext cx="3096445" cy="30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7"/>
              </a:lnSpc>
            </a:pPr>
            <a:r>
              <a:rPr lang="en-US" sz="2047" b="true">
                <a:solidFill>
                  <a:srgbClr val="F850F8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➡  위장관 점막 코팅 &amp; 활력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581390" y="8223178"/>
            <a:ext cx="1635775" cy="30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7"/>
              </a:lnSpc>
            </a:pPr>
            <a:r>
              <a:rPr lang="en-US" sz="2047" b="true">
                <a:solidFill>
                  <a:srgbClr val="F850F8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(3g 포켓 스틱)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226540" y="2312679"/>
            <a:ext cx="971319" cy="384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50"/>
              </a:lnSpc>
            </a:pPr>
            <a:r>
              <a:rPr lang="en-US" b="true" sz="2458">
                <a:solidFill>
                  <a:srgbClr val="FFFFFF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★ 추천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547425" y="6263022"/>
            <a:ext cx="2198284" cy="527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74"/>
              </a:lnSpc>
            </a:pPr>
            <a:r>
              <a:rPr lang="en-US" b="true" sz="3478">
                <a:solidFill>
                  <a:srgbClr val="FFFFFF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부스터 믹스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343863" y="7331028"/>
            <a:ext cx="2736673" cy="30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7"/>
              </a:lnSpc>
            </a:pPr>
            <a:r>
              <a:rPr lang="en-US" b="true" sz="2047">
                <a:solidFill>
                  <a:srgbClr val="FFFFFF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:  풀컵 1포 + 블룸 1~2포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547425" y="7769542"/>
            <a:ext cx="2697609" cy="30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7"/>
              </a:lnSpc>
            </a:pPr>
            <a:r>
              <a:rPr lang="en-US" b="true" sz="2047">
                <a:solidFill>
                  <a:srgbClr val="FFFFFF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비움과 코팅의 동시 완성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919718" y="8223178"/>
            <a:ext cx="1763348" cy="30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7"/>
              </a:lnSpc>
            </a:pPr>
            <a:r>
              <a:rPr lang="en-US" b="true" sz="2047">
                <a:solidFill>
                  <a:srgbClr val="FFFFFF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(부스터 칵테일)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173260" y="5777672"/>
            <a:ext cx="1183528" cy="42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799" b="true">
                <a:solidFill>
                  <a:srgbClr val="FFFFFF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[시너저]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720585" y="5777672"/>
            <a:ext cx="956464" cy="42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799" b="true">
                <a:solidFill>
                  <a:srgbClr val="F850F8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[보호]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898147" y="341591"/>
            <a:ext cx="12491706" cy="1542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1"/>
              </a:lnSpc>
            </a:pPr>
            <a:r>
              <a:rPr lang="en-US" sz="9999" b="true">
                <a:solidFill>
                  <a:srgbClr val="FFFFFF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 맞춤형 웰니스 제안 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1166871">
            <a:off x="2106759" y="2626595"/>
            <a:ext cx="1516251" cy="4723448"/>
          </a:xfrm>
          <a:custGeom>
            <a:avLst/>
            <a:gdLst/>
            <a:ahLst/>
            <a:cxnLst/>
            <a:rect r="r" b="b" t="t" l="l"/>
            <a:pathLst>
              <a:path h="4723448" w="1516251">
                <a:moveTo>
                  <a:pt x="0" y="0"/>
                </a:moveTo>
                <a:lnTo>
                  <a:pt x="1516252" y="0"/>
                </a:lnTo>
                <a:lnTo>
                  <a:pt x="1516252" y="4723448"/>
                </a:lnTo>
                <a:lnTo>
                  <a:pt x="0" y="47234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66440" t="-15746" r="-74487" b="-21592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485860" y="2446891"/>
            <a:ext cx="4004914" cy="6523153"/>
            <a:chOff x="0" y="0"/>
            <a:chExt cx="1054792" cy="171803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54792" cy="1718032"/>
            </a:xfrm>
            <a:custGeom>
              <a:avLst/>
              <a:gdLst/>
              <a:ahLst/>
              <a:cxnLst/>
              <a:rect r="r" b="b" t="t" l="l"/>
              <a:pathLst>
                <a:path h="1718032" w="1054792">
                  <a:moveTo>
                    <a:pt x="98588" y="0"/>
                  </a:moveTo>
                  <a:lnTo>
                    <a:pt x="956204" y="0"/>
                  </a:lnTo>
                  <a:cubicBezTo>
                    <a:pt x="1010653" y="0"/>
                    <a:pt x="1054792" y="44140"/>
                    <a:pt x="1054792" y="98588"/>
                  </a:cubicBezTo>
                  <a:lnTo>
                    <a:pt x="1054792" y="1619444"/>
                  </a:lnTo>
                  <a:cubicBezTo>
                    <a:pt x="1054792" y="1645591"/>
                    <a:pt x="1044405" y="1670667"/>
                    <a:pt x="1025916" y="1689156"/>
                  </a:cubicBezTo>
                  <a:cubicBezTo>
                    <a:pt x="1007428" y="1707645"/>
                    <a:pt x="982351" y="1718032"/>
                    <a:pt x="956204" y="1718032"/>
                  </a:cubicBezTo>
                  <a:lnTo>
                    <a:pt x="98588" y="1718032"/>
                  </a:lnTo>
                  <a:cubicBezTo>
                    <a:pt x="72441" y="1718032"/>
                    <a:pt x="47365" y="1707645"/>
                    <a:pt x="28876" y="1689156"/>
                  </a:cubicBezTo>
                  <a:cubicBezTo>
                    <a:pt x="10387" y="1670667"/>
                    <a:pt x="0" y="1645591"/>
                    <a:pt x="0" y="1619444"/>
                  </a:cubicBezTo>
                  <a:lnTo>
                    <a:pt x="0" y="98588"/>
                  </a:lnTo>
                  <a:cubicBezTo>
                    <a:pt x="0" y="72441"/>
                    <a:pt x="10387" y="47365"/>
                    <a:pt x="28876" y="28876"/>
                  </a:cubicBezTo>
                  <a:cubicBezTo>
                    <a:pt x="47365" y="10387"/>
                    <a:pt x="72441" y="0"/>
                    <a:pt x="98588" y="0"/>
                  </a:cubicBezTo>
                  <a:close/>
                </a:path>
              </a:pathLst>
            </a:custGeom>
            <a:ln w="38100" cap="rnd">
              <a:solidFill>
                <a:srgbClr val="F2C54D"/>
              </a:solidFill>
              <a:prstDash val="solid"/>
              <a:round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1054792" cy="17180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57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4832814" y="2446891"/>
            <a:ext cx="4004914" cy="6523153"/>
            <a:chOff x="0" y="0"/>
            <a:chExt cx="1054792" cy="171803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54792" cy="1718032"/>
            </a:xfrm>
            <a:custGeom>
              <a:avLst/>
              <a:gdLst/>
              <a:ahLst/>
              <a:cxnLst/>
              <a:rect r="r" b="b" t="t" l="l"/>
              <a:pathLst>
                <a:path h="1718032" w="1054792">
                  <a:moveTo>
                    <a:pt x="98588" y="0"/>
                  </a:moveTo>
                  <a:lnTo>
                    <a:pt x="956204" y="0"/>
                  </a:lnTo>
                  <a:cubicBezTo>
                    <a:pt x="1010653" y="0"/>
                    <a:pt x="1054792" y="44140"/>
                    <a:pt x="1054792" y="98588"/>
                  </a:cubicBezTo>
                  <a:lnTo>
                    <a:pt x="1054792" y="1619444"/>
                  </a:lnTo>
                  <a:cubicBezTo>
                    <a:pt x="1054792" y="1645591"/>
                    <a:pt x="1044405" y="1670667"/>
                    <a:pt x="1025916" y="1689156"/>
                  </a:cubicBezTo>
                  <a:cubicBezTo>
                    <a:pt x="1007428" y="1707645"/>
                    <a:pt x="982351" y="1718032"/>
                    <a:pt x="956204" y="1718032"/>
                  </a:cubicBezTo>
                  <a:lnTo>
                    <a:pt x="98588" y="1718032"/>
                  </a:lnTo>
                  <a:cubicBezTo>
                    <a:pt x="72441" y="1718032"/>
                    <a:pt x="47365" y="1707645"/>
                    <a:pt x="28876" y="1689156"/>
                  </a:cubicBezTo>
                  <a:cubicBezTo>
                    <a:pt x="10387" y="1670667"/>
                    <a:pt x="0" y="1645591"/>
                    <a:pt x="0" y="1619444"/>
                  </a:cubicBezTo>
                  <a:lnTo>
                    <a:pt x="0" y="98588"/>
                  </a:lnTo>
                  <a:cubicBezTo>
                    <a:pt x="0" y="72441"/>
                    <a:pt x="10387" y="47365"/>
                    <a:pt x="28876" y="28876"/>
                  </a:cubicBezTo>
                  <a:cubicBezTo>
                    <a:pt x="47365" y="10387"/>
                    <a:pt x="72441" y="0"/>
                    <a:pt x="98588" y="0"/>
                  </a:cubicBezTo>
                  <a:close/>
                </a:path>
              </a:pathLst>
            </a:custGeom>
            <a:ln w="38100" cap="rnd">
              <a:solidFill>
                <a:srgbClr val="00F5C8"/>
              </a:solidFill>
              <a:prstDash val="solid"/>
              <a:round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1054792" cy="17180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57"/>
                </a:lnSpc>
              </a:pP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769493" y="6864724"/>
            <a:ext cx="3496235" cy="215153"/>
          </a:xfrm>
          <a:custGeom>
            <a:avLst/>
            <a:gdLst/>
            <a:ahLst/>
            <a:cxnLst/>
            <a:rect r="r" b="b" t="t" l="l"/>
            <a:pathLst>
              <a:path h="215153" w="3496235">
                <a:moveTo>
                  <a:pt x="0" y="0"/>
                </a:moveTo>
                <a:lnTo>
                  <a:pt x="3496236" y="0"/>
                </a:lnTo>
                <a:lnTo>
                  <a:pt x="3496236" y="215152"/>
                </a:lnTo>
                <a:lnTo>
                  <a:pt x="0" y="21515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1310460">
            <a:off x="5920018" y="2543900"/>
            <a:ext cx="2186565" cy="5155750"/>
          </a:xfrm>
          <a:custGeom>
            <a:avLst/>
            <a:gdLst/>
            <a:ahLst/>
            <a:cxnLst/>
            <a:rect r="r" b="b" t="t" l="l"/>
            <a:pathLst>
              <a:path h="5155750" w="2186565">
                <a:moveTo>
                  <a:pt x="0" y="0"/>
                </a:moveTo>
                <a:lnTo>
                  <a:pt x="2186566" y="0"/>
                </a:lnTo>
                <a:lnTo>
                  <a:pt x="2186566" y="5155750"/>
                </a:lnTo>
                <a:lnTo>
                  <a:pt x="0" y="51557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2513" t="-4847" r="-50188" b="-4119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4911187" y="6864724"/>
            <a:ext cx="3496235" cy="215153"/>
          </a:xfrm>
          <a:custGeom>
            <a:avLst/>
            <a:gdLst/>
            <a:ahLst/>
            <a:cxnLst/>
            <a:rect r="r" b="b" t="t" l="l"/>
            <a:pathLst>
              <a:path h="215153" w="3496235">
                <a:moveTo>
                  <a:pt x="0" y="0"/>
                </a:moveTo>
                <a:lnTo>
                  <a:pt x="3496236" y="0"/>
                </a:lnTo>
                <a:lnTo>
                  <a:pt x="3496236" y="215152"/>
                </a:lnTo>
                <a:lnTo>
                  <a:pt x="0" y="21515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1004531" y="6293264"/>
            <a:ext cx="2617264" cy="527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74"/>
              </a:lnSpc>
            </a:pPr>
            <a:r>
              <a:rPr lang="en-US" sz="3478" b="true">
                <a:solidFill>
                  <a:srgbClr val="F2C54D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소이 펩타이드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87988" y="7315907"/>
            <a:ext cx="2650349" cy="30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7"/>
              </a:lnSpc>
            </a:pPr>
            <a:r>
              <a:rPr lang="en-US" sz="2047" b="true">
                <a:solidFill>
                  <a:srgbClr val="F2C54D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:  500Da 이하 초저분자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92782" y="7769542"/>
            <a:ext cx="2591070" cy="30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7"/>
              </a:lnSpc>
            </a:pPr>
            <a:r>
              <a:rPr lang="en-US" sz="2047" b="true">
                <a:solidFill>
                  <a:srgbClr val="F2C54D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➡  세포 영양 즉시 충전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827916" y="8223178"/>
            <a:ext cx="1320804" cy="30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7"/>
              </a:lnSpc>
            </a:pPr>
            <a:r>
              <a:rPr lang="en-US" sz="2047" b="true">
                <a:solidFill>
                  <a:srgbClr val="F2C54D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(식전 30분)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5342216" y="6293264"/>
            <a:ext cx="2198284" cy="527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74"/>
              </a:lnSpc>
            </a:pPr>
            <a:r>
              <a:rPr lang="en-US" sz="3478" b="true">
                <a:solidFill>
                  <a:srgbClr val="00F5C8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풀컵 오크라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5083470" y="7346150"/>
            <a:ext cx="3345855" cy="30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7"/>
              </a:lnSpc>
            </a:pPr>
            <a:r>
              <a:rPr lang="en-US" sz="2047" b="true">
                <a:solidFill>
                  <a:srgbClr val="00F5C8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: 차전자피 &amp; 오크라꽃 수분 젤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5342216" y="7769542"/>
            <a:ext cx="2026963" cy="30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7"/>
              </a:lnSpc>
            </a:pPr>
            <a:r>
              <a:rPr lang="en-US" sz="2047" b="true">
                <a:solidFill>
                  <a:srgbClr val="00F5C8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➡  장내 딥 클렌징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710439" y="8223178"/>
            <a:ext cx="2042807" cy="30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7"/>
              </a:lnSpc>
            </a:pPr>
            <a:r>
              <a:rPr lang="en-US" sz="2047" b="true">
                <a:solidFill>
                  <a:srgbClr val="00F5C8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(15g 와이드 스틱)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5101375" y="5777672"/>
            <a:ext cx="940947" cy="42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799" b="true">
                <a:solidFill>
                  <a:srgbClr val="00F5C8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[비움]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769493" y="5777672"/>
            <a:ext cx="977384" cy="42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799" b="true">
                <a:solidFill>
                  <a:srgbClr val="F2C54D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[채움]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77" r="0" b="-92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039035" y="7295029"/>
            <a:ext cx="1532965" cy="1506071"/>
          </a:xfrm>
          <a:custGeom>
            <a:avLst/>
            <a:gdLst/>
            <a:ahLst/>
            <a:cxnLst/>
            <a:rect r="r" b="b" t="t" l="l"/>
            <a:pathLst>
              <a:path h="1506071" w="1532965">
                <a:moveTo>
                  <a:pt x="0" y="0"/>
                </a:moveTo>
                <a:lnTo>
                  <a:pt x="1532965" y="0"/>
                </a:lnTo>
                <a:lnTo>
                  <a:pt x="1532965" y="1506071"/>
                </a:lnTo>
                <a:lnTo>
                  <a:pt x="0" y="15060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306671" y="8155641"/>
            <a:ext cx="228600" cy="1506071"/>
          </a:xfrm>
          <a:custGeom>
            <a:avLst/>
            <a:gdLst/>
            <a:ahLst/>
            <a:cxnLst/>
            <a:rect r="r" b="b" t="t" l="l"/>
            <a:pathLst>
              <a:path h="1506071" w="228600">
                <a:moveTo>
                  <a:pt x="0" y="0"/>
                </a:moveTo>
                <a:lnTo>
                  <a:pt x="228600" y="0"/>
                </a:lnTo>
                <a:lnTo>
                  <a:pt x="228600" y="1506071"/>
                </a:lnTo>
                <a:lnTo>
                  <a:pt x="0" y="15060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269941" y="7295029"/>
            <a:ext cx="1748118" cy="1506071"/>
          </a:xfrm>
          <a:custGeom>
            <a:avLst/>
            <a:gdLst/>
            <a:ahLst/>
            <a:cxnLst/>
            <a:rect r="r" b="b" t="t" l="l"/>
            <a:pathLst>
              <a:path h="1506071" w="1748118">
                <a:moveTo>
                  <a:pt x="0" y="0"/>
                </a:moveTo>
                <a:lnTo>
                  <a:pt x="1748118" y="0"/>
                </a:lnTo>
                <a:lnTo>
                  <a:pt x="1748118" y="1506071"/>
                </a:lnTo>
                <a:lnTo>
                  <a:pt x="0" y="15060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752729" y="8155641"/>
            <a:ext cx="228600" cy="1506071"/>
          </a:xfrm>
          <a:custGeom>
            <a:avLst/>
            <a:gdLst/>
            <a:ahLst/>
            <a:cxnLst/>
            <a:rect r="r" b="b" t="t" l="l"/>
            <a:pathLst>
              <a:path h="1506071" w="228600">
                <a:moveTo>
                  <a:pt x="0" y="0"/>
                </a:moveTo>
                <a:lnTo>
                  <a:pt x="228600" y="0"/>
                </a:lnTo>
                <a:lnTo>
                  <a:pt x="228600" y="1506071"/>
                </a:lnTo>
                <a:lnTo>
                  <a:pt x="0" y="15060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716000" y="7295029"/>
            <a:ext cx="1532965" cy="1506071"/>
          </a:xfrm>
          <a:custGeom>
            <a:avLst/>
            <a:gdLst/>
            <a:ahLst/>
            <a:cxnLst/>
            <a:rect r="r" b="b" t="t" l="l"/>
            <a:pathLst>
              <a:path h="1506071" w="1532965">
                <a:moveTo>
                  <a:pt x="0" y="0"/>
                </a:moveTo>
                <a:lnTo>
                  <a:pt x="1532965" y="0"/>
                </a:lnTo>
                <a:lnTo>
                  <a:pt x="1532965" y="1506071"/>
                </a:lnTo>
                <a:lnTo>
                  <a:pt x="0" y="15060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723592" y="3196019"/>
            <a:ext cx="4163852" cy="4300426"/>
            <a:chOff x="0" y="0"/>
            <a:chExt cx="6350000" cy="6558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74930" y="74930"/>
              <a:ext cx="6200140" cy="6408420"/>
            </a:xfrm>
            <a:custGeom>
              <a:avLst/>
              <a:gdLst/>
              <a:ahLst/>
              <a:cxnLst/>
              <a:rect r="r" b="b" t="t" l="l"/>
              <a:pathLst>
                <a:path h="6408420" w="6200140">
                  <a:moveTo>
                    <a:pt x="6200140" y="5351780"/>
                  </a:moveTo>
                  <a:cubicBezTo>
                    <a:pt x="6200140" y="5935980"/>
                    <a:pt x="5726430" y="6408420"/>
                    <a:pt x="5143500" y="6408420"/>
                  </a:cubicBezTo>
                  <a:lnTo>
                    <a:pt x="1056640" y="6408420"/>
                  </a:lnTo>
                  <a:cubicBezTo>
                    <a:pt x="472440" y="6408420"/>
                    <a:pt x="0" y="5934710"/>
                    <a:pt x="0" y="5351780"/>
                  </a:cubicBezTo>
                  <a:lnTo>
                    <a:pt x="0" y="1056640"/>
                  </a:lnTo>
                  <a:cubicBezTo>
                    <a:pt x="0" y="472440"/>
                    <a:pt x="473710" y="0"/>
                    <a:pt x="1056640" y="0"/>
                  </a:cubicBezTo>
                  <a:lnTo>
                    <a:pt x="5143500" y="0"/>
                  </a:lnTo>
                  <a:cubicBezTo>
                    <a:pt x="5727700" y="0"/>
                    <a:pt x="6200140" y="473710"/>
                    <a:pt x="6200140" y="1056640"/>
                  </a:cubicBezTo>
                  <a:lnTo>
                    <a:pt x="6200140" y="5351780"/>
                  </a:lnTo>
                  <a:close/>
                </a:path>
              </a:pathLst>
            </a:custGeom>
            <a:blipFill>
              <a:blip r:embed="rId8"/>
              <a:stretch>
                <a:fillRect l="-1679" t="0" r="-1679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0" cy="6558280"/>
            </a:xfrm>
            <a:custGeom>
              <a:avLst/>
              <a:gdLst/>
              <a:ahLst/>
              <a:cxnLst/>
              <a:rect r="r" b="b" t="t" l="l"/>
              <a:pathLst>
                <a:path h="6558280" w="6350000">
                  <a:moveTo>
                    <a:pt x="5218430" y="6558280"/>
                  </a:moveTo>
                  <a:lnTo>
                    <a:pt x="1131570" y="6558280"/>
                  </a:lnTo>
                  <a:cubicBezTo>
                    <a:pt x="508000" y="6558280"/>
                    <a:pt x="0" y="6050280"/>
                    <a:pt x="0" y="5426710"/>
                  </a:cubicBezTo>
                  <a:lnTo>
                    <a:pt x="0" y="1131570"/>
                  </a:lnTo>
                  <a:cubicBezTo>
                    <a:pt x="0" y="508000"/>
                    <a:pt x="508000" y="0"/>
                    <a:pt x="1131570" y="0"/>
                  </a:cubicBezTo>
                  <a:lnTo>
                    <a:pt x="5218430" y="0"/>
                  </a:lnTo>
                  <a:cubicBezTo>
                    <a:pt x="5842000" y="0"/>
                    <a:pt x="6350000" y="508000"/>
                    <a:pt x="6350000" y="1131570"/>
                  </a:cubicBezTo>
                  <a:lnTo>
                    <a:pt x="6350000" y="5425440"/>
                  </a:lnTo>
                  <a:cubicBezTo>
                    <a:pt x="6350000" y="6050280"/>
                    <a:pt x="5842000" y="6558280"/>
                    <a:pt x="5218430" y="6558280"/>
                  </a:cubicBezTo>
                  <a:close/>
                  <a:moveTo>
                    <a:pt x="1131570" y="149860"/>
                  </a:moveTo>
                  <a:cubicBezTo>
                    <a:pt x="590550" y="149860"/>
                    <a:pt x="149860" y="590550"/>
                    <a:pt x="149860" y="1131570"/>
                  </a:cubicBezTo>
                  <a:lnTo>
                    <a:pt x="149860" y="5425440"/>
                  </a:lnTo>
                  <a:cubicBezTo>
                    <a:pt x="149860" y="5966460"/>
                    <a:pt x="590550" y="6407150"/>
                    <a:pt x="1131570" y="6407150"/>
                  </a:cubicBezTo>
                  <a:lnTo>
                    <a:pt x="5218430" y="6407150"/>
                  </a:lnTo>
                  <a:cubicBezTo>
                    <a:pt x="5759450" y="6407150"/>
                    <a:pt x="6200140" y="5966460"/>
                    <a:pt x="6200140" y="5425440"/>
                  </a:cubicBezTo>
                  <a:lnTo>
                    <a:pt x="6200140" y="1131570"/>
                  </a:lnTo>
                  <a:cubicBezTo>
                    <a:pt x="6200140" y="590550"/>
                    <a:pt x="5759450" y="149860"/>
                    <a:pt x="5218430" y="149860"/>
                  </a:cubicBezTo>
                  <a:lnTo>
                    <a:pt x="1131570" y="149860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7176671" y="3196019"/>
            <a:ext cx="4163852" cy="4300426"/>
            <a:chOff x="0" y="0"/>
            <a:chExt cx="6350000" cy="6558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74930" y="74930"/>
              <a:ext cx="6200140" cy="6408420"/>
            </a:xfrm>
            <a:custGeom>
              <a:avLst/>
              <a:gdLst/>
              <a:ahLst/>
              <a:cxnLst/>
              <a:rect r="r" b="b" t="t" l="l"/>
              <a:pathLst>
                <a:path h="6408420" w="6200140">
                  <a:moveTo>
                    <a:pt x="6200140" y="5351780"/>
                  </a:moveTo>
                  <a:cubicBezTo>
                    <a:pt x="6200140" y="5935980"/>
                    <a:pt x="5726430" y="6408420"/>
                    <a:pt x="5143500" y="6408420"/>
                  </a:cubicBezTo>
                  <a:lnTo>
                    <a:pt x="1056640" y="6408420"/>
                  </a:lnTo>
                  <a:cubicBezTo>
                    <a:pt x="472440" y="6408420"/>
                    <a:pt x="0" y="5934710"/>
                    <a:pt x="0" y="5351780"/>
                  </a:cubicBezTo>
                  <a:lnTo>
                    <a:pt x="0" y="1056640"/>
                  </a:lnTo>
                  <a:cubicBezTo>
                    <a:pt x="0" y="472440"/>
                    <a:pt x="473710" y="0"/>
                    <a:pt x="1056640" y="0"/>
                  </a:cubicBezTo>
                  <a:lnTo>
                    <a:pt x="5143500" y="0"/>
                  </a:lnTo>
                  <a:cubicBezTo>
                    <a:pt x="5727700" y="0"/>
                    <a:pt x="6200140" y="473710"/>
                    <a:pt x="6200140" y="1056640"/>
                  </a:cubicBezTo>
                  <a:lnTo>
                    <a:pt x="6200140" y="5351780"/>
                  </a:lnTo>
                  <a:close/>
                </a:path>
              </a:pathLst>
            </a:custGeom>
            <a:blipFill>
              <a:blip r:embed="rId9"/>
              <a:stretch>
                <a:fillRect l="-1679" t="0" r="-1679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558280"/>
            </a:xfrm>
            <a:custGeom>
              <a:avLst/>
              <a:gdLst/>
              <a:ahLst/>
              <a:cxnLst/>
              <a:rect r="r" b="b" t="t" l="l"/>
              <a:pathLst>
                <a:path h="6558280" w="6350000">
                  <a:moveTo>
                    <a:pt x="5218430" y="6558280"/>
                  </a:moveTo>
                  <a:lnTo>
                    <a:pt x="1131570" y="6558280"/>
                  </a:lnTo>
                  <a:cubicBezTo>
                    <a:pt x="508000" y="6558280"/>
                    <a:pt x="0" y="6050280"/>
                    <a:pt x="0" y="5426710"/>
                  </a:cubicBezTo>
                  <a:lnTo>
                    <a:pt x="0" y="1131570"/>
                  </a:lnTo>
                  <a:cubicBezTo>
                    <a:pt x="0" y="508000"/>
                    <a:pt x="508000" y="0"/>
                    <a:pt x="1131570" y="0"/>
                  </a:cubicBezTo>
                  <a:lnTo>
                    <a:pt x="5218430" y="0"/>
                  </a:lnTo>
                  <a:cubicBezTo>
                    <a:pt x="5842000" y="0"/>
                    <a:pt x="6350000" y="508000"/>
                    <a:pt x="6350000" y="1131570"/>
                  </a:cubicBezTo>
                  <a:lnTo>
                    <a:pt x="6350000" y="5425440"/>
                  </a:lnTo>
                  <a:cubicBezTo>
                    <a:pt x="6350000" y="6050280"/>
                    <a:pt x="5842000" y="6558280"/>
                    <a:pt x="5218430" y="6558280"/>
                  </a:cubicBezTo>
                  <a:close/>
                  <a:moveTo>
                    <a:pt x="1131570" y="149860"/>
                  </a:moveTo>
                  <a:cubicBezTo>
                    <a:pt x="590550" y="149860"/>
                    <a:pt x="149860" y="590550"/>
                    <a:pt x="149860" y="1131570"/>
                  </a:cubicBezTo>
                  <a:lnTo>
                    <a:pt x="149860" y="5425440"/>
                  </a:lnTo>
                  <a:cubicBezTo>
                    <a:pt x="149860" y="5966460"/>
                    <a:pt x="590550" y="6407150"/>
                    <a:pt x="1131570" y="6407150"/>
                  </a:cubicBezTo>
                  <a:lnTo>
                    <a:pt x="5218430" y="6407150"/>
                  </a:lnTo>
                  <a:cubicBezTo>
                    <a:pt x="5759450" y="6407150"/>
                    <a:pt x="6200140" y="5966460"/>
                    <a:pt x="6200140" y="5425440"/>
                  </a:cubicBezTo>
                  <a:lnTo>
                    <a:pt x="6200140" y="1131570"/>
                  </a:lnTo>
                  <a:cubicBezTo>
                    <a:pt x="6200140" y="590550"/>
                    <a:pt x="5759450" y="149860"/>
                    <a:pt x="5218430" y="149860"/>
                  </a:cubicBezTo>
                  <a:lnTo>
                    <a:pt x="1131570" y="149860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12626398" y="3196019"/>
            <a:ext cx="4163852" cy="4300426"/>
            <a:chOff x="0" y="0"/>
            <a:chExt cx="6350000" cy="65582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74930" y="74930"/>
              <a:ext cx="6200140" cy="6408420"/>
            </a:xfrm>
            <a:custGeom>
              <a:avLst/>
              <a:gdLst/>
              <a:ahLst/>
              <a:cxnLst/>
              <a:rect r="r" b="b" t="t" l="l"/>
              <a:pathLst>
                <a:path h="6408420" w="6200140">
                  <a:moveTo>
                    <a:pt x="6200140" y="5351780"/>
                  </a:moveTo>
                  <a:cubicBezTo>
                    <a:pt x="6200140" y="5935980"/>
                    <a:pt x="5726430" y="6408420"/>
                    <a:pt x="5143500" y="6408420"/>
                  </a:cubicBezTo>
                  <a:lnTo>
                    <a:pt x="1056640" y="6408420"/>
                  </a:lnTo>
                  <a:cubicBezTo>
                    <a:pt x="472440" y="6408420"/>
                    <a:pt x="0" y="5934710"/>
                    <a:pt x="0" y="5351780"/>
                  </a:cubicBezTo>
                  <a:lnTo>
                    <a:pt x="0" y="1056640"/>
                  </a:lnTo>
                  <a:cubicBezTo>
                    <a:pt x="0" y="472440"/>
                    <a:pt x="473710" y="0"/>
                    <a:pt x="1056640" y="0"/>
                  </a:cubicBezTo>
                  <a:lnTo>
                    <a:pt x="5143500" y="0"/>
                  </a:lnTo>
                  <a:cubicBezTo>
                    <a:pt x="5727700" y="0"/>
                    <a:pt x="6200140" y="473710"/>
                    <a:pt x="6200140" y="1056640"/>
                  </a:cubicBezTo>
                  <a:lnTo>
                    <a:pt x="6200140" y="5351780"/>
                  </a:lnTo>
                  <a:close/>
                </a:path>
              </a:pathLst>
            </a:custGeom>
            <a:blipFill>
              <a:blip r:embed="rId10"/>
              <a:stretch>
                <a:fillRect l="-1679" t="0" r="-1679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50000" cy="6558280"/>
            </a:xfrm>
            <a:custGeom>
              <a:avLst/>
              <a:gdLst/>
              <a:ahLst/>
              <a:cxnLst/>
              <a:rect r="r" b="b" t="t" l="l"/>
              <a:pathLst>
                <a:path h="6558280" w="6350000">
                  <a:moveTo>
                    <a:pt x="5218430" y="6558280"/>
                  </a:moveTo>
                  <a:lnTo>
                    <a:pt x="1131570" y="6558280"/>
                  </a:lnTo>
                  <a:cubicBezTo>
                    <a:pt x="508000" y="6558280"/>
                    <a:pt x="0" y="6050280"/>
                    <a:pt x="0" y="5426710"/>
                  </a:cubicBezTo>
                  <a:lnTo>
                    <a:pt x="0" y="1131570"/>
                  </a:lnTo>
                  <a:cubicBezTo>
                    <a:pt x="0" y="508000"/>
                    <a:pt x="508000" y="0"/>
                    <a:pt x="1131570" y="0"/>
                  </a:cubicBezTo>
                  <a:lnTo>
                    <a:pt x="5218430" y="0"/>
                  </a:lnTo>
                  <a:cubicBezTo>
                    <a:pt x="5842000" y="0"/>
                    <a:pt x="6350000" y="508000"/>
                    <a:pt x="6350000" y="1131570"/>
                  </a:cubicBezTo>
                  <a:lnTo>
                    <a:pt x="6350000" y="5425440"/>
                  </a:lnTo>
                  <a:cubicBezTo>
                    <a:pt x="6350000" y="6050280"/>
                    <a:pt x="5842000" y="6558280"/>
                    <a:pt x="5218430" y="6558280"/>
                  </a:cubicBezTo>
                  <a:close/>
                  <a:moveTo>
                    <a:pt x="1131570" y="149860"/>
                  </a:moveTo>
                  <a:cubicBezTo>
                    <a:pt x="590550" y="149860"/>
                    <a:pt x="149860" y="590550"/>
                    <a:pt x="149860" y="1131570"/>
                  </a:cubicBezTo>
                  <a:lnTo>
                    <a:pt x="149860" y="5425440"/>
                  </a:lnTo>
                  <a:cubicBezTo>
                    <a:pt x="149860" y="5966460"/>
                    <a:pt x="590550" y="6407150"/>
                    <a:pt x="1131570" y="6407150"/>
                  </a:cubicBezTo>
                  <a:lnTo>
                    <a:pt x="5218430" y="6407150"/>
                  </a:lnTo>
                  <a:cubicBezTo>
                    <a:pt x="5759450" y="6407150"/>
                    <a:pt x="6200140" y="5966460"/>
                    <a:pt x="6200140" y="5425440"/>
                  </a:cubicBezTo>
                  <a:lnTo>
                    <a:pt x="6200140" y="1131570"/>
                  </a:lnTo>
                  <a:cubicBezTo>
                    <a:pt x="6200140" y="590550"/>
                    <a:pt x="5759450" y="149860"/>
                    <a:pt x="5218430" y="149860"/>
                  </a:cubicBezTo>
                  <a:lnTo>
                    <a:pt x="1131570" y="149860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312228" y="220272"/>
            <a:ext cx="17663544" cy="2604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68"/>
              </a:lnSpc>
            </a:pPr>
            <a:r>
              <a:rPr lang="en-US" b="true" sz="9000" spc="-268">
                <a:solidFill>
                  <a:srgbClr val="FFFFFF">
                    <a:alpha val="94902"/>
                  </a:srgbClr>
                </a:solidFill>
                <a:latin typeface="Paperlogy Heavy"/>
                <a:ea typeface="Paperlogy Heavy"/>
                <a:cs typeface="Paperlogy Heavy"/>
                <a:sym typeface="Paperlogy Heavy"/>
              </a:rPr>
              <a:t>세포의 회복을 넘어,</a:t>
            </a:r>
          </a:p>
          <a:p>
            <a:pPr algn="ctr">
              <a:lnSpc>
                <a:spcPts val="10168"/>
              </a:lnSpc>
            </a:pPr>
            <a:r>
              <a:rPr lang="en-US" b="true" sz="9000" spc="-268">
                <a:solidFill>
                  <a:srgbClr val="FFFFFF">
                    <a:alpha val="94902"/>
                  </a:srgbClr>
                </a:solidFill>
                <a:latin typeface="Paperlogy Heavy"/>
                <a:ea typeface="Paperlogy Heavy"/>
                <a:cs typeface="Paperlogy Heavy"/>
                <a:sym typeface="Paperlogy Heavy"/>
              </a:rPr>
              <a:t>프리미엄 웰니스 라이프를 리드하다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595172" y="8631450"/>
            <a:ext cx="2604201" cy="390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0"/>
              </a:lnSpc>
            </a:pPr>
            <a:r>
              <a:rPr lang="en-US" sz="2575" b="true">
                <a:solidFill>
                  <a:srgbClr val="F0C56B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• 독보적 원천 기술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461714" y="9166287"/>
            <a:ext cx="2871118" cy="619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FFFFFF">
                    <a:alpha val="94902"/>
                  </a:srgbClr>
                </a:solidFill>
                <a:latin typeface="Paperlogy Semi-Bold"/>
                <a:ea typeface="Paperlogy Semi-Bold"/>
                <a:cs typeface="Paperlogy Semi-Bold"/>
                <a:sym typeface="Paperlogy Semi-Bold"/>
              </a:rPr>
              <a:t>500Da 초저분자 과학 &amp;</a:t>
            </a:r>
          </a:p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FFFFFF">
                    <a:alpha val="94902"/>
                  </a:srgbClr>
                </a:solidFill>
                <a:latin typeface="Paperlogy Semi-Bold"/>
                <a:ea typeface="Paperlogy Semi-Bold"/>
                <a:cs typeface="Paperlogy Semi-Bold"/>
                <a:sym typeface="Paperlogy Semi-Bold"/>
              </a:rPr>
              <a:t>고농축 오크라 추출 기술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591956" y="8631450"/>
            <a:ext cx="3111946" cy="390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0"/>
              </a:lnSpc>
            </a:pPr>
            <a:r>
              <a:rPr lang="en-US" sz="2575" b="true">
                <a:solidFill>
                  <a:srgbClr val="F0C56B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• 검증된 글로벌 인프라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993190" y="9166287"/>
            <a:ext cx="2530814" cy="619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FFFFFF">
                    <a:alpha val="94902"/>
                  </a:srgbClr>
                </a:solidFill>
                <a:latin typeface="Paperlogy Semi-Bold"/>
                <a:ea typeface="Paperlogy Semi-Bold"/>
                <a:cs typeface="Paperlogy Semi-Bold"/>
                <a:sym typeface="Paperlogy Semi-Bold"/>
              </a:rPr>
              <a:t>84만 평 친환경 단지 &amp;</a:t>
            </a:r>
          </a:p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FFFFFF">
                    <a:alpha val="94902"/>
                  </a:srgbClr>
                </a:solidFill>
                <a:latin typeface="Paperlogy Semi-Bold"/>
                <a:ea typeface="Paperlogy Semi-Bold"/>
                <a:cs typeface="Paperlogy Semi-Bold"/>
                <a:sym typeface="Paperlogy Semi-Bold"/>
              </a:rPr>
              <a:t>의약품급 GMP 생산망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869401" y="8631450"/>
            <a:ext cx="3111946" cy="390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0"/>
              </a:lnSpc>
            </a:pPr>
            <a:r>
              <a:rPr lang="en-US" sz="2575" b="true">
                <a:solidFill>
                  <a:srgbClr val="F0C56B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• 지속 가능한 건강수명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210633" y="9166287"/>
            <a:ext cx="2429482" cy="619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FFFFFF">
                    <a:alpha val="94902"/>
                  </a:srgbClr>
                </a:solidFill>
                <a:latin typeface="Paperlogy Semi-Bold"/>
                <a:ea typeface="Paperlogy Semi-Bold"/>
                <a:cs typeface="Paperlogy Semi-Bold"/>
                <a:sym typeface="Paperlogy Semi-Bold"/>
              </a:rPr>
              <a:t>아프지 않고 생기 넘치는</a:t>
            </a:r>
          </a:p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FFFFFF">
                    <a:alpha val="94902"/>
                  </a:srgbClr>
                </a:solidFill>
                <a:latin typeface="Paperlogy Semi-Bold"/>
                <a:ea typeface="Paperlogy Semi-Bold"/>
                <a:cs typeface="Paperlogy Semi-Bold"/>
                <a:sym typeface="Paperlogy Semi-Bold"/>
              </a:rPr>
              <a:t>삶의 회복을 약속하다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DAHWikfG6tU</dc:identifier>
  <dcterms:modified xsi:type="dcterms:W3CDTF">2011-08-01T06:04:30Z</dcterms:modified>
  <cp:revision>1</cp:revision>
  <dc:title>L.ReMeTTRe_NEW_PPT</dc:title>
</cp:coreProperties>
</file>