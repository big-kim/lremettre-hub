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8" r:id="rId3"/>
    <p:sldId id="292" r:id="rId4"/>
    <p:sldId id="293" r:id="rId5"/>
    <p:sldId id="269" r:id="rId6"/>
    <p:sldId id="5153" r:id="rId7"/>
    <p:sldId id="5131" r:id="rId8"/>
    <p:sldId id="5147" r:id="rId9"/>
    <p:sldId id="5149" r:id="rId10"/>
    <p:sldId id="5148" r:id="rId11"/>
    <p:sldId id="272" r:id="rId12"/>
    <p:sldId id="324" r:id="rId13"/>
    <p:sldId id="339" r:id="rId14"/>
    <p:sldId id="340" r:id="rId15"/>
    <p:sldId id="341" r:id="rId16"/>
    <p:sldId id="325" r:id="rId17"/>
    <p:sldId id="5141" r:id="rId18"/>
    <p:sldId id="274" r:id="rId19"/>
    <p:sldId id="276" r:id="rId20"/>
    <p:sldId id="282" r:id="rId21"/>
    <p:sldId id="286" r:id="rId22"/>
    <p:sldId id="288" r:id="rId23"/>
    <p:sldId id="337" r:id="rId24"/>
    <p:sldId id="5150" r:id="rId25"/>
    <p:sldId id="5151" r:id="rId26"/>
    <p:sldId id="267" r:id="rId27"/>
    <p:sldId id="261" r:id="rId28"/>
    <p:sldId id="262" r:id="rId29"/>
    <p:sldId id="5136" r:id="rId30"/>
    <p:sldId id="263" r:id="rId31"/>
    <p:sldId id="310" r:id="rId32"/>
    <p:sldId id="5143" r:id="rId33"/>
    <p:sldId id="5144" r:id="rId34"/>
    <p:sldId id="5129" r:id="rId35"/>
    <p:sldId id="5121" r:id="rId36"/>
    <p:sldId id="287" r:id="rId37"/>
    <p:sldId id="5139" r:id="rId38"/>
    <p:sldId id="5140" r:id="rId39"/>
    <p:sldId id="294" r:id="rId40"/>
    <p:sldId id="5142" r:id="rId41"/>
    <p:sldId id="260" r:id="rId42"/>
    <p:sldId id="5154" r:id="rId43"/>
    <p:sldId id="5125" r:id="rId44"/>
    <p:sldId id="5155" r:id="rId45"/>
    <p:sldId id="270" r:id="rId46"/>
    <p:sldId id="5127" r:id="rId47"/>
    <p:sldId id="295" r:id="rId48"/>
    <p:sldId id="296" r:id="rId49"/>
    <p:sldId id="5138" r:id="rId50"/>
    <p:sldId id="5111" r:id="rId51"/>
  </p:sldIdLst>
  <p:sldSz cx="17556163" cy="9875838"/>
  <p:notesSz cx="6889750" cy="100218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14E4F"/>
    <a:srgbClr val="0A0A0A"/>
    <a:srgbClr val="0000FF"/>
    <a:srgbClr val="4C69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BFB450-726A-4966-B2E6-8DF20065FD82}" v="7" dt="2026-10-09T00:08:29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4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0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태열 김" userId="0424ab1c239219f8" providerId="LiveId" clId="{E1F6D77F-5BA6-4772-8432-681ABD4FF610}"/>
    <pc:docChg chg="undo custSel addSld delSld modSld sldOrd">
      <pc:chgData name="태열 김" userId="0424ab1c239219f8" providerId="LiveId" clId="{E1F6D77F-5BA6-4772-8432-681ABD4FF610}" dt="2026-10-09T00:10:31.838" v="84" actId="14100"/>
      <pc:docMkLst>
        <pc:docMk/>
      </pc:docMkLst>
      <pc:sldChg chg="add">
        <pc:chgData name="태열 김" userId="0424ab1c239219f8" providerId="LiveId" clId="{E1F6D77F-5BA6-4772-8432-681ABD4FF610}" dt="2026-10-09T00:05:39.399" v="31"/>
        <pc:sldMkLst>
          <pc:docMk/>
          <pc:sldMk cId="0" sldId="260"/>
        </pc:sldMkLst>
      </pc:sldChg>
      <pc:sldChg chg="modSp add del mod">
        <pc:chgData name="태열 김" userId="0424ab1c239219f8" providerId="LiveId" clId="{E1F6D77F-5BA6-4772-8432-681ABD4FF610}" dt="2026-10-09T00:07:07.765" v="44" actId="47"/>
        <pc:sldMkLst>
          <pc:docMk/>
          <pc:sldMk cId="0" sldId="268"/>
        </pc:sldMkLst>
        <pc:spChg chg="mod">
          <ac:chgData name="태열 김" userId="0424ab1c239219f8" providerId="LiveId" clId="{E1F6D77F-5BA6-4772-8432-681ABD4FF610}" dt="2026-10-09T00:06:44.472" v="41" actId="1076"/>
          <ac:spMkLst>
            <pc:docMk/>
            <pc:sldMk cId="0" sldId="268"/>
            <ac:spMk id="4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6:18.986" v="36" actId="14100"/>
          <ac:spMkLst>
            <pc:docMk/>
            <pc:sldMk cId="0" sldId="268"/>
            <ac:spMk id="17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6:15.282" v="35" actId="14100"/>
          <ac:spMkLst>
            <pc:docMk/>
            <pc:sldMk cId="0" sldId="268"/>
            <ac:spMk id="18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6:21.444" v="37" actId="14100"/>
          <ac:spMkLst>
            <pc:docMk/>
            <pc:sldMk cId="0" sldId="268"/>
            <ac:spMk id="23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6:36.516" v="39" actId="14100"/>
          <ac:spMkLst>
            <pc:docMk/>
            <pc:sldMk cId="0" sldId="268"/>
            <ac:spMk id="24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6:23.795" v="38" actId="14100"/>
          <ac:spMkLst>
            <pc:docMk/>
            <pc:sldMk cId="0" sldId="268"/>
            <ac:spMk id="25" creationId="{00000000-0000-0000-0000-000000000000}"/>
          </ac:spMkLst>
        </pc:spChg>
      </pc:sldChg>
      <pc:sldChg chg="addSp delSp mod">
        <pc:chgData name="태열 김" userId="0424ab1c239219f8" providerId="LiveId" clId="{E1F6D77F-5BA6-4772-8432-681ABD4FF610}" dt="2026-10-09T00:00:03.235" v="1" actId="478"/>
        <pc:sldMkLst>
          <pc:docMk/>
          <pc:sldMk cId="0" sldId="269"/>
        </pc:sldMkLst>
        <pc:spChg chg="add del">
          <ac:chgData name="태열 김" userId="0424ab1c239219f8" providerId="LiveId" clId="{E1F6D77F-5BA6-4772-8432-681ABD4FF610}" dt="2026-10-09T00:00:03.235" v="1" actId="478"/>
          <ac:spMkLst>
            <pc:docMk/>
            <pc:sldMk cId="0" sldId="269"/>
            <ac:spMk id="4" creationId="{216B158C-F80D-87CE-0FD5-0945D9EC74E4}"/>
          </ac:spMkLst>
        </pc:spChg>
      </pc:sldChg>
      <pc:sldChg chg="modSp add mod">
        <pc:chgData name="태열 김" userId="0424ab1c239219f8" providerId="LiveId" clId="{E1F6D77F-5BA6-4772-8432-681ABD4FF610}" dt="2026-10-09T00:09:09.071" v="58" actId="1035"/>
        <pc:sldMkLst>
          <pc:docMk/>
          <pc:sldMk cId="0" sldId="270"/>
        </pc:sldMkLst>
        <pc:spChg chg="mod">
          <ac:chgData name="태열 김" userId="0424ab1c239219f8" providerId="LiveId" clId="{E1F6D77F-5BA6-4772-8432-681ABD4FF610}" dt="2026-10-09T00:09:01.424" v="52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9:09.071" v="58" actId="1035"/>
          <ac:spMkLst>
            <pc:docMk/>
            <pc:sldMk cId="0" sldId="270"/>
            <ac:spMk id="4" creationId="{00000000-0000-0000-0000-000000000000}"/>
          </ac:spMkLst>
        </pc:spChg>
      </pc:sldChg>
      <pc:sldChg chg="ord">
        <pc:chgData name="태열 김" userId="0424ab1c239219f8" providerId="LiveId" clId="{E1F6D77F-5BA6-4772-8432-681ABD4FF610}" dt="2026-10-09T00:04:15.474" v="30"/>
        <pc:sldMkLst>
          <pc:docMk/>
          <pc:sldMk cId="0" sldId="294"/>
        </pc:sldMkLst>
      </pc:sldChg>
      <pc:sldChg chg="modSp mod">
        <pc:chgData name="태열 김" userId="0424ab1c239219f8" providerId="LiveId" clId="{E1F6D77F-5BA6-4772-8432-681ABD4FF610}" dt="2026-10-09T00:03:09.487" v="28" actId="1076"/>
        <pc:sldMkLst>
          <pc:docMk/>
          <pc:sldMk cId="2214304443" sldId="5142"/>
        </pc:sldMkLst>
        <pc:picChg chg="mod">
          <ac:chgData name="태열 김" userId="0424ab1c239219f8" providerId="LiveId" clId="{E1F6D77F-5BA6-4772-8432-681ABD4FF610}" dt="2026-10-09T00:03:04.994" v="27" actId="1076"/>
          <ac:picMkLst>
            <pc:docMk/>
            <pc:sldMk cId="2214304443" sldId="5142"/>
            <ac:picMk id="4" creationId="{00000000-0000-0000-0000-000000000000}"/>
          </ac:picMkLst>
        </pc:picChg>
        <pc:picChg chg="mod">
          <ac:chgData name="태열 김" userId="0424ab1c239219f8" providerId="LiveId" clId="{E1F6D77F-5BA6-4772-8432-681ABD4FF610}" dt="2026-10-09T00:03:09.487" v="28" actId="1076"/>
          <ac:picMkLst>
            <pc:docMk/>
            <pc:sldMk cId="2214304443" sldId="5142"/>
            <ac:picMk id="6" creationId="{00000000-0000-0000-0000-000000000000}"/>
          </ac:picMkLst>
        </pc:picChg>
      </pc:sldChg>
      <pc:sldChg chg="del">
        <pc:chgData name="태열 김" userId="0424ab1c239219f8" providerId="LiveId" clId="{E1F6D77F-5BA6-4772-8432-681ABD4FF610}" dt="2026-10-09T00:08:04.573" v="48" actId="47"/>
        <pc:sldMkLst>
          <pc:docMk/>
          <pc:sldMk cId="466923980" sldId="5146"/>
        </pc:sldMkLst>
      </pc:sldChg>
      <pc:sldChg chg="new del">
        <pc:chgData name="태열 김" userId="0424ab1c239219f8" providerId="LiveId" clId="{E1F6D77F-5BA6-4772-8432-681ABD4FF610}" dt="2026-10-09T00:00:34.956" v="4" actId="47"/>
        <pc:sldMkLst>
          <pc:docMk/>
          <pc:sldMk cId="988024165" sldId="5152"/>
        </pc:sldMkLst>
      </pc:sldChg>
      <pc:sldChg chg="modSp add mod">
        <pc:chgData name="태열 김" userId="0424ab1c239219f8" providerId="LiveId" clId="{E1F6D77F-5BA6-4772-8432-681ABD4FF610}" dt="2026-10-09T00:02:35.874" v="26" actId="6559"/>
        <pc:sldMkLst>
          <pc:docMk/>
          <pc:sldMk cId="0" sldId="5153"/>
        </pc:sldMkLst>
        <pc:spChg chg="mod">
          <ac:chgData name="태열 김" userId="0424ab1c239219f8" providerId="LiveId" clId="{E1F6D77F-5BA6-4772-8432-681ABD4FF610}" dt="2026-10-09T00:02:35.874" v="26" actId="6559"/>
          <ac:spMkLst>
            <pc:docMk/>
            <pc:sldMk cId="0" sldId="5153"/>
            <ac:spMk id="4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1:33.109" v="15"/>
          <ac:spMkLst>
            <pc:docMk/>
            <pc:sldMk cId="0" sldId="5153"/>
            <ac:spMk id="6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2:12.383" v="24" actId="255"/>
          <ac:spMkLst>
            <pc:docMk/>
            <pc:sldMk cId="0" sldId="5153"/>
            <ac:spMk id="7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1:47.507" v="16" actId="1076"/>
          <ac:spMkLst>
            <pc:docMk/>
            <pc:sldMk cId="0" sldId="5153"/>
            <ac:spMk id="10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2:12.383" v="24" actId="255"/>
          <ac:spMkLst>
            <pc:docMk/>
            <pc:sldMk cId="0" sldId="5153"/>
            <ac:spMk id="11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1:55.482" v="21"/>
          <ac:spMkLst>
            <pc:docMk/>
            <pc:sldMk cId="0" sldId="5153"/>
            <ac:spMk id="14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2:12.383" v="24" actId="255"/>
          <ac:spMkLst>
            <pc:docMk/>
            <pc:sldMk cId="0" sldId="5153"/>
            <ac:spMk id="15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2:18.048" v="25" actId="1076"/>
          <ac:spMkLst>
            <pc:docMk/>
            <pc:sldMk cId="0" sldId="5153"/>
            <ac:spMk id="18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2:12.383" v="24" actId="255"/>
          <ac:spMkLst>
            <pc:docMk/>
            <pc:sldMk cId="0" sldId="5153"/>
            <ac:spMk id="19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1:13.502" v="7" actId="14100"/>
          <ac:spMkLst>
            <pc:docMk/>
            <pc:sldMk cId="0" sldId="5153"/>
            <ac:spMk id="30" creationId="{00000000-0000-0000-0000-000000000000}"/>
          </ac:spMkLst>
        </pc:spChg>
      </pc:sldChg>
      <pc:sldChg chg="add del">
        <pc:chgData name="태열 김" userId="0424ab1c239219f8" providerId="LiveId" clId="{E1F6D77F-5BA6-4772-8432-681ABD4FF610}" dt="2026-10-09T00:05:57.269" v="33" actId="47"/>
        <pc:sldMkLst>
          <pc:docMk/>
          <pc:sldMk cId="0" sldId="5154"/>
        </pc:sldMkLst>
      </pc:sldChg>
      <pc:sldChg chg="addSp modSp new mod">
        <pc:chgData name="태열 김" userId="0424ab1c239219f8" providerId="LiveId" clId="{E1F6D77F-5BA6-4772-8432-681ABD4FF610}" dt="2026-10-09T00:07:17.503" v="47"/>
        <pc:sldMkLst>
          <pc:docMk/>
          <pc:sldMk cId="821203044" sldId="5154"/>
        </pc:sldMkLst>
        <pc:picChg chg="add mod">
          <ac:chgData name="태열 김" userId="0424ab1c239219f8" providerId="LiveId" clId="{E1F6D77F-5BA6-4772-8432-681ABD4FF610}" dt="2026-10-09T00:07:17.503" v="47"/>
          <ac:picMkLst>
            <pc:docMk/>
            <pc:sldMk cId="821203044" sldId="5154"/>
            <ac:picMk id="3" creationId="{47E0F4A0-EF1D-9EAE-4BB6-3D5419C4DFA8}"/>
          </ac:picMkLst>
        </pc:picChg>
      </pc:sldChg>
      <pc:sldChg chg="modSp add mod">
        <pc:chgData name="태열 김" userId="0424ab1c239219f8" providerId="LiveId" clId="{E1F6D77F-5BA6-4772-8432-681ABD4FF610}" dt="2026-10-09T00:10:31.838" v="84" actId="14100"/>
        <pc:sldMkLst>
          <pc:docMk/>
          <pc:sldMk cId="0" sldId="5155"/>
        </pc:sldMkLst>
        <pc:spChg chg="mod">
          <ac:chgData name="태열 김" userId="0424ab1c239219f8" providerId="LiveId" clId="{E1F6D77F-5BA6-4772-8432-681ABD4FF610}" dt="2026-10-09T00:10:09.796" v="78" actId="14100"/>
          <ac:spMkLst>
            <pc:docMk/>
            <pc:sldMk cId="0" sldId="5155"/>
            <ac:spMk id="10" creationId="{00000000-0000-0000-0000-000000000000}"/>
          </ac:spMkLst>
        </pc:spChg>
        <pc:spChg chg="mod">
          <ac:chgData name="태열 김" userId="0424ab1c239219f8" providerId="LiveId" clId="{E1F6D77F-5BA6-4772-8432-681ABD4FF610}" dt="2026-10-09T00:10:11.908" v="79" actId="1076"/>
          <ac:spMkLst>
            <pc:docMk/>
            <pc:sldMk cId="0" sldId="5155"/>
            <ac:spMk id="11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8:35.380" v="50" actId="14100"/>
          <ac:spMkLst>
            <pc:docMk/>
            <pc:sldMk cId="0" sldId="5155"/>
            <ac:spMk id="13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9:46.912" v="62" actId="1076"/>
          <ac:spMkLst>
            <pc:docMk/>
            <pc:sldMk cId="0" sldId="5155"/>
            <ac:spMk id="16" creationId="{00000000-0000-0000-0000-000000000000}"/>
          </ac:spMkLst>
        </pc:spChg>
        <pc:spChg chg="mod">
          <ac:chgData name="태열 김" userId="0424ab1c239219f8" providerId="LiveId" clId="{E1F6D77F-5BA6-4772-8432-681ABD4FF610}" dt="2026-10-09T00:10:27.422" v="83" actId="1036"/>
          <ac:spMkLst>
            <pc:docMk/>
            <pc:sldMk cId="0" sldId="5155"/>
            <ac:spMk id="18" creationId="{00000000-0000-0000-0000-000000000000}"/>
          </ac:spMkLst>
        </pc:spChg>
        <pc:spChg chg="mod">
          <ac:chgData name="태열 김" userId="0424ab1c239219f8" providerId="LiveId" clId="{E1F6D77F-5BA6-4772-8432-681ABD4FF610}" dt="2026-10-09T00:09:51.170" v="68" actId="1035"/>
          <ac:spMkLst>
            <pc:docMk/>
            <pc:sldMk cId="0" sldId="5155"/>
            <ac:spMk id="19" creationId="{00000000-0000-0000-0000-000000000000}"/>
          </ac:spMkLst>
        </pc:spChg>
        <pc:spChg chg="mod">
          <ac:chgData name="태열 김" userId="0424ab1c239219f8" providerId="LiveId" clId="{E1F6D77F-5BA6-4772-8432-681ABD4FF610}" dt="2026-10-09T00:10:00.491" v="76" actId="1036"/>
          <ac:spMkLst>
            <pc:docMk/>
            <pc:sldMk cId="0" sldId="5155"/>
            <ac:spMk id="20" creationId="{00000000-0000-0000-0000-000000000000}"/>
          </ac:spMkLst>
        </pc:spChg>
        <pc:spChg chg="mod">
          <ac:chgData name="태열 김" userId="0424ab1c239219f8" providerId="LiveId" clId="{E1F6D77F-5BA6-4772-8432-681ABD4FF610}" dt="2026-10-09T00:10:31.838" v="84" actId="14100"/>
          <ac:spMkLst>
            <pc:docMk/>
            <pc:sldMk cId="0" sldId="5155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48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91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34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83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231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4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79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68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794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6364" tIns="28182" rIns="56364" bIns="2818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6364" tIns="28182" rIns="56364" bIns="28182"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31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986" y="525798"/>
            <a:ext cx="15142191" cy="190887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986" y="2628985"/>
            <a:ext cx="15142191" cy="62661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6986" y="9153439"/>
            <a:ext cx="3950137" cy="525797"/>
          </a:xfrm>
          <a:prstGeom prst="rect">
            <a:avLst/>
          </a:prstGeom>
        </p:spPr>
        <p:txBody>
          <a:bodyPr/>
          <a:lstStyle/>
          <a:p>
            <a:fld id="{26D23CC8-03D7-4C6F-8EF6-15D26F73D15B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2026-10-09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5479" y="9153439"/>
            <a:ext cx="5925205" cy="525797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99040" y="9153439"/>
            <a:ext cx="3950137" cy="525797"/>
          </a:xfrm>
          <a:prstGeom prst="rect">
            <a:avLst/>
          </a:prstGeom>
        </p:spPr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49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6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jpg"/><Relationship Id="rId5" Type="http://schemas.openxmlformats.org/officeDocument/2006/relationships/image" Target="../media/image64.jpg"/><Relationship Id="rId4" Type="http://schemas.openxmlformats.org/officeDocument/2006/relationships/image" Target="../media/image63.jpe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6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6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jpg"/><Relationship Id="rId4" Type="http://schemas.openxmlformats.org/officeDocument/2006/relationships/image" Target="../media/image73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jpg"/><Relationship Id="rId4" Type="http://schemas.openxmlformats.org/officeDocument/2006/relationships/image" Target="../media/image94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2895600" y="5901898"/>
            <a:ext cx="2881745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청도 본사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49"/>
            <a:ext cx="17556163" cy="987534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0" y="249"/>
            <a:ext cx="2509982" cy="1440154"/>
          </a:xfrm>
          <a:custGeom>
            <a:avLst/>
            <a:gdLst/>
            <a:ahLst/>
            <a:cxnLst/>
            <a:rect l="l" t="t" r="r" b="b"/>
            <a:pathLst>
              <a:path w="2614612" h="1500188">
                <a:moveTo>
                  <a:pt x="0" y="0"/>
                </a:moveTo>
                <a:lnTo>
                  <a:pt x="2614613" y="0"/>
                </a:lnTo>
                <a:lnTo>
                  <a:pt x="2614613" y="1500188"/>
                </a:lnTo>
                <a:lnTo>
                  <a:pt x="0" y="1500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 rot="-15820">
            <a:off x="713626" y="277897"/>
            <a:ext cx="1530980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13"/>
              </a:lnSpc>
            </a:pPr>
            <a:r>
              <a:rPr lang="en-US" sz="5760" b="1" spc="-150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120년 </a:t>
            </a:r>
            <a:r>
              <a:rPr lang="en-US" sz="5760" b="1" spc="-150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바이오</a:t>
            </a:r>
            <a:r>
              <a:rPr lang="en-US" sz="5760" b="1" spc="-150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5760" b="1" spc="-150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과학이</a:t>
            </a:r>
            <a:r>
              <a:rPr lang="en-US" sz="5760" b="1" spc="-150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5760" b="1" spc="-150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이끈</a:t>
            </a:r>
            <a:r>
              <a:rPr lang="en-US" sz="5760" b="1" spc="-150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5760" b="1" spc="-150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흡수의</a:t>
            </a:r>
            <a:r>
              <a:rPr lang="en-US" sz="5760" b="1" spc="-150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5760" b="1" spc="-150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패러다임</a:t>
            </a:r>
            <a:r>
              <a:rPr lang="en-US" sz="5760" b="1" spc="-150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5760" b="1" spc="-150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혁신</a:t>
            </a:r>
            <a:endParaRPr lang="en-US" sz="5760" b="1" spc="-150" dirty="0">
              <a:solidFill>
                <a:srgbClr val="F1F1F1"/>
              </a:solidFill>
              <a:latin typeface="Paperlogy Heavy"/>
              <a:ea typeface="Paperlogy Heavy"/>
              <a:cs typeface="Paperlogy Heavy"/>
              <a:sym typeface="Paperlogy Heavy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16045" y="2469083"/>
            <a:ext cx="4393612" cy="3086045"/>
          </a:xfrm>
          <a:custGeom>
            <a:avLst/>
            <a:gdLst/>
            <a:ahLst/>
            <a:cxnLst/>
            <a:rect l="l" t="t" r="r" b="b"/>
            <a:pathLst>
              <a:path w="4576762" h="3214688">
                <a:moveTo>
                  <a:pt x="0" y="0"/>
                </a:moveTo>
                <a:lnTo>
                  <a:pt x="4576762" y="0"/>
                </a:lnTo>
                <a:lnTo>
                  <a:pt x="4576762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11670" y="3187834"/>
            <a:ext cx="3725576" cy="381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8"/>
              </a:lnSpc>
            </a:pPr>
            <a:r>
              <a:rPr lang="ko-KR" alt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펩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타이드의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최초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발견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및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명명</a:t>
            </a:r>
            <a:endParaRPr lang="en-US" sz="2219" b="1" dirty="0">
              <a:solidFill>
                <a:srgbClr val="F1F1F1"/>
              </a:solidFill>
              <a:latin typeface="Paperlogy Heavy"/>
              <a:ea typeface="Paperlogy Heavy"/>
              <a:cs typeface="Paperlogy Heavy"/>
              <a:sym typeface="Paperlogy Heav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1670" y="3721690"/>
            <a:ext cx="3898771" cy="1450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독일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노벨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화학상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수상자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에밀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피셔</a:t>
            </a:r>
            <a:endParaRPr lang="en-US" sz="1600" b="1" dirty="0">
              <a:solidFill>
                <a:srgbClr val="7F8B97"/>
              </a:solidFill>
              <a:latin typeface="Paperlogy Medium"/>
              <a:ea typeface="Paperlogy Medium"/>
              <a:cs typeface="Paperlogy Medium"/>
              <a:sym typeface="Paperlogy Medium"/>
            </a:endParaRPr>
          </a:p>
          <a:p>
            <a:pPr>
              <a:lnSpc>
                <a:spcPts val="2879"/>
              </a:lnSpc>
            </a:pP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(Emil Fischer, 1852-1919)가</a:t>
            </a:r>
          </a:p>
          <a:p>
            <a:pPr>
              <a:lnSpc>
                <a:spcPts val="2879"/>
              </a:lnSpc>
            </a:pP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아미노산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결합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분자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구조물</a:t>
            </a:r>
            <a:endParaRPr lang="en-US" sz="1600" b="1" dirty="0">
              <a:solidFill>
                <a:srgbClr val="7F8B97"/>
              </a:solidFill>
              <a:latin typeface="Paperlogy Medium"/>
              <a:ea typeface="Paperlogy Medium"/>
              <a:cs typeface="Paperlogy Medium"/>
              <a:sym typeface="Paperlogy Medium"/>
            </a:endParaRPr>
          </a:p>
          <a:p>
            <a:pPr>
              <a:lnSpc>
                <a:spcPts val="2879"/>
              </a:lnSpc>
            </a:pP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'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Peptide'로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최초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규명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.</a:t>
            </a:r>
          </a:p>
        </p:txBody>
      </p:sp>
      <p:sp>
        <p:nvSpPr>
          <p:cNvPr id="8" name="Freeform 8"/>
          <p:cNvSpPr/>
          <p:nvPr/>
        </p:nvSpPr>
        <p:spPr>
          <a:xfrm>
            <a:off x="4805085" y="2469083"/>
            <a:ext cx="3972996" cy="3086045"/>
          </a:xfrm>
          <a:custGeom>
            <a:avLst/>
            <a:gdLst/>
            <a:ahLst/>
            <a:cxnLst/>
            <a:rect l="l" t="t" r="r" b="b"/>
            <a:pathLst>
              <a:path w="4138612" h="3214688">
                <a:moveTo>
                  <a:pt x="0" y="0"/>
                </a:moveTo>
                <a:lnTo>
                  <a:pt x="4138612" y="0"/>
                </a:lnTo>
                <a:lnTo>
                  <a:pt x="4138612" y="3214688"/>
                </a:lnTo>
                <a:lnTo>
                  <a:pt x="0" y="3214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5098614" y="2780475"/>
            <a:ext cx="2149728" cy="32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2"/>
              </a:lnSpc>
            </a:pPr>
            <a:r>
              <a:rPr lang="en-US" sz="1788" b="1">
                <a:solidFill>
                  <a:srgbClr val="C8945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1994 Mechanism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35331" y="3188679"/>
            <a:ext cx="3755202" cy="38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28"/>
              </a:lnSpc>
            </a:pP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소장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전용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수송체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PepT1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규명</a:t>
            </a:r>
            <a:endParaRPr lang="en-US" sz="2219" b="1" dirty="0">
              <a:solidFill>
                <a:srgbClr val="F1F1F1"/>
              </a:solidFill>
              <a:latin typeface="Paperlogy Heavy"/>
              <a:ea typeface="Paperlogy Heavy"/>
              <a:cs typeface="Paperlogy Heavy"/>
              <a:sym typeface="Paperlogy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04300" y="3721690"/>
            <a:ext cx="3557169" cy="106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1600" b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소장 상피세포의 PepT1(SLC15A1)</a:t>
            </a:r>
          </a:p>
          <a:p>
            <a:pPr>
              <a:lnSpc>
                <a:spcPts val="2879"/>
              </a:lnSpc>
            </a:pPr>
            <a:r>
              <a:rPr lang="en-US" sz="1600" b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단백질 게이트 발견, 소화 효소 없이</a:t>
            </a:r>
          </a:p>
          <a:p>
            <a:pPr>
              <a:lnSpc>
                <a:spcPts val="2879"/>
              </a:lnSpc>
            </a:pPr>
            <a:r>
              <a:rPr lang="en-US" sz="1600" b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펩타이드가 직통 흡수되는 기전 입증.</a:t>
            </a:r>
          </a:p>
        </p:txBody>
      </p:sp>
      <p:sp>
        <p:nvSpPr>
          <p:cNvPr id="12" name="Freeform 12"/>
          <p:cNvSpPr/>
          <p:nvPr/>
        </p:nvSpPr>
        <p:spPr>
          <a:xfrm>
            <a:off x="416045" y="5555128"/>
            <a:ext cx="4393612" cy="2674571"/>
          </a:xfrm>
          <a:custGeom>
            <a:avLst/>
            <a:gdLst/>
            <a:ahLst/>
            <a:cxnLst/>
            <a:rect l="l" t="t" r="r" b="b"/>
            <a:pathLst>
              <a:path w="4576762" h="2786062">
                <a:moveTo>
                  <a:pt x="0" y="0"/>
                </a:moveTo>
                <a:lnTo>
                  <a:pt x="4576762" y="0"/>
                </a:lnTo>
                <a:lnTo>
                  <a:pt x="4576762" y="2786062"/>
                </a:lnTo>
                <a:lnTo>
                  <a:pt x="0" y="2786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831331" y="5832765"/>
            <a:ext cx="1998687" cy="32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2"/>
              </a:lnSpc>
            </a:pPr>
            <a:r>
              <a:rPr lang="en-US" sz="1788" b="1">
                <a:solidFill>
                  <a:srgbClr val="C8945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2000s Bio-Tech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685" y="6254935"/>
            <a:ext cx="3227221" cy="381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8"/>
              </a:lnSpc>
            </a:pP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정밀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효</a:t>
            </a:r>
            <a:r>
              <a:rPr lang="ko-KR" alt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소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가수분해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공학</a:t>
            </a:r>
            <a:endParaRPr lang="en-US" sz="2219" b="1" dirty="0">
              <a:solidFill>
                <a:srgbClr val="F1F1F1"/>
              </a:solidFill>
              <a:latin typeface="Paperlogy Heavy"/>
              <a:ea typeface="Paperlogy Heavy"/>
              <a:cs typeface="Paperlogy Heavy"/>
              <a:sym typeface="Paperlogy Heavy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11670" y="6773981"/>
            <a:ext cx="3725576" cy="1069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Alcalase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등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정밀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효소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공정을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</a:p>
          <a:p>
            <a:pPr>
              <a:lnSpc>
                <a:spcPts val="2879"/>
              </a:lnSpc>
            </a:pP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도입하여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대두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고유의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알레르겐을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</a:p>
          <a:p>
            <a:pPr>
              <a:lnSpc>
                <a:spcPts val="2879"/>
              </a:lnSpc>
            </a:pP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분해·제거하고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생리활성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분획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추출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1600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성공</a:t>
            </a:r>
            <a:r>
              <a:rPr lang="en-US" sz="1600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.</a:t>
            </a:r>
          </a:p>
        </p:txBody>
      </p:sp>
      <p:sp>
        <p:nvSpPr>
          <p:cNvPr id="16" name="Freeform 16"/>
          <p:cNvSpPr/>
          <p:nvPr/>
        </p:nvSpPr>
        <p:spPr>
          <a:xfrm>
            <a:off x="4805085" y="5555128"/>
            <a:ext cx="3972996" cy="2674571"/>
          </a:xfrm>
          <a:custGeom>
            <a:avLst/>
            <a:gdLst/>
            <a:ahLst/>
            <a:cxnLst/>
            <a:rect l="l" t="t" r="r" b="b"/>
            <a:pathLst>
              <a:path w="4138612" h="2786062">
                <a:moveTo>
                  <a:pt x="0" y="0"/>
                </a:moveTo>
                <a:lnTo>
                  <a:pt x="4138612" y="0"/>
                </a:lnTo>
                <a:lnTo>
                  <a:pt x="4138612" y="2786062"/>
                </a:lnTo>
                <a:lnTo>
                  <a:pt x="0" y="2786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5102709" y="5832765"/>
            <a:ext cx="1617365" cy="32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2"/>
              </a:lnSpc>
            </a:pPr>
            <a:r>
              <a:rPr lang="en-US" sz="1788" b="1">
                <a:solidFill>
                  <a:srgbClr val="C8945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Present Spec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70173" y="6268587"/>
            <a:ext cx="3398357" cy="38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28"/>
              </a:lnSpc>
            </a:pP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500Da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이하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초저분자</a:t>
            </a:r>
            <a:r>
              <a:rPr lang="en-US" sz="2219" b="1" dirty="0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 </a:t>
            </a:r>
            <a:r>
              <a:rPr lang="en-US" sz="2219" b="1" dirty="0" err="1">
                <a:solidFill>
                  <a:srgbClr val="F1F1F1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양산</a:t>
            </a:r>
            <a:endParaRPr lang="en-US" sz="2219" b="1" dirty="0">
              <a:solidFill>
                <a:srgbClr val="F1F1F1"/>
              </a:solidFill>
              <a:latin typeface="Paperlogy Heavy"/>
              <a:ea typeface="Paperlogy Heavy"/>
              <a:cs typeface="Paperlogy Heavy"/>
              <a:sym typeface="Paperlogy Heavy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004300" y="6773981"/>
            <a:ext cx="3901960" cy="108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1600" b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2~20개 아미노산 단위의 500Da </a:t>
            </a:r>
          </a:p>
          <a:p>
            <a:pPr>
              <a:lnSpc>
                <a:spcPts val="2879"/>
              </a:lnSpc>
            </a:pPr>
            <a:r>
              <a:rPr lang="en-US" sz="1600" b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이하 98% 미립 분사 구조를 </a:t>
            </a:r>
          </a:p>
          <a:p>
            <a:pPr>
              <a:lnSpc>
                <a:spcPts val="2879"/>
              </a:lnSpc>
            </a:pPr>
            <a:r>
              <a:rPr lang="en-US" sz="1600" b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확립하여 즉각적인 세포 흡수율 실현</a:t>
            </a:r>
          </a:p>
        </p:txBody>
      </p:sp>
      <p:sp>
        <p:nvSpPr>
          <p:cNvPr id="20" name="Freeform 20"/>
          <p:cNvSpPr/>
          <p:nvPr/>
        </p:nvSpPr>
        <p:spPr>
          <a:xfrm>
            <a:off x="8985622" y="2469084"/>
            <a:ext cx="8068021" cy="4818801"/>
          </a:xfrm>
          <a:custGeom>
            <a:avLst/>
            <a:gdLst/>
            <a:ahLst/>
            <a:cxnLst/>
            <a:rect l="l" t="t" r="r" b="b"/>
            <a:pathLst>
              <a:path w="8404341" h="5019675">
                <a:moveTo>
                  <a:pt x="0" y="0"/>
                </a:moveTo>
                <a:lnTo>
                  <a:pt x="8404341" y="0"/>
                </a:lnTo>
                <a:lnTo>
                  <a:pt x="8404341" y="5019675"/>
                </a:lnTo>
                <a:lnTo>
                  <a:pt x="0" y="50196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72" t="-4269" r="-1071" b="-2466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1" name="Freeform 21"/>
          <p:cNvSpPr/>
          <p:nvPr/>
        </p:nvSpPr>
        <p:spPr>
          <a:xfrm>
            <a:off x="9404433" y="7406755"/>
            <a:ext cx="1257278" cy="1234418"/>
          </a:xfrm>
          <a:custGeom>
            <a:avLst/>
            <a:gdLst/>
            <a:ahLst/>
            <a:cxnLst/>
            <a:rect l="l" t="t" r="r" b="b"/>
            <a:pathLst>
              <a:path w="1309688" h="1285875">
                <a:moveTo>
                  <a:pt x="0" y="0"/>
                </a:moveTo>
                <a:lnTo>
                  <a:pt x="1309688" y="0"/>
                </a:lnTo>
                <a:lnTo>
                  <a:pt x="1309688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Freeform 22"/>
          <p:cNvSpPr/>
          <p:nvPr/>
        </p:nvSpPr>
        <p:spPr>
          <a:xfrm>
            <a:off x="11283492" y="7406755"/>
            <a:ext cx="1257278" cy="1234418"/>
          </a:xfrm>
          <a:custGeom>
            <a:avLst/>
            <a:gdLst/>
            <a:ahLst/>
            <a:cxnLst/>
            <a:rect l="l" t="t" r="r" b="b"/>
            <a:pathLst>
              <a:path w="1309688" h="1285875">
                <a:moveTo>
                  <a:pt x="0" y="0"/>
                </a:moveTo>
                <a:lnTo>
                  <a:pt x="1309688" y="0"/>
                </a:lnTo>
                <a:lnTo>
                  <a:pt x="1309688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Freeform 23"/>
          <p:cNvSpPr/>
          <p:nvPr/>
        </p:nvSpPr>
        <p:spPr>
          <a:xfrm>
            <a:off x="13372857" y="7406755"/>
            <a:ext cx="1257278" cy="1234418"/>
          </a:xfrm>
          <a:custGeom>
            <a:avLst/>
            <a:gdLst/>
            <a:ahLst/>
            <a:cxnLst/>
            <a:rect l="l" t="t" r="r" b="b"/>
            <a:pathLst>
              <a:path w="1309688" h="1285875">
                <a:moveTo>
                  <a:pt x="0" y="0"/>
                </a:moveTo>
                <a:lnTo>
                  <a:pt x="1309688" y="0"/>
                </a:lnTo>
                <a:lnTo>
                  <a:pt x="1309688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/>
          <p:cNvSpPr/>
          <p:nvPr/>
        </p:nvSpPr>
        <p:spPr>
          <a:xfrm>
            <a:off x="15462224" y="7406755"/>
            <a:ext cx="1261849" cy="1234418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Freeform 25"/>
          <p:cNvSpPr/>
          <p:nvPr/>
        </p:nvSpPr>
        <p:spPr>
          <a:xfrm>
            <a:off x="15046180" y="205984"/>
            <a:ext cx="2509982" cy="1645890"/>
          </a:xfrm>
          <a:custGeom>
            <a:avLst/>
            <a:gdLst/>
            <a:ahLst/>
            <a:cxnLst/>
            <a:rect l="l" t="t" r="r" b="b"/>
            <a:pathLst>
              <a:path w="2614612" h="1714500">
                <a:moveTo>
                  <a:pt x="0" y="0"/>
                </a:moveTo>
                <a:lnTo>
                  <a:pt x="2614612" y="0"/>
                </a:lnTo>
                <a:lnTo>
                  <a:pt x="2614612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6" name="Freeform 26"/>
          <p:cNvSpPr/>
          <p:nvPr/>
        </p:nvSpPr>
        <p:spPr>
          <a:xfrm>
            <a:off x="626353" y="8435435"/>
            <a:ext cx="1673322" cy="1028681"/>
          </a:xfrm>
          <a:custGeom>
            <a:avLst/>
            <a:gdLst/>
            <a:ahLst/>
            <a:cxnLst/>
            <a:rect l="l" t="t" r="r" b="b"/>
            <a:pathLst>
              <a:path w="1743075" h="1071562">
                <a:moveTo>
                  <a:pt x="0" y="0"/>
                </a:moveTo>
                <a:lnTo>
                  <a:pt x="1743075" y="0"/>
                </a:lnTo>
                <a:lnTo>
                  <a:pt x="174307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7" name="Freeform 27"/>
          <p:cNvSpPr/>
          <p:nvPr/>
        </p:nvSpPr>
        <p:spPr>
          <a:xfrm>
            <a:off x="0" y="8023964"/>
            <a:ext cx="6272671" cy="1851626"/>
          </a:xfrm>
          <a:custGeom>
            <a:avLst/>
            <a:gdLst/>
            <a:ahLst/>
            <a:cxnLst/>
            <a:rect l="l" t="t" r="r" b="b"/>
            <a:pathLst>
              <a:path w="6534150" h="1928812">
                <a:moveTo>
                  <a:pt x="0" y="0"/>
                </a:moveTo>
                <a:lnTo>
                  <a:pt x="6534150" y="0"/>
                </a:lnTo>
                <a:lnTo>
                  <a:pt x="6534150" y="1928812"/>
                </a:lnTo>
                <a:lnTo>
                  <a:pt x="0" y="19288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12145057" y="189751"/>
            <a:ext cx="5436009" cy="3086045"/>
          </a:xfrm>
          <a:custGeom>
            <a:avLst/>
            <a:gdLst/>
            <a:ahLst/>
            <a:cxnLst/>
            <a:rect l="l" t="t" r="r" b="b"/>
            <a:pathLst>
              <a:path w="5662612" h="3214688">
                <a:moveTo>
                  <a:pt x="0" y="0"/>
                </a:moveTo>
                <a:lnTo>
                  <a:pt x="5662613" y="0"/>
                </a:lnTo>
                <a:lnTo>
                  <a:pt x="5662613" y="3214687"/>
                </a:lnTo>
                <a:lnTo>
                  <a:pt x="0" y="321468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15462225" y="8846909"/>
            <a:ext cx="2093938" cy="1028681"/>
          </a:xfrm>
          <a:custGeom>
            <a:avLst/>
            <a:gdLst/>
            <a:ahLst/>
            <a:cxnLst/>
            <a:rect l="l" t="t" r="r" b="b"/>
            <a:pathLst>
              <a:path w="2181225" h="1071562">
                <a:moveTo>
                  <a:pt x="0" y="0"/>
                </a:moveTo>
                <a:lnTo>
                  <a:pt x="2181225" y="0"/>
                </a:lnTo>
                <a:lnTo>
                  <a:pt x="2181225" y="1071562"/>
                </a:lnTo>
                <a:lnTo>
                  <a:pt x="0" y="10715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736625" y="1596788"/>
            <a:ext cx="12757702" cy="403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56"/>
              </a:lnSpc>
            </a:pP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1902년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에밀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피셔의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최초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발견부터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1994년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소장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수송체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규명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,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현대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분자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효소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공학까지의</a:t>
            </a:r>
            <a:r>
              <a:rPr lang="en-US" sz="2304" b="1" dirty="0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 </a:t>
            </a:r>
            <a:r>
              <a:rPr lang="en-US" sz="2304" b="1" dirty="0" err="1">
                <a:solidFill>
                  <a:srgbClr val="7F8B97"/>
                </a:solidFill>
                <a:latin typeface="Paperlogy Medium"/>
                <a:ea typeface="Paperlogy Medium"/>
                <a:cs typeface="Paperlogy Medium"/>
                <a:sym typeface="Paperlogy Medium"/>
              </a:rPr>
              <a:t>발전사</a:t>
            </a:r>
            <a:endParaRPr lang="en-US" sz="2304" b="1" dirty="0">
              <a:solidFill>
                <a:srgbClr val="7F8B97"/>
              </a:solidFill>
              <a:latin typeface="Paperlogy Medium"/>
              <a:ea typeface="Paperlogy Medium"/>
              <a:cs typeface="Paperlogy Medium"/>
              <a:sym typeface="Paperlogy Mediu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31368" y="2780475"/>
            <a:ext cx="1998649" cy="32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2"/>
              </a:lnSpc>
            </a:pPr>
            <a:r>
              <a:rPr lang="en-US" sz="1788" b="1">
                <a:solidFill>
                  <a:srgbClr val="C8945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1902 Discovery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65231" y="8958278"/>
            <a:ext cx="1660644" cy="23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6"/>
              </a:lnSpc>
            </a:pPr>
            <a:r>
              <a:rPr lang="en-US" sz="1310" b="1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(1902 Emil Fischer)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02254" y="8958278"/>
            <a:ext cx="1797493" cy="23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6"/>
              </a:lnSpc>
            </a:pPr>
            <a:r>
              <a:rPr lang="en-US" sz="1310" b="1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(Gene Cloned 1994)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02255" y="8645375"/>
            <a:ext cx="1619752" cy="23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6"/>
              </a:lnSpc>
            </a:pPr>
            <a:r>
              <a:rPr lang="en-US" sz="1310" b="1" spc="65">
                <a:solidFill>
                  <a:srgbClr val="C8945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 SLC15A1 PEPT1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42738" y="8958278"/>
            <a:ext cx="1580704" cy="23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6"/>
              </a:lnSpc>
            </a:pPr>
            <a:r>
              <a:rPr lang="en-US" sz="1310" b="1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(Alcalase Process)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96918" y="8645375"/>
            <a:ext cx="1711663" cy="23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6"/>
              </a:lnSpc>
            </a:pPr>
            <a:r>
              <a:rPr lang="en-US" sz="1310" b="1" spc="65">
                <a:solidFill>
                  <a:srgbClr val="C8945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NOBEL HERITAGE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520094" y="8958278"/>
            <a:ext cx="1428822" cy="23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6"/>
              </a:lnSpc>
            </a:pPr>
            <a:r>
              <a:rPr lang="en-US" sz="1310" b="1">
                <a:solidFill>
                  <a:srgbClr val="FFFFFF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(-300 Da Purity)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415367" y="8645375"/>
            <a:ext cx="1638277" cy="23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6"/>
              </a:lnSpc>
            </a:pPr>
            <a:r>
              <a:rPr lang="en-US" sz="1310" b="1" spc="65">
                <a:solidFill>
                  <a:srgbClr val="C8945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ULTRA-LOW MW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301891" y="8645375"/>
            <a:ext cx="1662397" cy="23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6"/>
              </a:lnSpc>
            </a:pPr>
            <a:r>
              <a:rPr lang="en-US" sz="1310" b="1" spc="65">
                <a:solidFill>
                  <a:srgbClr val="C89450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BIO-ENZYMATIC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54" y="529389"/>
            <a:ext cx="8667750" cy="86772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/>
          <p:cNvSpPr txBox="1"/>
          <p:nvPr/>
        </p:nvSpPr>
        <p:spPr>
          <a:xfrm>
            <a:off x="9156032" y="2358189"/>
            <a:ext cx="8301789" cy="5182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1" dirty="0"/>
              <a:t>미국의 생화학 자 로버트 브루스 메리 필드 </a:t>
            </a:r>
            <a:r>
              <a:rPr lang="en-US" altLang="ko-KR" sz="3200" b="1" dirty="0"/>
              <a:t>US </a:t>
            </a:r>
            <a:r>
              <a:rPr lang="ko-KR" altLang="en-US" sz="3200" b="1" dirty="0"/>
              <a:t>리 필드는 죽음과 관련된 인체의 성장에 중요한 역할에 대한 </a:t>
            </a:r>
            <a:r>
              <a:rPr lang="ko-KR" altLang="en-US" sz="3200" b="1" dirty="0" err="1"/>
              <a:t>펩타이드를</a:t>
            </a:r>
            <a:r>
              <a:rPr lang="ko-KR" altLang="en-US" sz="3200" b="1" dirty="0"/>
              <a:t> 발견</a:t>
            </a:r>
            <a:r>
              <a:rPr lang="en-US" altLang="ko-KR" sz="3200" b="1" dirty="0"/>
              <a:t>. </a:t>
            </a:r>
            <a:r>
              <a:rPr lang="ko-KR" altLang="en-US" sz="3200" b="1" dirty="0"/>
              <a:t>인간의 성장과 발달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신진 대사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질병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노화에 대한 </a:t>
            </a:r>
            <a:r>
              <a:rPr lang="ko-KR" altLang="en-US" sz="3200" b="1" dirty="0" err="1"/>
              <a:t>펩타이드의</a:t>
            </a:r>
            <a:r>
              <a:rPr lang="ko-KR" altLang="en-US" sz="3200" b="1" dirty="0"/>
              <a:t> 역할은 유전자의 정상적인 발현과 복제를 통제</a:t>
            </a:r>
            <a:r>
              <a:rPr lang="en-US" altLang="ko-KR" sz="3200" b="1" dirty="0"/>
              <a:t>, 1984 </a:t>
            </a:r>
            <a:r>
              <a:rPr lang="ko-KR" altLang="en-US" sz="3200" b="1" dirty="0"/>
              <a:t>년에 인간의 질병과 노화를 통제함으로써 그해 노벨 화학상을 수상했다</a:t>
            </a:r>
            <a:r>
              <a:rPr lang="en-US" altLang="ko-KR" sz="3200" b="1" dirty="0"/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1752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87" y="239103"/>
            <a:ext cx="16233913" cy="9474740"/>
          </a:xfrm>
          <a:prstGeom prst="rect">
            <a:avLst/>
          </a:prstGeom>
          <a:ln w="889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직사각형 2"/>
          <p:cNvSpPr/>
          <p:nvPr/>
        </p:nvSpPr>
        <p:spPr>
          <a:xfrm>
            <a:off x="11608905" y="239103"/>
            <a:ext cx="5459895" cy="6280967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23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7" y="318054"/>
            <a:ext cx="16045491" cy="9283482"/>
          </a:xfrm>
          <a:prstGeom prst="rect">
            <a:avLst/>
          </a:prstGeom>
          <a:ln w="88900" cap="sq" cmpd="thickThin">
            <a:solidFill>
              <a:srgbClr val="00B05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직사각형 2"/>
          <p:cNvSpPr/>
          <p:nvPr/>
        </p:nvSpPr>
        <p:spPr>
          <a:xfrm>
            <a:off x="6864626" y="318054"/>
            <a:ext cx="9484551" cy="6361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97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45774"/>
            <a:ext cx="16459200" cy="9730064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495" y="145775"/>
            <a:ext cx="9475305" cy="951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9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-107195" y="318"/>
            <a:ext cx="17556480" cy="9875520"/>
            <a:chOff x="-107195" y="318"/>
            <a:chExt cx="17556480" cy="987552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7195" y="318"/>
              <a:ext cx="17556480" cy="9875520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5498274" y="5943520"/>
              <a:ext cx="10129653" cy="83099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4800" b="1" dirty="0">
                  <a:solidFill>
                    <a:schemeClr val="bg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탁월한 성능 주 정부에서 인정받음 </a:t>
              </a: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407378" y="5715000"/>
            <a:ext cx="15354591" cy="3817619"/>
          </a:xfrm>
          <a:prstGeom prst="rect">
            <a:avLst/>
          </a:prstGeom>
          <a:solidFill>
            <a:srgbClr val="0A0A0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현대의 모든 질병은 형태만 다를 뿐</a:t>
            </a:r>
            <a:r>
              <a:rPr lang="en-US" altLang="ko-KR" sz="6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algn="ctr"/>
            <a:r>
              <a:rPr lang="ko-KR" altLang="en-US" sz="6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뿌리는 모두 </a:t>
            </a:r>
            <a:r>
              <a:rPr lang="ko-KR" altLang="en-US" sz="6000" dirty="0">
                <a:solidFill>
                  <a:srgbClr val="FFFF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세포의 손상</a:t>
            </a:r>
            <a:r>
              <a:rPr lang="ko-KR" altLang="en-US" sz="6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에서 시작됩니다</a:t>
            </a:r>
            <a:r>
              <a:rPr lang="en-US" altLang="ko-KR" sz="6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6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BCBAF8-EDFC-F7DB-A0F7-B50F61ECD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"/>
            <a:ext cx="17556163" cy="98755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57456" y="5035028"/>
            <a:ext cx="4572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C00000"/>
                </a:solidFill>
              </a:rPr>
              <a:t>압</a:t>
            </a:r>
            <a:endParaRPr lang="ko-KR" alt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833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9900"/>
            <a:ext cx="1755648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797568"/>
            <a:ext cx="26797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solidFill>
                  <a:srgbClr val="FFC000"/>
                </a:solidFill>
                <a:latin typeface="휴먼옛체" panose="02030504000101010101" pitchFamily="18" charset="-127"/>
                <a:ea typeface="휴먼옛체" panose="02030504000101010101" pitchFamily="18" charset="-127"/>
              </a:rPr>
              <a:t>생리활성</a:t>
            </a:r>
          </a:p>
        </p:txBody>
      </p:sp>
    </p:spTree>
    <p:extLst>
      <p:ext uri="{BB962C8B-B14F-4D97-AF65-F5344CB8AC3E}">
        <p14:creationId xmlns:p14="http://schemas.microsoft.com/office/powerpoint/2010/main" val="204143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174" y="134336"/>
            <a:ext cx="8749871" cy="9626884"/>
          </a:xfrm>
        </p:spPr>
      </p:pic>
      <p:sp>
        <p:nvSpPr>
          <p:cNvPr id="2" name="TextBox 1"/>
          <p:cNvSpPr txBox="1"/>
          <p:nvPr/>
        </p:nvSpPr>
        <p:spPr>
          <a:xfrm>
            <a:off x="10463264" y="4387618"/>
            <a:ext cx="6327406" cy="120032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콩 대두 단백질 속에서 보석같은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소분자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팹타이드를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첨단표적 효소분해 방식으로 골라내는 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“</a:t>
            </a:r>
            <a:r>
              <a:rPr lang="ko-KR" altLang="en-US" sz="2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정밀 공학 기술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”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이다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19" y="1568307"/>
            <a:ext cx="687705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2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597" y="-11878"/>
            <a:ext cx="9524010" cy="9589770"/>
          </a:xfr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53" y="0"/>
            <a:ext cx="8004444" cy="95897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73490" y="765561"/>
            <a:ext cx="4013868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생리활성 </a:t>
            </a:r>
            <a:r>
              <a:rPr lang="ko-KR" altLang="en-US" sz="3600" b="1" dirty="0" err="1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펩타이드</a:t>
            </a:r>
            <a:endParaRPr lang="ko-KR" altLang="en-US" sz="3600" b="1" dirty="0">
              <a:solidFill>
                <a:srgbClr val="FFFF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0569039" y="2177454"/>
            <a:ext cx="6531429" cy="6328930"/>
            <a:chOff x="10569039" y="2177454"/>
            <a:chExt cx="6531429" cy="6328930"/>
          </a:xfrm>
        </p:grpSpPr>
        <p:sp>
          <p:nvSpPr>
            <p:cNvPr id="2" name="TextBox 1"/>
            <p:cNvSpPr txBox="1"/>
            <p:nvPr/>
          </p:nvSpPr>
          <p:spPr>
            <a:xfrm>
              <a:off x="13692246" y="2177454"/>
              <a:ext cx="3194465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생리활성 </a:t>
              </a:r>
              <a:r>
                <a:rPr lang="ko-KR" altLang="en-US" sz="2800" b="1" dirty="0" err="1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펩타이드</a:t>
              </a:r>
              <a:endParaRPr lang="ko-KR" altLang="en-US" sz="2800" b="1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692246" y="7513138"/>
              <a:ext cx="3194465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생리활성 </a:t>
              </a:r>
              <a:r>
                <a:rPr lang="ko-KR" altLang="en-US" sz="2800" b="1" dirty="0" err="1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펩타이드</a:t>
              </a:r>
              <a:endParaRPr lang="ko-KR" altLang="en-US" sz="2800" b="1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592788" y="4545149"/>
              <a:ext cx="2802578" cy="4616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위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=&gt;</a:t>
              </a:r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소장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=&gt;</a:t>
              </a:r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간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=&gt;</a:t>
              </a:r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569039" y="6613102"/>
              <a:ext cx="2909455" cy="44627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소화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열에 영향 받음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788728" y="7701205"/>
              <a:ext cx="2487885" cy="44627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미국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일본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한국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44205" y="8060108"/>
              <a:ext cx="3256809" cy="44627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중국 독점 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(2024</a:t>
              </a:r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년 기준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endParaRPr lang="ko-KR" altLang="en-US" sz="23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692245" y="4571811"/>
              <a:ext cx="3308769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세포막을 바로 통과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621468" y="5598983"/>
              <a:ext cx="3479000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수분</a:t>
              </a:r>
              <a:r>
                <a:rPr lang="en-US" altLang="ko-KR" sz="2800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</a:t>
              </a:r>
              <a:r>
                <a:rPr lang="ko-KR" altLang="en-US" sz="2800" b="1" dirty="0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수십 분내 반응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949042" y="3687378"/>
              <a:ext cx="2327572" cy="4616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(1000 DA </a:t>
              </a:r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이상</a:t>
              </a:r>
              <a:r>
                <a:rPr lang="en-US" altLang="ko-KR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endParaRPr lang="ko-KR" altLang="en-US" sz="23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913424" y="3153619"/>
              <a:ext cx="2565070" cy="44627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3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작지만 </a:t>
              </a:r>
              <a:r>
                <a:rPr lang="ko-KR" altLang="en-US" sz="2300" b="1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한계 있음</a:t>
              </a:r>
              <a:endParaRPr lang="ko-KR" altLang="en-US" sz="23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248160" y="3113022"/>
              <a:ext cx="2196938" cy="52322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800" b="1">
                  <a:solidFill>
                    <a:srgbClr val="FFFF0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극소분자화</a:t>
              </a:r>
              <a:endParaRPr lang="ko-KR" altLang="en-US" sz="2800" b="1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652168" y="6644879"/>
              <a:ext cx="3388922" cy="4616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열</a:t>
              </a:r>
              <a:r>
                <a:rPr lang="en-US" altLang="ko-KR" sz="24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</a:t>
              </a:r>
              <a:r>
                <a:rPr lang="ko-KR" altLang="en-US" sz="2400" b="1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산 효소에도 안정적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7829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0A0612C-68FA-8DB7-43CC-7947D813C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"/>
            <a:ext cx="17556163" cy="987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917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411" y="437804"/>
            <a:ext cx="6957763" cy="925889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890" y="437804"/>
            <a:ext cx="8089605" cy="92326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16677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0"/>
            <a:ext cx="8869363" cy="978408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0"/>
            <a:ext cx="8492490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30981" y="4429928"/>
            <a:ext cx="4859384" cy="1200329"/>
          </a:xfrm>
          <a:prstGeom prst="rect">
            <a:avLst/>
          </a:prstGeom>
          <a:solidFill>
            <a:srgbClr val="00B050"/>
          </a:solidFill>
          <a:ln w="571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solidFill>
                  <a:srgbClr val="FFFF00"/>
                </a:solidFill>
              </a:rPr>
              <a:t>체험사례</a:t>
            </a:r>
          </a:p>
        </p:txBody>
      </p:sp>
    </p:spTree>
    <p:extLst>
      <p:ext uri="{BB962C8B-B14F-4D97-AF65-F5344CB8AC3E}">
        <p14:creationId xmlns:p14="http://schemas.microsoft.com/office/powerpoint/2010/main" val="1265164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7DCB89D-DEB1-86D8-67B6-971828127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163" cy="987583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163" y="1246285"/>
            <a:ext cx="6858000" cy="82966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796" y="2651760"/>
            <a:ext cx="4534616" cy="61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24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865" y="2563091"/>
            <a:ext cx="4534616" cy="617912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762" y="2839979"/>
            <a:ext cx="4534616" cy="617912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658" y="2651760"/>
            <a:ext cx="4534616" cy="617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3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8C8712-DAE0-B7EC-6465-AF32907E6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556163" cy="98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3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5" y="0"/>
            <a:ext cx="17556480" cy="987552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798" y="2821578"/>
            <a:ext cx="4729125" cy="52773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087" y="2821578"/>
            <a:ext cx="4792050" cy="52773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1593669" y="2004868"/>
            <a:ext cx="1465652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65</a:t>
            </a:r>
            <a:r>
              <a:rPr lang="ko-KR" altLang="en-US" sz="3600" dirty="0"/>
              <a:t>세 </a:t>
            </a:r>
            <a:r>
              <a:rPr lang="ko-KR" altLang="en-US" sz="3600" dirty="0" err="1"/>
              <a:t>뇌질환으로</a:t>
            </a:r>
            <a:r>
              <a:rPr lang="ko-KR" altLang="en-US" sz="3600" dirty="0"/>
              <a:t> </a:t>
            </a:r>
            <a:r>
              <a:rPr lang="ko-KR" altLang="en-US" sz="3600" dirty="0" err="1"/>
              <a:t>약복용</a:t>
            </a:r>
            <a:r>
              <a:rPr lang="ko-KR" altLang="en-US" sz="3600" dirty="0"/>
              <a:t>  후 부작용으로 목이 </a:t>
            </a:r>
            <a:r>
              <a:rPr lang="ko-KR" altLang="en-US" sz="3600" dirty="0" err="1"/>
              <a:t>부어오른</a:t>
            </a:r>
            <a:r>
              <a:rPr lang="ko-KR" altLang="en-US" sz="3600" dirty="0"/>
              <a:t> 남성분 체험사례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08C66C-C223-7ADA-1F32-B82C5C04171D}"/>
              </a:ext>
            </a:extLst>
          </p:cNvPr>
          <p:cNvSpPr/>
          <p:nvPr/>
        </p:nvSpPr>
        <p:spPr>
          <a:xfrm>
            <a:off x="0" y="0"/>
            <a:ext cx="17556163" cy="9875838"/>
          </a:xfrm>
          <a:prstGeom prst="rect">
            <a:avLst/>
          </a:prstGeom>
          <a:solidFill>
            <a:srgbClr val="4D8D7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F99DEE3-5B5B-F108-8A49-6A4815A5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713" y="2903609"/>
            <a:ext cx="4169492" cy="519071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82FB5F0-0584-F22D-B06C-E47E8BEC4CDB}"/>
              </a:ext>
            </a:extLst>
          </p:cNvPr>
          <p:cNvSpPr/>
          <p:nvPr/>
        </p:nvSpPr>
        <p:spPr>
          <a:xfrm>
            <a:off x="1710187" y="8094320"/>
            <a:ext cx="4169492" cy="12876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1 </a:t>
            </a:r>
            <a:r>
              <a:rPr lang="ko-KR" altLang="en-US" sz="3600" dirty="0"/>
              <a:t>주차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208DA5-A72A-07D8-1C83-14FD5199E5D0}"/>
              </a:ext>
            </a:extLst>
          </p:cNvPr>
          <p:cNvSpPr/>
          <p:nvPr/>
        </p:nvSpPr>
        <p:spPr>
          <a:xfrm>
            <a:off x="6655757" y="8094320"/>
            <a:ext cx="4169492" cy="12876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2 </a:t>
            </a:r>
            <a:r>
              <a:rPr lang="ko-KR" altLang="en-US" sz="3600" dirty="0"/>
              <a:t>주차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94B5F8-1727-0C56-7BED-965DBE564C07}"/>
              </a:ext>
            </a:extLst>
          </p:cNvPr>
          <p:cNvSpPr/>
          <p:nvPr/>
        </p:nvSpPr>
        <p:spPr>
          <a:xfrm>
            <a:off x="11563749" y="8119372"/>
            <a:ext cx="4169492" cy="12876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3 </a:t>
            </a:r>
            <a:r>
              <a:rPr lang="ko-KR" altLang="en-US" sz="3600" dirty="0"/>
              <a:t>주차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48DFDB-983D-FD85-4E84-C99B5446D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58" y="2903609"/>
            <a:ext cx="4169492" cy="521576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54B9CFD-217C-821A-73CE-DEB697AFA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3750" y="2903609"/>
            <a:ext cx="4169492" cy="5215763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F42C86EB-B498-9974-9194-4F4464BA36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614" t="4620" r="3679" b="81351"/>
          <a:stretch/>
        </p:blipFill>
        <p:spPr>
          <a:xfrm>
            <a:off x="15557500" y="468791"/>
            <a:ext cx="1353032" cy="1385410"/>
          </a:xfrm>
          <a:prstGeom prst="ellipse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5ACDE5-7114-60AD-81FC-A39BDBBD6481}"/>
              </a:ext>
            </a:extLst>
          </p:cNvPr>
          <p:cNvSpPr txBox="1"/>
          <p:nvPr/>
        </p:nvSpPr>
        <p:spPr>
          <a:xfrm>
            <a:off x="139700" y="243391"/>
            <a:ext cx="16985673" cy="24734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6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펩타이드 체험사례</a:t>
            </a:r>
            <a:endParaRPr lang="en-US" altLang="ko-KR" sz="6600" b="1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40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광주 </a:t>
            </a:r>
            <a:r>
              <a:rPr lang="en-US" altLang="ko-KR" sz="40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54</a:t>
            </a:r>
            <a:r>
              <a:rPr lang="ko-KR" altLang="en-US" sz="40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세 여성분 </a:t>
            </a:r>
            <a:r>
              <a:rPr lang="ko-KR" altLang="en-US" sz="4000" b="1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수포성</a:t>
            </a:r>
            <a:r>
              <a:rPr lang="ko-KR" altLang="en-US" sz="40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피부염</a:t>
            </a:r>
            <a:r>
              <a:rPr lang="en-US" altLang="ko-KR" sz="40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40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대상포진</a:t>
            </a:r>
            <a:r>
              <a:rPr lang="en-US" altLang="ko-KR" sz="40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lang="ko-KR" altLang="en-US" sz="4000" b="1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8465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578" y="378822"/>
            <a:ext cx="11482251" cy="9039815"/>
          </a:xfrm>
        </p:spPr>
      </p:pic>
    </p:spTree>
    <p:extLst>
      <p:ext uri="{BB962C8B-B14F-4D97-AF65-F5344CB8AC3E}">
        <p14:creationId xmlns:p14="http://schemas.microsoft.com/office/powerpoint/2010/main" val="149864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689" y="130629"/>
            <a:ext cx="13146201" cy="9562011"/>
          </a:xfrm>
        </p:spPr>
      </p:pic>
      <p:sp>
        <p:nvSpPr>
          <p:cNvPr id="3" name="타원 2"/>
          <p:cNvSpPr/>
          <p:nvPr/>
        </p:nvSpPr>
        <p:spPr>
          <a:xfrm>
            <a:off x="4400204" y="6162502"/>
            <a:ext cx="642850" cy="4433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662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4BF078-9F19-45F6-B16D-8D7528B88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190" y="1"/>
            <a:ext cx="13167783" cy="9875836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E670DD4-BF36-4376-809F-A1DEC8457D39}"/>
              </a:ext>
            </a:extLst>
          </p:cNvPr>
          <p:cNvSpPr txBox="1">
            <a:spLocks/>
          </p:cNvSpPr>
          <p:nvPr/>
        </p:nvSpPr>
        <p:spPr>
          <a:xfrm>
            <a:off x="2194190" y="0"/>
            <a:ext cx="13167782" cy="134050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25400">
            <a:solidFill>
              <a:schemeClr val="tx1"/>
            </a:solidFill>
          </a:ln>
        </p:spPr>
        <p:txBody>
          <a:bodyPr>
            <a:normAutofit fontScale="90000" lnSpcReduction="1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9648" b="1" dirty="0">
                <a:solidFill>
                  <a:srgbClr val="0033CC"/>
                </a:solidFill>
                <a:latin typeface="HY궁서B" pitchFamily="18" charset="-127"/>
                <a:ea typeface="HY궁서B" pitchFamily="18" charset="-127"/>
              </a:rPr>
              <a:t>모야모야</a:t>
            </a:r>
            <a:r>
              <a:rPr lang="ko-KR" altLang="en-US" sz="8640" b="1" dirty="0">
                <a:solidFill>
                  <a:srgbClr val="0033CC"/>
                </a:solidFill>
                <a:latin typeface="HY궁서B" pitchFamily="18" charset="-127"/>
                <a:ea typeface="HY궁서B" pitchFamily="18" charset="-127"/>
              </a:rPr>
              <a:t> </a:t>
            </a:r>
            <a:r>
              <a:rPr lang="en-US" altLang="ko-KR" sz="5184" b="1" dirty="0">
                <a:solidFill>
                  <a:srgbClr val="FF0000"/>
                </a:solidFill>
                <a:latin typeface="HY궁서B" pitchFamily="18" charset="-127"/>
                <a:ea typeface="HY궁서B" pitchFamily="18" charset="-127"/>
              </a:rPr>
              <a:t>(</a:t>
            </a:r>
            <a:r>
              <a:rPr lang="ko-KR" altLang="en-US" sz="5184" b="1" dirty="0" err="1">
                <a:solidFill>
                  <a:srgbClr val="FF0000"/>
                </a:solidFill>
                <a:latin typeface="HY궁서B" pitchFamily="18" charset="-127"/>
                <a:ea typeface="HY궁서B" pitchFamily="18" charset="-127"/>
              </a:rPr>
              <a:t>뇌질환</a:t>
            </a:r>
            <a:r>
              <a:rPr lang="ko-KR" altLang="en-US" sz="5184" b="1" dirty="0">
                <a:solidFill>
                  <a:srgbClr val="FF0000"/>
                </a:solidFill>
                <a:latin typeface="HY궁서B" pitchFamily="18" charset="-127"/>
                <a:ea typeface="HY궁서B" pitchFamily="18" charset="-127"/>
              </a:rPr>
              <a:t> </a:t>
            </a:r>
            <a:r>
              <a:rPr lang="en-US" altLang="ko-KR" sz="5184" b="1" dirty="0">
                <a:solidFill>
                  <a:srgbClr val="0000CC"/>
                </a:solidFill>
                <a:latin typeface="HY궁서B" pitchFamily="18" charset="-127"/>
                <a:ea typeface="HY궁서B" pitchFamily="18" charset="-127"/>
              </a:rPr>
              <a:t>2 ~ </a:t>
            </a:r>
            <a:r>
              <a:rPr lang="en-US" altLang="ko-KR" sz="4608" b="1" dirty="0">
                <a:solidFill>
                  <a:srgbClr val="0000CC"/>
                </a:solidFill>
                <a:latin typeface="HY궁서B" pitchFamily="18" charset="-127"/>
                <a:ea typeface="HY궁서B" pitchFamily="18" charset="-127"/>
              </a:rPr>
              <a:t>8</a:t>
            </a:r>
            <a:r>
              <a:rPr lang="ko-KR" altLang="en-US" sz="4608" b="1" dirty="0">
                <a:solidFill>
                  <a:srgbClr val="0000CC"/>
                </a:solidFill>
                <a:latin typeface="HY궁서B" pitchFamily="18" charset="-127"/>
                <a:ea typeface="HY궁서B" pitchFamily="18" charset="-127"/>
              </a:rPr>
              <a:t>개월</a:t>
            </a:r>
            <a:r>
              <a:rPr lang="ko-KR" altLang="en-US" sz="4608" b="1" dirty="0">
                <a:solidFill>
                  <a:srgbClr val="FF0000"/>
                </a:solidFill>
                <a:latin typeface="HY궁서B" pitchFamily="18" charset="-127"/>
                <a:ea typeface="HY궁서B" pitchFamily="18" charset="-127"/>
              </a:rPr>
              <a:t>섭취</a:t>
            </a:r>
            <a:r>
              <a:rPr lang="en-US" altLang="ko-KR" sz="5184" b="1" dirty="0">
                <a:solidFill>
                  <a:srgbClr val="FF0000"/>
                </a:solidFill>
                <a:latin typeface="HY궁서B" pitchFamily="18" charset="-127"/>
                <a:ea typeface="HY궁서B" pitchFamily="18" charset="-127"/>
              </a:rPr>
              <a:t>)</a:t>
            </a:r>
            <a:endParaRPr lang="ko-KR" altLang="en-US" sz="8640" b="1" dirty="0">
              <a:solidFill>
                <a:srgbClr val="C00000"/>
              </a:solidFill>
              <a:latin typeface="HY궁서B" pitchFamily="18" charset="-127"/>
              <a:ea typeface="HY궁서B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9FDA2D-B69F-4D97-90BD-CDE891B0B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648" y="1412294"/>
            <a:ext cx="3291946" cy="466626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2E84193-2C76-4282-8A34-34B5F7053CD8}"/>
              </a:ext>
            </a:extLst>
          </p:cNvPr>
          <p:cNvSpPr/>
          <p:nvPr/>
        </p:nvSpPr>
        <p:spPr>
          <a:xfrm rot="300000">
            <a:off x="5658871" y="1539421"/>
            <a:ext cx="1911090" cy="1859221"/>
          </a:xfrm>
          <a:prstGeom prst="rightArrow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  <a:scene3d>
            <a:camera prst="orthographicFront">
              <a:rot lat="0" lon="0" rev="3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456" b="1" dirty="0">
                <a:solidFill>
                  <a:srgbClr val="0000CC"/>
                </a:solidFill>
                <a:ea typeface="HY궁서B" pitchFamily="18" charset="-127"/>
              </a:rPr>
              <a:t>섭취</a:t>
            </a:r>
            <a:endParaRPr lang="en-US" altLang="ko-KR" sz="3456" b="1" dirty="0">
              <a:solidFill>
                <a:srgbClr val="0000CC"/>
              </a:solidFill>
              <a:ea typeface="HY궁서B" pitchFamily="18" charset="-127"/>
            </a:endParaRPr>
          </a:p>
          <a:p>
            <a:pPr algn="ctr"/>
            <a:r>
              <a:rPr lang="en-US" altLang="ko-KR" sz="2304" b="1" dirty="0">
                <a:solidFill>
                  <a:srgbClr val="C00000"/>
                </a:solidFill>
                <a:ea typeface="HY궁서B" pitchFamily="18" charset="-127"/>
              </a:rPr>
              <a:t>2</a:t>
            </a:r>
            <a:r>
              <a:rPr lang="ko-KR" altLang="en-US" sz="2304" b="1" dirty="0" err="1">
                <a:solidFill>
                  <a:srgbClr val="C00000"/>
                </a:solidFill>
                <a:ea typeface="HY궁서B" pitchFamily="18" charset="-127"/>
              </a:rPr>
              <a:t>개월후</a:t>
            </a:r>
            <a:endParaRPr lang="ko-KR" altLang="en-US" sz="2304" b="1" dirty="0">
              <a:solidFill>
                <a:srgbClr val="C00000"/>
              </a:solidFill>
              <a:ea typeface="HY궁서B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67897C-4FDB-4AE3-BECE-BFE4C3646A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666" y="1459928"/>
            <a:ext cx="7460848" cy="807969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F15FBA7-9309-4BC3-B046-8210D11EA5D9}"/>
              </a:ext>
            </a:extLst>
          </p:cNvPr>
          <p:cNvSpPr/>
          <p:nvPr/>
        </p:nvSpPr>
        <p:spPr>
          <a:xfrm rot="300000">
            <a:off x="13210651" y="7486301"/>
            <a:ext cx="1911090" cy="1859221"/>
          </a:xfrm>
          <a:prstGeom prst="rightArrow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  <a:scene3d>
            <a:camera prst="orthographicFront">
              <a:rot lat="0" lon="0" rev="3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456" b="1" dirty="0">
                <a:solidFill>
                  <a:srgbClr val="0000CC"/>
                </a:solidFill>
                <a:ea typeface="HY궁서B" pitchFamily="18" charset="-127"/>
              </a:rPr>
              <a:t>섭취</a:t>
            </a:r>
            <a:endParaRPr lang="en-US" altLang="ko-KR" sz="3456" b="1" dirty="0">
              <a:solidFill>
                <a:srgbClr val="0000CC"/>
              </a:solidFill>
              <a:ea typeface="HY궁서B" pitchFamily="18" charset="-127"/>
            </a:endParaRPr>
          </a:p>
          <a:p>
            <a:pPr algn="ctr"/>
            <a:r>
              <a:rPr lang="en-US" altLang="ko-KR" sz="2304" b="1" dirty="0">
                <a:solidFill>
                  <a:srgbClr val="C00000"/>
                </a:solidFill>
                <a:ea typeface="HY궁서B" pitchFamily="18" charset="-127"/>
              </a:rPr>
              <a:t>8</a:t>
            </a:r>
            <a:r>
              <a:rPr lang="ko-KR" altLang="en-US" sz="2304" b="1" dirty="0" err="1">
                <a:solidFill>
                  <a:srgbClr val="C00000"/>
                </a:solidFill>
                <a:ea typeface="HY궁서B" pitchFamily="18" charset="-127"/>
              </a:rPr>
              <a:t>개월후</a:t>
            </a:r>
            <a:endParaRPr lang="ko-KR" altLang="en-US" sz="2304" b="1" dirty="0">
              <a:solidFill>
                <a:srgbClr val="C00000"/>
              </a:solidFill>
              <a:ea typeface="HY궁서B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6D23E5-B8B3-4EAC-AA16-22A9D7D850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038" y="3442700"/>
            <a:ext cx="4046166" cy="622934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956FA1F-CBF1-4D91-B815-6F08095ADA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593" y="3429701"/>
            <a:ext cx="4264252" cy="622934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752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모야모야1">
            <a:hlinkClick r:id="" action="ppaction://media"/>
            <a:extLst>
              <a:ext uri="{FF2B5EF4-FFF2-40B4-BE49-F238E27FC236}">
                <a16:creationId xmlns:a16="http://schemas.microsoft.com/office/drawing/2014/main" id="{F08BA184-9E0A-4309-8052-B5EDE3BC0A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9711336" cy="9872739"/>
          </a:xfrm>
          <a:prstGeom prst="rect">
            <a:avLst/>
          </a:prstGeom>
          <a:ln w="38100">
            <a:noFill/>
          </a:ln>
        </p:spPr>
      </p:pic>
      <p:pic>
        <p:nvPicPr>
          <p:cNvPr id="5" name="모야모야101">
            <a:hlinkClick r:id="" action="ppaction://media"/>
            <a:extLst>
              <a:ext uri="{FF2B5EF4-FFF2-40B4-BE49-F238E27FC236}">
                <a16:creationId xmlns:a16="http://schemas.microsoft.com/office/drawing/2014/main" id="{E115C98B-EB86-425A-A641-808A8F19364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434137" y="0"/>
            <a:ext cx="9122026" cy="987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8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203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 fullScrn="1"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9222377" y="4454433"/>
            <a:ext cx="7694023" cy="11103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9222376" y="2795451"/>
            <a:ext cx="7694023" cy="11103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548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593669" y="117565"/>
            <a:ext cx="4767942" cy="7184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93669" y="1410789"/>
            <a:ext cx="4767942" cy="4049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945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18" y="473927"/>
            <a:ext cx="7804406" cy="478387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686" y="473925"/>
            <a:ext cx="9028478" cy="47838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18" y="5354972"/>
            <a:ext cx="7892407" cy="448597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534" y="5401010"/>
            <a:ext cx="9039630" cy="443994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143044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49"/>
            <a:ext cx="17556163" cy="987534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961618" y="2432389"/>
            <a:ext cx="2962602" cy="486108"/>
            <a:chOff x="0" y="0"/>
            <a:chExt cx="812800" cy="1333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33366"/>
            </a:xfrm>
            <a:custGeom>
              <a:avLst/>
              <a:gdLst/>
              <a:ahLst/>
              <a:cxnLst/>
              <a:rect l="l" t="t" r="r" b="b"/>
              <a:pathLst>
                <a:path w="812800" h="133366">
                  <a:moveTo>
                    <a:pt x="0" y="0"/>
                  </a:moveTo>
                  <a:lnTo>
                    <a:pt x="812800" y="0"/>
                  </a:lnTo>
                  <a:lnTo>
                    <a:pt x="812800" y="133366"/>
                  </a:lnTo>
                  <a:lnTo>
                    <a:pt x="0" y="133366"/>
                  </a:lnTo>
                  <a:close/>
                </a:path>
              </a:pathLst>
            </a:custGeom>
            <a:solidFill>
              <a:srgbClr val="FAF8F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812800" cy="142891"/>
            </a:xfrm>
            <a:prstGeom prst="rect">
              <a:avLst/>
            </a:prstGeom>
          </p:spPr>
          <p:txBody>
            <a:bodyPr lIns="48767" tIns="48767" rIns="48767" bIns="48767" rtlCol="0" anchor="ctr"/>
            <a:lstStyle/>
            <a:p>
              <a:pPr algn="ctr">
                <a:lnSpc>
                  <a:spcPts val="2999"/>
                </a:lnSpc>
              </a:pPr>
              <a:endParaRPr sz="1728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66915" y="2393032"/>
            <a:ext cx="2574561" cy="1054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1"/>
              </a:lnSpc>
            </a:pPr>
            <a:r>
              <a:rPr lang="en-US" sz="3072" b="1">
                <a:solidFill>
                  <a:srgbClr val="04133D"/>
                </a:solidFill>
                <a:latin typeface="Paperlogy Ultra-Bold"/>
                <a:ea typeface="Paperlogy Ultra-Bold"/>
                <a:cs typeface="Paperlogy Ultra-Bold"/>
                <a:sym typeface="Paperlogy Ultra-Bold"/>
              </a:rPr>
              <a:t>배가 오래 부르다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E0F4A0-EF1D-9EAE-4BB6-3D5419C4D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"/>
            <a:ext cx="17556163" cy="98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03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BCDD0E-6E7B-41FD-B00C-F276B2119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944" y="1398712"/>
            <a:ext cx="5806912" cy="654635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D358851-0E96-4F6A-AC4A-B96357C7F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118" y="1930771"/>
            <a:ext cx="6947555" cy="674016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9965E82-EBAF-4DC1-ADDB-954D6F048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710" y="2345549"/>
            <a:ext cx="7258640" cy="701310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8FD5B77-49A0-4D34-9CFE-B4450962D4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856" y="3278801"/>
            <a:ext cx="7134970" cy="6429081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62A3F22C-485D-40F5-9059-1EEBDF5BC123}"/>
              </a:ext>
            </a:extLst>
          </p:cNvPr>
          <p:cNvSpPr txBox="1">
            <a:spLocks/>
          </p:cNvSpPr>
          <p:nvPr/>
        </p:nvSpPr>
        <p:spPr>
          <a:xfrm>
            <a:off x="2194190" y="1"/>
            <a:ext cx="13167783" cy="13086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50800">
            <a:solidFill>
              <a:schemeClr val="tx1"/>
            </a:solidFill>
          </a:ln>
        </p:spPr>
        <p:txBody>
          <a:bodyPr>
            <a:normAutofit fontScale="97500" lnSpcReduction="1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8640" b="1" dirty="0">
                <a:solidFill>
                  <a:srgbClr val="0033CC"/>
                </a:solidFill>
                <a:latin typeface="HY궁서B" pitchFamily="18" charset="-127"/>
                <a:ea typeface="HY궁서B" pitchFamily="18" charset="-127"/>
              </a:rPr>
              <a:t>오크라 재배단지 </a:t>
            </a:r>
            <a:r>
              <a:rPr lang="en-US" altLang="ko-KR" sz="8640" b="1" dirty="0">
                <a:solidFill>
                  <a:srgbClr val="0033CC"/>
                </a:solidFill>
                <a:latin typeface="HY궁서B" pitchFamily="18" charset="-127"/>
                <a:ea typeface="HY궁서B" pitchFamily="18" charset="-127"/>
              </a:rPr>
              <a:t>…</a:t>
            </a:r>
            <a:r>
              <a:rPr lang="ko-KR" altLang="en-US" sz="8640" b="1" dirty="0">
                <a:solidFill>
                  <a:srgbClr val="0033CC"/>
                </a:solidFill>
                <a:latin typeface="HY궁서B" pitchFamily="18" charset="-127"/>
                <a:ea typeface="HY궁서B" pitchFamily="18" charset="-127"/>
              </a:rPr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49" y="1387329"/>
            <a:ext cx="16822537" cy="83205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871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49"/>
            <a:ext cx="17556163" cy="987534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-1" y="4526446"/>
            <a:ext cx="17556163" cy="205736"/>
          </a:xfrm>
          <a:custGeom>
            <a:avLst/>
            <a:gdLst/>
            <a:ahLst/>
            <a:cxnLst/>
            <a:rect l="l" t="t" r="r" b="b"/>
            <a:pathLst>
              <a:path w="18288000" h="214312">
                <a:moveTo>
                  <a:pt x="0" y="0"/>
                </a:moveTo>
                <a:lnTo>
                  <a:pt x="18288000" y="0"/>
                </a:lnTo>
                <a:lnTo>
                  <a:pt x="18288000" y="214313"/>
                </a:lnTo>
                <a:lnTo>
                  <a:pt x="0" y="214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829803" y="2469084"/>
            <a:ext cx="4395899" cy="4731935"/>
          </a:xfrm>
          <a:custGeom>
            <a:avLst/>
            <a:gdLst/>
            <a:ahLst/>
            <a:cxnLst/>
            <a:rect l="l" t="t" r="r" b="b"/>
            <a:pathLst>
              <a:path w="4579144" h="4929188">
                <a:moveTo>
                  <a:pt x="0" y="0"/>
                </a:moveTo>
                <a:lnTo>
                  <a:pt x="4579144" y="0"/>
                </a:lnTo>
                <a:lnTo>
                  <a:pt x="4579144" y="4929188"/>
                </a:lnTo>
                <a:lnTo>
                  <a:pt x="0" y="4929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042397" y="8229700"/>
            <a:ext cx="3346643" cy="822945"/>
          </a:xfrm>
          <a:custGeom>
            <a:avLst/>
            <a:gdLst/>
            <a:ahLst/>
            <a:cxnLst/>
            <a:rect l="l" t="t" r="r" b="b"/>
            <a:pathLst>
              <a:path w="3486150" h="857250">
                <a:moveTo>
                  <a:pt x="0" y="0"/>
                </a:moveTo>
                <a:lnTo>
                  <a:pt x="3486150" y="0"/>
                </a:lnTo>
                <a:lnTo>
                  <a:pt x="3486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6268099" y="2469084"/>
            <a:ext cx="4814228" cy="4731935"/>
          </a:xfrm>
          <a:custGeom>
            <a:avLst/>
            <a:gdLst/>
            <a:ahLst/>
            <a:cxnLst/>
            <a:rect l="l" t="t" r="r" b="b"/>
            <a:pathLst>
              <a:path w="5014912" h="4929188">
                <a:moveTo>
                  <a:pt x="0" y="0"/>
                </a:moveTo>
                <a:lnTo>
                  <a:pt x="5014912" y="0"/>
                </a:lnTo>
                <a:lnTo>
                  <a:pt x="5014912" y="4929188"/>
                </a:lnTo>
                <a:lnTo>
                  <a:pt x="0" y="49291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4389041" y="8229700"/>
            <a:ext cx="3977568" cy="822945"/>
          </a:xfrm>
          <a:custGeom>
            <a:avLst/>
            <a:gdLst/>
            <a:ahLst/>
            <a:cxnLst/>
            <a:rect l="l" t="t" r="r" b="b"/>
            <a:pathLst>
              <a:path w="4143375" h="857250">
                <a:moveTo>
                  <a:pt x="0" y="0"/>
                </a:moveTo>
                <a:lnTo>
                  <a:pt x="4143375" y="0"/>
                </a:lnTo>
                <a:lnTo>
                  <a:pt x="4143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8359751" y="8229700"/>
            <a:ext cx="2928313" cy="822945"/>
          </a:xfrm>
          <a:custGeom>
            <a:avLst/>
            <a:gdLst/>
            <a:ahLst/>
            <a:cxnLst/>
            <a:rect l="l" t="t" r="r" b="b"/>
            <a:pathLst>
              <a:path w="3050381" h="857250">
                <a:moveTo>
                  <a:pt x="0" y="0"/>
                </a:moveTo>
                <a:lnTo>
                  <a:pt x="3050381" y="0"/>
                </a:lnTo>
                <a:lnTo>
                  <a:pt x="3050381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11912130" y="2469084"/>
            <a:ext cx="4601635" cy="4731935"/>
          </a:xfrm>
          <a:custGeom>
            <a:avLst/>
            <a:gdLst/>
            <a:ahLst/>
            <a:cxnLst/>
            <a:rect l="l" t="t" r="r" b="b"/>
            <a:pathLst>
              <a:path w="4793456" h="4929188">
                <a:moveTo>
                  <a:pt x="0" y="0"/>
                </a:moveTo>
                <a:lnTo>
                  <a:pt x="4793456" y="0"/>
                </a:lnTo>
                <a:lnTo>
                  <a:pt x="4793456" y="4929188"/>
                </a:lnTo>
                <a:lnTo>
                  <a:pt x="0" y="49291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3167122" y="7054580"/>
            <a:ext cx="2387638" cy="275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886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고부가가치</a:t>
            </a:r>
            <a:r>
              <a:rPr lang="en-US" sz="1886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1886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원용</a:t>
            </a:r>
            <a:r>
              <a:rPr lang="en-US" sz="1886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1886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품종</a:t>
            </a:r>
            <a:endParaRPr lang="en-US" sz="1886" b="1" dirty="0">
              <a:solidFill>
                <a:srgbClr val="003608"/>
              </a:solidFill>
              <a:latin typeface="Paperlogy Bold"/>
              <a:ea typeface="Paperlogy Bold"/>
              <a:cs typeface="Paperlogy Bold"/>
              <a:sym typeface="Paperlogy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1699537" y="6980955"/>
            <a:ext cx="5856626" cy="2880308"/>
          </a:xfrm>
          <a:custGeom>
            <a:avLst/>
            <a:gdLst/>
            <a:ahLst/>
            <a:cxnLst/>
            <a:rect l="l" t="t" r="r" b="b"/>
            <a:pathLst>
              <a:path w="6100762" h="3000375">
                <a:moveTo>
                  <a:pt x="0" y="0"/>
                </a:moveTo>
                <a:lnTo>
                  <a:pt x="6100762" y="0"/>
                </a:lnTo>
                <a:lnTo>
                  <a:pt x="6100762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526685" y="387079"/>
            <a:ext cx="10744371" cy="818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97"/>
              </a:lnSpc>
            </a:pPr>
            <a:r>
              <a:rPr lang="en-US" sz="5664" b="1">
                <a:solidFill>
                  <a:srgbClr val="003608"/>
                </a:solidFill>
                <a:latin typeface="Paperlogy Heavy"/>
                <a:ea typeface="Paperlogy Heavy"/>
                <a:cs typeface="Paperlogy Heavy"/>
                <a:sym typeface="Paperlogy Heavy"/>
              </a:rPr>
              <a:t>독자 육종 30년, 기능성 특화 품중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6684" y="1405336"/>
            <a:ext cx="5936746" cy="372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90"/>
              </a:lnSpc>
            </a:pPr>
            <a:r>
              <a:rPr lang="en-US" sz="2576" b="1" dirty="0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《</a:t>
            </a:r>
            <a:r>
              <a:rPr lang="en-US" sz="2576" b="1" dirty="0" err="1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자체품종</a:t>
            </a:r>
            <a:r>
              <a:rPr lang="en-US" sz="2576" b="1" dirty="0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 1호》 </a:t>
            </a:r>
            <a:r>
              <a:rPr lang="en-US" sz="2576" b="1" dirty="0" err="1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품종</a:t>
            </a:r>
            <a:r>
              <a:rPr lang="en-US" sz="2576" b="1" dirty="0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 </a:t>
            </a:r>
            <a:r>
              <a:rPr lang="en-US" sz="2576" b="1" dirty="0" err="1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개요</a:t>
            </a:r>
            <a:r>
              <a:rPr lang="en-US" sz="2576" b="1" dirty="0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 및 </a:t>
            </a:r>
            <a:r>
              <a:rPr lang="en-US" sz="2576" b="1" dirty="0" err="1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육종</a:t>
            </a:r>
            <a:r>
              <a:rPr lang="en-US" sz="2576" b="1" dirty="0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 </a:t>
            </a:r>
            <a:r>
              <a:rPr lang="en-US" sz="2576" b="1" dirty="0" err="1">
                <a:solidFill>
                  <a:srgbClr val="003608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연혁</a:t>
            </a:r>
            <a:endParaRPr lang="en-US" sz="2576" b="1" dirty="0">
              <a:solidFill>
                <a:srgbClr val="003608"/>
              </a:solidFill>
              <a:latin typeface="Paperlogy Semi-Bold"/>
              <a:ea typeface="Paperlogy Semi-Bold"/>
              <a:cs typeface="Paperlogy Semi-Bold"/>
              <a:sym typeface="Paperlogy Semi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74032" y="2197969"/>
            <a:ext cx="3107441" cy="363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1996・대만 원종 도입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08285" y="7051151"/>
            <a:ext cx="2492975" cy="27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1912" b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저장성 시험 재배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1366" y="8493691"/>
            <a:ext cx="2638850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091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저장성</a:t>
            </a:r>
            <a:r>
              <a:rPr lang="en-US" sz="2091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091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지방</a:t>
            </a:r>
            <a:r>
              <a:rPr lang="en-US" sz="2091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091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표준</a:t>
            </a:r>
            <a:r>
              <a:rPr lang="en-US" sz="2091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091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참여</a:t>
            </a:r>
            <a:endParaRPr lang="en-US" sz="2091" b="1" dirty="0">
              <a:solidFill>
                <a:srgbClr val="003608"/>
              </a:solidFill>
              <a:latin typeface="Paperlogy Bold"/>
              <a:ea typeface="Paperlogy Bold"/>
              <a:cs typeface="Paperlogy Bold"/>
              <a:sym typeface="Paperlogy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965219" y="2197969"/>
            <a:ext cx="3419988" cy="363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2003–2011・품종 고정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1528" y="7009849"/>
            <a:ext cx="3913104" cy="290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988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다당체・플라보노이드</a:t>
            </a:r>
            <a:r>
              <a:rPr lang="en-US" sz="1988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1988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축적</a:t>
            </a:r>
            <a:r>
              <a:rPr lang="en-US" sz="1988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1988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극대화</a:t>
            </a:r>
            <a:endParaRPr lang="en-US" sz="1988" b="1" dirty="0">
              <a:solidFill>
                <a:srgbClr val="003608"/>
              </a:solidFill>
              <a:latin typeface="Paperlogy Bold"/>
              <a:ea typeface="Paperlogy Bold"/>
              <a:cs typeface="Paperlogy Bold"/>
              <a:sym typeface="Paperlogy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611913" y="8534806"/>
            <a:ext cx="3439234" cy="288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988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보건식품</a:t>
            </a:r>
            <a:r>
              <a:rPr lang="en-US" sz="1988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1988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업계</a:t>
            </a:r>
            <a:r>
              <a:rPr lang="en-US" sz="1988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1988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표준</a:t>
            </a:r>
            <a:r>
              <a:rPr lang="en-US" sz="1988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1988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원천</a:t>
            </a:r>
            <a:r>
              <a:rPr lang="en-US" sz="1988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1988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규격</a:t>
            </a:r>
            <a:endParaRPr lang="en-US" sz="1988" b="1" dirty="0">
              <a:solidFill>
                <a:srgbClr val="003608"/>
              </a:solidFill>
              <a:latin typeface="Paperlogy Bold"/>
              <a:ea typeface="Paperlogy Bold"/>
              <a:cs typeface="Paperlogy Bold"/>
              <a:sym typeface="Paperlogy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914630" y="8492904"/>
            <a:ext cx="198414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sz="2039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국가</a:t>
            </a:r>
            <a:r>
              <a:rPr lang="en-US" sz="2039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039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유기농</a:t>
            </a:r>
            <a:r>
              <a:rPr lang="en-US" sz="2039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039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인증</a:t>
            </a:r>
            <a:endParaRPr lang="en-US" sz="2039" b="1" dirty="0">
              <a:solidFill>
                <a:srgbClr val="003608"/>
              </a:solidFill>
              <a:latin typeface="Paperlogy Bold"/>
              <a:ea typeface="Paperlogy Bold"/>
              <a:cs typeface="Paperlogy Bold"/>
              <a:sym typeface="Paperlogy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956448" y="2221972"/>
            <a:ext cx="2801294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193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기능성</a:t>
            </a:r>
            <a:r>
              <a:rPr lang="en-US" sz="2193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193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추출</a:t>
            </a:r>
            <a:r>
              <a:rPr lang="en-US" sz="2193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193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전용</a:t>
            </a:r>
            <a:r>
              <a:rPr lang="en-US" sz="2193" b="1" dirty="0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193" b="1" dirty="0" err="1">
                <a:solidFill>
                  <a:srgbClr val="003608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원료</a:t>
            </a:r>
            <a:endParaRPr lang="en-US" sz="2193" b="1" dirty="0">
              <a:solidFill>
                <a:srgbClr val="003608"/>
              </a:solidFill>
              <a:latin typeface="Paperlogy Bold"/>
              <a:ea typeface="Paperlogy Bold"/>
              <a:cs typeface="Paperlogy Bold"/>
              <a:sym typeface="Paperlogy Bol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49"/>
            <a:ext cx="17556163" cy="987534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4076964" y="8247757"/>
            <a:ext cx="2632756" cy="36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208" b="1" dirty="0" err="1">
                <a:solidFill>
                  <a:srgbClr val="D60055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대두잎</a:t>
            </a:r>
            <a:r>
              <a:rPr lang="en-US" sz="2208" b="1" dirty="0">
                <a:solidFill>
                  <a:srgbClr val="D60055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</a:t>
            </a:r>
            <a:r>
              <a:rPr lang="en-US" sz="2208" b="1" dirty="0" err="1">
                <a:solidFill>
                  <a:srgbClr val="D60055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대비</a:t>
            </a:r>
            <a:r>
              <a:rPr lang="en-US" sz="2208" b="1" dirty="0">
                <a:solidFill>
                  <a:srgbClr val="D60055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 100배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72754" y="8757663"/>
            <a:ext cx="998493" cy="36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208" b="1" dirty="0">
                <a:solidFill>
                  <a:srgbClr val="D60055"/>
                </a:solidFill>
                <a:latin typeface="Paperlogy Bold"/>
                <a:ea typeface="Paperlogy Bold"/>
                <a:cs typeface="Paperlogy Bold"/>
                <a:sym typeface="Paperlogy Bold"/>
              </a:rPr>
              <a:t>98%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82717B-7DBF-4D32-A223-A4B07BDB0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67956"/>
            <a:ext cx="9209939" cy="559952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D9885F-DE80-4CDA-8637-50B9331BB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997" y="167957"/>
            <a:ext cx="9089166" cy="55995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CB7474-71D4-4336-B8D4-0A1D8D553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4523140"/>
            <a:ext cx="8974866" cy="51847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DABA9C-9261-43C0-9925-886993877E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301" y="4212056"/>
            <a:ext cx="9192861" cy="5495826"/>
          </a:xfrm>
          <a:prstGeom prst="rect">
            <a:avLst/>
          </a:prstGeom>
        </p:spPr>
      </p:pic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2952C09A-60DD-4F91-8A69-D8E937351F10}"/>
              </a:ext>
            </a:extLst>
          </p:cNvPr>
          <p:cNvSpPr/>
          <p:nvPr/>
        </p:nvSpPr>
        <p:spPr>
          <a:xfrm rot="300000">
            <a:off x="7353614" y="4005080"/>
            <a:ext cx="2226765" cy="681295"/>
          </a:xfrm>
          <a:prstGeom prst="flowChartConnector">
            <a:avLst/>
          </a:prstGeom>
          <a:gradFill flip="none" rotWithShape="1">
            <a:gsLst>
              <a:gs pos="0">
                <a:schemeClr val="accent4">
                  <a:lumMod val="89000"/>
                </a:schemeClr>
              </a:gs>
              <a:gs pos="23000">
                <a:schemeClr val="accent4">
                  <a:lumMod val="89000"/>
                </a:schemeClr>
              </a:gs>
              <a:gs pos="69000">
                <a:schemeClr val="accent4">
                  <a:lumMod val="75000"/>
                </a:schemeClr>
              </a:gs>
              <a:gs pos="97000">
                <a:schemeClr val="accent4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solidFill>
              <a:srgbClr val="FFFF00"/>
            </a:solidFill>
          </a:ln>
          <a:scene3d>
            <a:camera prst="orthographicFront">
              <a:rot lat="0" lon="0" rev="3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80" b="1" dirty="0">
                <a:solidFill>
                  <a:schemeClr val="bg1"/>
                </a:solidFill>
                <a:ea typeface="HY궁서B" pitchFamily="18" charset="-127"/>
              </a:rPr>
              <a:t>장 융모</a:t>
            </a:r>
          </a:p>
        </p:txBody>
      </p:sp>
    </p:spTree>
    <p:extLst>
      <p:ext uri="{BB962C8B-B14F-4D97-AF65-F5344CB8AC3E}">
        <p14:creationId xmlns:p14="http://schemas.microsoft.com/office/powerpoint/2010/main" val="11613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0251" y="-127322"/>
            <a:ext cx="17556480" cy="987552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9608024" y="6032629"/>
            <a:ext cx="6728346" cy="3002508"/>
          </a:xfrm>
          <a:prstGeom prst="rect">
            <a:avLst/>
          </a:prstGeom>
          <a:solidFill>
            <a:srgbClr val="514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024" y="3983957"/>
            <a:ext cx="7236675" cy="505086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192193" y="1226917"/>
            <a:ext cx="6447098" cy="84495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풀컵</a:t>
            </a:r>
            <a:r>
              <a:rPr lang="ko-KR" altLang="en-US" sz="48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48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오크라</a:t>
            </a:r>
            <a:r>
              <a:rPr lang="ko-KR" altLang="en-US" sz="48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48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블룸</a:t>
            </a:r>
            <a:r>
              <a:rPr lang="ko-KR" altLang="en-US" sz="4800" dirty="0">
                <a:latin typeface="HY견명조" panose="02030600000101010101" pitchFamily="18" charset="-127"/>
                <a:ea typeface="HY견명조" panose="02030600000101010101" pitchFamily="18" charset="-127"/>
              </a:rPr>
              <a:t> 효능 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556163" cy="9875838"/>
          </a:xfrm>
        </p:spPr>
      </p:pic>
    </p:spTree>
    <p:extLst>
      <p:ext uri="{BB962C8B-B14F-4D97-AF65-F5344CB8AC3E}">
        <p14:creationId xmlns:p14="http://schemas.microsoft.com/office/powerpoint/2010/main" val="26007804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1407" y="6694552"/>
            <a:ext cx="2435043" cy="331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75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15463</TotalTime>
  <Words>442</Words>
  <Application>Microsoft Office PowerPoint</Application>
  <PresentationFormat>사용자 지정</PresentationFormat>
  <Paragraphs>109</Paragraphs>
  <Slides>50</Slides>
  <Notes>28</Notes>
  <HiddenSlides>0</HiddenSlides>
  <MMClips>2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4" baseType="lpstr">
      <vt:lpstr>HY견고딕</vt:lpstr>
      <vt:lpstr>HY견명조</vt:lpstr>
      <vt:lpstr>HY궁서B</vt:lpstr>
      <vt:lpstr>HY신명조</vt:lpstr>
      <vt:lpstr>HY헤드라인M</vt:lpstr>
      <vt:lpstr>Paperlogy Bold</vt:lpstr>
      <vt:lpstr>Paperlogy Heavy</vt:lpstr>
      <vt:lpstr>Paperlogy Medium</vt:lpstr>
      <vt:lpstr>Paperlogy Semi-Bold</vt:lpstr>
      <vt:lpstr>Paperlogy Ultra-Bold</vt:lpstr>
      <vt:lpstr>바탕체</vt:lpstr>
      <vt:lpstr>휴먼옛체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>Presentation</dc:subject>
  <dc:creator>mangoboard.net_41782481</dc:creator>
  <cp:lastModifiedBy>태열 김</cp:lastModifiedBy>
  <cp:revision>188</cp:revision>
  <dcterms:created xsi:type="dcterms:W3CDTF">2024-12-05T01:37:41Z</dcterms:created>
  <dcterms:modified xsi:type="dcterms:W3CDTF">2026-10-09T00:10:34Z</dcterms:modified>
</cp:coreProperties>
</file>