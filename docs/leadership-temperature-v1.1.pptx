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Paperlogy" panose="020B0600000101010101" charset="-127"/>
      <p:regular r:id="rId19"/>
    </p:embeddedFont>
    <p:embeddedFont>
      <p:font typeface="Paperlogy Bold" panose="020B0600000101010101" charset="-127"/>
      <p:regular r:id="rId20"/>
    </p:embeddedFont>
    <p:embeddedFont>
      <p:font typeface="Paperlogy Heavy" panose="020B0600000101010101" charset="-127"/>
      <p:regular r:id="rId21"/>
    </p:embeddedFont>
    <p:embeddedFont>
      <p:font typeface="Paperlogy Medium" panose="020B0600000101010101" charset="-127"/>
      <p:regular r:id="rId22"/>
    </p:embeddedFont>
    <p:embeddedFont>
      <p:font typeface="Paperlogy Semi-Bold" panose="020B0600000101010101" charset="-127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22.07.2026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jpe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77195" y="1429207"/>
            <a:ext cx="6667805" cy="6667805"/>
            <a:chOff x="0" y="0"/>
            <a:chExt cx="8890406" cy="8890406"/>
          </a:xfrm>
        </p:grpSpPr>
        <p:sp>
          <p:nvSpPr>
            <p:cNvPr id="3" name="Freeform 3" descr="gen-dedup-60081749a11f457b33e51141bb65d427.png"/>
            <p:cNvSpPr/>
            <p:nvPr/>
          </p:nvSpPr>
          <p:spPr>
            <a:xfrm>
              <a:off x="0" y="0"/>
              <a:ext cx="8890381" cy="8890381"/>
            </a:xfrm>
            <a:custGeom>
              <a:avLst/>
              <a:gdLst/>
              <a:ahLst/>
              <a:cxnLst/>
              <a:rect l="l" t="t" r="r" b="b"/>
              <a:pathLst>
                <a:path w="8890381" h="8890381">
                  <a:moveTo>
                    <a:pt x="0" y="0"/>
                  </a:moveTo>
                  <a:lnTo>
                    <a:pt x="8890381" y="0"/>
                  </a:lnTo>
                  <a:lnTo>
                    <a:pt x="8890381" y="8890381"/>
                  </a:lnTo>
                  <a:lnTo>
                    <a:pt x="0" y="8890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-6348"/>
            <a:ext cx="18300697" cy="10299697"/>
            <a:chOff x="0" y="0"/>
            <a:chExt cx="24400929" cy="137329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0890" cy="13732890"/>
            </a:xfrm>
            <a:custGeom>
              <a:avLst/>
              <a:gdLst/>
              <a:ahLst/>
              <a:cxnLst/>
              <a:rect l="l" t="t" r="r" b="b"/>
              <a:pathLst>
                <a:path w="24400890" h="13732890">
                  <a:moveTo>
                    <a:pt x="0" y="0"/>
                  </a:moveTo>
                  <a:lnTo>
                    <a:pt x="24400890" y="0"/>
                  </a:lnTo>
                  <a:lnTo>
                    <a:pt x="24400890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1141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143000" y="0"/>
            <a:ext cx="38405" cy="10287000"/>
            <a:chOff x="0" y="0"/>
            <a:chExt cx="51206" cy="13716000"/>
          </a:xfrm>
        </p:grpSpPr>
        <p:sp>
          <p:nvSpPr>
            <p:cNvPr id="7" name="Freeform 7" descr="gen-dedup-9604d9bc556d475f8d0ebdc52161efcc.png"/>
            <p:cNvSpPr/>
            <p:nvPr/>
          </p:nvSpPr>
          <p:spPr>
            <a:xfrm>
              <a:off x="0" y="0"/>
              <a:ext cx="51181" cy="13716000"/>
            </a:xfrm>
            <a:custGeom>
              <a:avLst/>
              <a:gdLst/>
              <a:ahLst/>
              <a:cxnLst/>
              <a:rect l="l" t="t" r="r" b="b"/>
              <a:pathLst>
                <a:path w="51181" h="13716000">
                  <a:moveTo>
                    <a:pt x="0" y="0"/>
                  </a:moveTo>
                  <a:lnTo>
                    <a:pt x="51181" y="0"/>
                  </a:lnTo>
                  <a:lnTo>
                    <a:pt x="51181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397" r="347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904695" y="1933847"/>
            <a:ext cx="13335610" cy="390101"/>
            <a:chOff x="0" y="0"/>
            <a:chExt cx="17780813" cy="52013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780814" cy="520134"/>
            </a:xfrm>
            <a:custGeom>
              <a:avLst/>
              <a:gdLst/>
              <a:ahLst/>
              <a:cxnLst/>
              <a:rect l="l" t="t" r="r" b="b"/>
              <a:pathLst>
                <a:path w="17780814" h="520134">
                  <a:moveTo>
                    <a:pt x="0" y="0"/>
                  </a:moveTo>
                  <a:lnTo>
                    <a:pt x="17780814" y="0"/>
                  </a:lnTo>
                  <a:lnTo>
                    <a:pt x="17780814" y="520134"/>
                  </a:lnTo>
                  <a:lnTo>
                    <a:pt x="0" y="52013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635508" b="-596686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7780813" cy="529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99"/>
                </a:lnSpc>
              </a:pPr>
              <a:r>
                <a:rPr lang="en-US" sz="1999" spc="623">
                  <a:solidFill>
                    <a:srgbClr val="C5A880"/>
                  </a:solidFill>
                  <a:latin typeface="Paperlogy"/>
                  <a:ea typeface="Paperlogy"/>
                  <a:cs typeface="Paperlogy"/>
                  <a:sym typeface="Paperlogy"/>
                </a:rPr>
                <a:t>L.REMETTRE_Leadership Masterclass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904695" y="2825660"/>
            <a:ext cx="13335610" cy="3667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sz="12000" b="1" spc="300">
                <a:solidFill>
                  <a:srgbClr val="F3F4F6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변화하는 시대,</a:t>
            </a:r>
          </a:p>
          <a:p>
            <a:pPr algn="l">
              <a:lnSpc>
                <a:spcPts val="14400"/>
              </a:lnSpc>
            </a:pPr>
            <a:r>
              <a:rPr lang="en-US" sz="12000" b="1" spc="300">
                <a:solidFill>
                  <a:srgbClr val="C5A880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리더십의 진짜 온도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904695" y="6997610"/>
            <a:ext cx="14270116" cy="589915"/>
            <a:chOff x="0" y="0"/>
            <a:chExt cx="17780813" cy="73504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780814" cy="735043"/>
            </a:xfrm>
            <a:custGeom>
              <a:avLst/>
              <a:gdLst/>
              <a:ahLst/>
              <a:cxnLst/>
              <a:rect l="l" t="t" r="r" b="b"/>
              <a:pathLst>
                <a:path w="17780814" h="735043">
                  <a:moveTo>
                    <a:pt x="0" y="0"/>
                  </a:moveTo>
                  <a:lnTo>
                    <a:pt x="17780814" y="0"/>
                  </a:lnTo>
                  <a:lnTo>
                    <a:pt x="17780814" y="735043"/>
                  </a:lnTo>
                  <a:lnTo>
                    <a:pt x="0" y="73504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28966" b="-413725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17780813" cy="7445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99"/>
                </a:lnSpc>
              </a:pPr>
              <a:r>
                <a:rPr lang="en-US" sz="2999" b="1" spc="89">
                  <a:solidFill>
                    <a:srgbClr val="C5A880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앞장서서 빨리 갈 것인가, 함께 끝까지 갈 것인가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904695" y="8097012"/>
            <a:ext cx="9711512" cy="47625"/>
            <a:chOff x="0" y="0"/>
            <a:chExt cx="7620000" cy="37368"/>
          </a:xfrm>
        </p:grpSpPr>
        <p:sp>
          <p:nvSpPr>
            <p:cNvPr id="16" name="Freeform 16" descr="gen-dedup-de69fc631b9566d2999773436095af20.png"/>
            <p:cNvSpPr/>
            <p:nvPr/>
          </p:nvSpPr>
          <p:spPr>
            <a:xfrm>
              <a:off x="0" y="0"/>
              <a:ext cx="7620000" cy="37419"/>
            </a:xfrm>
            <a:custGeom>
              <a:avLst/>
              <a:gdLst/>
              <a:ahLst/>
              <a:cxnLst/>
              <a:rect l="l" t="t" r="r" b="b"/>
              <a:pathLst>
                <a:path w="7620000" h="37419">
                  <a:moveTo>
                    <a:pt x="0" y="0"/>
                  </a:moveTo>
                  <a:lnTo>
                    <a:pt x="7620000" y="0"/>
                  </a:lnTo>
                  <a:lnTo>
                    <a:pt x="7620000" y="37419"/>
                  </a:lnTo>
                  <a:lnTo>
                    <a:pt x="0" y="37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3807" t="-200" r="-23807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904695" y="8649462"/>
            <a:ext cx="5200124" cy="490008"/>
            <a:chOff x="0" y="0"/>
            <a:chExt cx="6933499" cy="65334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33499" cy="653343"/>
            </a:xfrm>
            <a:custGeom>
              <a:avLst/>
              <a:gdLst/>
              <a:ahLst/>
              <a:cxnLst/>
              <a:rect l="l" t="t" r="r" b="b"/>
              <a:pathLst>
                <a:path w="6933499" h="653343">
                  <a:moveTo>
                    <a:pt x="0" y="0"/>
                  </a:moveTo>
                  <a:lnTo>
                    <a:pt x="6933499" y="0"/>
                  </a:lnTo>
                  <a:lnTo>
                    <a:pt x="6933499" y="653343"/>
                  </a:lnTo>
                  <a:lnTo>
                    <a:pt x="0" y="65334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68975" r="-46546" b="-237088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6933499" cy="6628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999"/>
                </a:lnSpc>
              </a:pPr>
              <a:r>
                <a:rPr lang="en-US" sz="2499" b="1">
                  <a:solidFill>
                    <a:srgbClr val="FFFFFF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L.REMETTRE</a:t>
              </a:r>
              <a:r>
                <a:rPr lang="en-US" sz="2499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 BUSINESS GROUP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707" y="761695"/>
            <a:ext cx="16573500" cy="19202"/>
            <a:chOff x="0" y="0"/>
            <a:chExt cx="22098000" cy="25603"/>
          </a:xfrm>
        </p:grpSpPr>
        <p:sp>
          <p:nvSpPr>
            <p:cNvPr id="3" name="Freeform 3" descr="gen-dedup-8e155934e3e6c9b01e275e9a352dafea.png"/>
            <p:cNvSpPr/>
            <p:nvPr/>
          </p:nvSpPr>
          <p:spPr>
            <a:xfrm>
              <a:off x="0" y="0"/>
              <a:ext cx="22098000" cy="25654"/>
            </a:xfrm>
            <a:custGeom>
              <a:avLst/>
              <a:gdLst/>
              <a:ahLst/>
              <a:cxnLst/>
              <a:rect l="l" t="t" r="r" b="b"/>
              <a:pathLst>
                <a:path w="22098000" h="25654">
                  <a:moveTo>
                    <a:pt x="0" y="0"/>
                  </a:moveTo>
                  <a:lnTo>
                    <a:pt x="22098000" y="0"/>
                  </a:lnTo>
                  <a:lnTo>
                    <a:pt x="22098000" y="25654"/>
                  </a:lnTo>
                  <a:lnTo>
                    <a:pt x="0" y="2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396" r="-10342" b="59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250" y="952500"/>
            <a:ext cx="16573500" cy="390101"/>
            <a:chOff x="0" y="0"/>
            <a:chExt cx="22098000" cy="5201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098000" cy="520134"/>
            </a:xfrm>
            <a:custGeom>
              <a:avLst/>
              <a:gdLst/>
              <a:ahLst/>
              <a:cxnLst/>
              <a:rect l="l" t="t" r="r" b="b"/>
              <a:pathLst>
                <a:path w="22098000" h="520134">
                  <a:moveTo>
                    <a:pt x="0" y="0"/>
                  </a:moveTo>
                  <a:lnTo>
                    <a:pt x="22098000" y="0"/>
                  </a:lnTo>
                  <a:lnTo>
                    <a:pt x="22098000" y="520134"/>
                  </a:lnTo>
                  <a:lnTo>
                    <a:pt x="0" y="5201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96064" b="-759587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22098000" cy="529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99"/>
                </a:lnSpc>
              </a:pPr>
              <a:r>
                <a:rPr lang="en-US" sz="1999" b="1" spc="346">
                  <a:solidFill>
                    <a:srgbClr val="C5A880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PROLOGUE SCENARIO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57707" y="1428750"/>
            <a:ext cx="16573500" cy="1389168"/>
            <a:chOff x="0" y="0"/>
            <a:chExt cx="22098000" cy="185222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098000" cy="1852225"/>
            </a:xfrm>
            <a:custGeom>
              <a:avLst/>
              <a:gdLst/>
              <a:ahLst/>
              <a:cxnLst/>
              <a:rect l="l" t="t" r="r" b="b"/>
              <a:pathLst>
                <a:path w="22098000" h="1852225">
                  <a:moveTo>
                    <a:pt x="0" y="0"/>
                  </a:moveTo>
                  <a:lnTo>
                    <a:pt x="22098000" y="0"/>
                  </a:lnTo>
                  <a:lnTo>
                    <a:pt x="22098000" y="1852225"/>
                  </a:lnTo>
                  <a:lnTo>
                    <a:pt x="0" y="18522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0514" b="-154418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22098000" cy="18617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399"/>
                </a:lnSpc>
              </a:pPr>
              <a:r>
                <a:rPr lang="en-US" sz="6999" b="1">
                  <a:solidFill>
                    <a:srgbClr val="F3F4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산을 오르는 두 사람의 결말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57250" y="2857500"/>
            <a:ext cx="16573500" cy="390101"/>
            <a:chOff x="0" y="0"/>
            <a:chExt cx="22098000" cy="52013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98000" cy="520135"/>
            </a:xfrm>
            <a:custGeom>
              <a:avLst/>
              <a:gdLst/>
              <a:ahLst/>
              <a:cxnLst/>
              <a:rect l="l" t="t" r="r" b="b"/>
              <a:pathLst>
                <a:path w="22098000" h="520135">
                  <a:moveTo>
                    <a:pt x="0" y="0"/>
                  </a:moveTo>
                  <a:lnTo>
                    <a:pt x="22098000" y="0"/>
                  </a:lnTo>
                  <a:lnTo>
                    <a:pt x="22098000" y="520135"/>
                  </a:lnTo>
                  <a:lnTo>
                    <a:pt x="0" y="5201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85045" b="-77060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22098000" cy="529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똑같은 산, 똑같은 코스, 똑같은 목적지. 하지만 리더의 '온도'가 그 결과의 운명을 갈라놓습니다.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02970" y="3981659"/>
            <a:ext cx="7905750" cy="3952034"/>
            <a:chOff x="0" y="0"/>
            <a:chExt cx="1224808" cy="61227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24808" cy="612273"/>
            </a:xfrm>
            <a:custGeom>
              <a:avLst/>
              <a:gdLst/>
              <a:ahLst/>
              <a:cxnLst/>
              <a:rect l="l" t="t" r="r" b="b"/>
              <a:pathLst>
                <a:path w="1224808" h="612273">
                  <a:moveTo>
                    <a:pt x="27420" y="0"/>
                  </a:moveTo>
                  <a:lnTo>
                    <a:pt x="1197388" y="0"/>
                  </a:lnTo>
                  <a:cubicBezTo>
                    <a:pt x="1204660" y="0"/>
                    <a:pt x="1211634" y="2889"/>
                    <a:pt x="1216776" y="8031"/>
                  </a:cubicBezTo>
                  <a:cubicBezTo>
                    <a:pt x="1221919" y="13173"/>
                    <a:pt x="1224808" y="20148"/>
                    <a:pt x="1224808" y="27420"/>
                  </a:cubicBezTo>
                  <a:lnTo>
                    <a:pt x="1224808" y="584854"/>
                  </a:lnTo>
                  <a:cubicBezTo>
                    <a:pt x="1224808" y="592126"/>
                    <a:pt x="1221919" y="599100"/>
                    <a:pt x="1216776" y="604242"/>
                  </a:cubicBezTo>
                  <a:cubicBezTo>
                    <a:pt x="1211634" y="609385"/>
                    <a:pt x="1204660" y="612273"/>
                    <a:pt x="1197388" y="612273"/>
                  </a:cubicBezTo>
                  <a:lnTo>
                    <a:pt x="27420" y="612273"/>
                  </a:lnTo>
                  <a:cubicBezTo>
                    <a:pt x="20148" y="612273"/>
                    <a:pt x="13173" y="609385"/>
                    <a:pt x="8031" y="604242"/>
                  </a:cubicBezTo>
                  <a:cubicBezTo>
                    <a:pt x="2889" y="599100"/>
                    <a:pt x="0" y="592126"/>
                    <a:pt x="0" y="584854"/>
                  </a:cubicBezTo>
                  <a:lnTo>
                    <a:pt x="0" y="27420"/>
                  </a:lnTo>
                  <a:cubicBezTo>
                    <a:pt x="0" y="20148"/>
                    <a:pt x="2889" y="13173"/>
                    <a:pt x="8031" y="8031"/>
                  </a:cubicBezTo>
                  <a:cubicBezTo>
                    <a:pt x="13173" y="2889"/>
                    <a:pt x="20148" y="0"/>
                    <a:pt x="27420" y="0"/>
                  </a:cubicBezTo>
                  <a:close/>
                </a:path>
              </a:pathLst>
            </a:custGeom>
            <a:blipFill>
              <a:blip r:embed="rId5"/>
              <a:stretch>
                <a:fillRect l="-604" t="-16823" r="-6631" b="-15779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 rot="-5400000">
            <a:off x="11356469" y="2004801"/>
            <a:ext cx="3952034" cy="7905750"/>
            <a:chOff x="0" y="0"/>
            <a:chExt cx="5269378" cy="10541000"/>
          </a:xfrm>
        </p:grpSpPr>
        <p:sp>
          <p:nvSpPr>
            <p:cNvPr id="16" name="Freeform 16" descr="gen-dedup-235dea340c86b80c5369b82d182baed0.png"/>
            <p:cNvSpPr/>
            <p:nvPr/>
          </p:nvSpPr>
          <p:spPr>
            <a:xfrm>
              <a:off x="0" y="0"/>
              <a:ext cx="5269366" cy="10540999"/>
            </a:xfrm>
            <a:custGeom>
              <a:avLst/>
              <a:gdLst/>
              <a:ahLst/>
              <a:cxnLst/>
              <a:rect l="l" t="t" r="r" b="b"/>
              <a:pathLst>
                <a:path w="5269366" h="10540999">
                  <a:moveTo>
                    <a:pt x="509352" y="0"/>
                  </a:moveTo>
                  <a:lnTo>
                    <a:pt x="4760013" y="0"/>
                  </a:lnTo>
                  <a:cubicBezTo>
                    <a:pt x="5041321" y="0"/>
                    <a:pt x="5269366" y="228045"/>
                    <a:pt x="5269366" y="509352"/>
                  </a:cubicBezTo>
                  <a:lnTo>
                    <a:pt x="5269366" y="10031647"/>
                  </a:lnTo>
                  <a:cubicBezTo>
                    <a:pt x="5269366" y="10312954"/>
                    <a:pt x="5041321" y="10540999"/>
                    <a:pt x="4760013" y="10540999"/>
                  </a:cubicBezTo>
                  <a:lnTo>
                    <a:pt x="509352" y="10540999"/>
                  </a:lnTo>
                  <a:cubicBezTo>
                    <a:pt x="228045" y="10540999"/>
                    <a:pt x="0" y="10312954"/>
                    <a:pt x="0" y="10031647"/>
                  </a:cubicBezTo>
                  <a:lnTo>
                    <a:pt x="0" y="509352"/>
                  </a:lnTo>
                  <a:cubicBezTo>
                    <a:pt x="0" y="228045"/>
                    <a:pt x="228045" y="0"/>
                    <a:pt x="509352" y="0"/>
                  </a:cubicBezTo>
                  <a:close/>
                </a:path>
              </a:pathLst>
            </a:custGeom>
            <a:blipFill>
              <a:blip r:embed="rId6"/>
              <a:stretch>
                <a:fillRect l="-91766" r="-91769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311707" y="5387041"/>
            <a:ext cx="6954012" cy="490008"/>
            <a:chOff x="0" y="0"/>
            <a:chExt cx="9272016" cy="65334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272016" cy="653344"/>
            </a:xfrm>
            <a:custGeom>
              <a:avLst/>
              <a:gdLst/>
              <a:ahLst/>
              <a:cxnLst/>
              <a:rect l="l" t="t" r="r" b="b"/>
              <a:pathLst>
                <a:path w="9272016" h="653344">
                  <a:moveTo>
                    <a:pt x="0" y="0"/>
                  </a:moveTo>
                  <a:lnTo>
                    <a:pt x="9272016" y="0"/>
                  </a:lnTo>
                  <a:lnTo>
                    <a:pt x="9272016" y="653344"/>
                  </a:lnTo>
                  <a:lnTo>
                    <a:pt x="0" y="6533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1738" b="-22131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9272016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FFFFF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"아니, 왜 그것밖에 못 따라와요?"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02563" y="5953249"/>
            <a:ext cx="6954012" cy="734263"/>
            <a:chOff x="0" y="0"/>
            <a:chExt cx="9272016" cy="97901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272016" cy="979017"/>
            </a:xfrm>
            <a:custGeom>
              <a:avLst/>
              <a:gdLst/>
              <a:ahLst/>
              <a:cxnLst/>
              <a:rect l="l" t="t" r="r" b="b"/>
              <a:pathLst>
                <a:path w="9272016" h="979017">
                  <a:moveTo>
                    <a:pt x="0" y="0"/>
                  </a:moveTo>
                  <a:lnTo>
                    <a:pt x="9272016" y="0"/>
                  </a:lnTo>
                  <a:lnTo>
                    <a:pt x="9272016" y="979017"/>
                  </a:lnTo>
                  <a:lnTo>
                    <a:pt x="0" y="9790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4537" b="-134537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9272016" cy="9885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혼자 힘으로 성큼성큼 앞장서서 빠르게 정상에 도착하는 것을 전부라 믿습니다. 뒤쳐진 사람들의 헐떡임을 보지 못한 채 채찍질하며 원망합니다.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02563" y="6766934"/>
            <a:ext cx="6953098" cy="9144"/>
            <a:chOff x="0" y="0"/>
            <a:chExt cx="9270797" cy="12192"/>
          </a:xfrm>
        </p:grpSpPr>
        <p:sp>
          <p:nvSpPr>
            <p:cNvPr id="24" name="Freeform 24" descr="gen-dedup-5bb726e4d507407fe6afe1dd31057ef2.png"/>
            <p:cNvSpPr/>
            <p:nvPr/>
          </p:nvSpPr>
          <p:spPr>
            <a:xfrm>
              <a:off x="0" y="0"/>
              <a:ext cx="9270746" cy="12192"/>
            </a:xfrm>
            <a:custGeom>
              <a:avLst/>
              <a:gdLst/>
              <a:ahLst/>
              <a:cxnLst/>
              <a:rect l="l" t="t" r="r" b="b"/>
              <a:pathLst>
                <a:path w="9270746" h="12192">
                  <a:moveTo>
                    <a:pt x="0" y="0"/>
                  </a:moveTo>
                  <a:lnTo>
                    <a:pt x="9270746" y="0"/>
                  </a:lnTo>
                  <a:lnTo>
                    <a:pt x="9270746" y="12192"/>
                  </a:lnTo>
                  <a:lnTo>
                    <a:pt x="0" y="12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1999" r="1997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1302563" y="7014736"/>
            <a:ext cx="6954012" cy="390101"/>
            <a:chOff x="0" y="0"/>
            <a:chExt cx="9272016" cy="52013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272016" cy="520136"/>
            </a:xfrm>
            <a:custGeom>
              <a:avLst/>
              <a:gdLst/>
              <a:ahLst/>
              <a:cxnLst/>
              <a:rect l="l" t="t" r="r" b="b"/>
              <a:pathLst>
                <a:path w="9272016" h="520136">
                  <a:moveTo>
                    <a:pt x="0" y="0"/>
                  </a:moveTo>
                  <a:lnTo>
                    <a:pt x="9272016" y="0"/>
                  </a:lnTo>
                  <a:lnTo>
                    <a:pt x="9272016" y="520136"/>
                  </a:lnTo>
                  <a:lnTo>
                    <a:pt x="0" y="5201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07026" b="-287660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9272016" cy="529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99"/>
                </a:lnSpc>
              </a:pPr>
              <a:r>
                <a:rPr lang="en-US" sz="1999" b="1">
                  <a:solidFill>
                    <a:srgbClr val="EF4444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❌ 결과: 다음 산에 아무도 동참하지 않음 (홀로 고립된 가짜 리더)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96210" y="4514814"/>
            <a:ext cx="3171861" cy="529964"/>
            <a:chOff x="0" y="0"/>
            <a:chExt cx="4229148" cy="706619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4229148" cy="706619"/>
              <a:chOff x="0" y="0"/>
              <a:chExt cx="2973515" cy="496824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2973452" cy="496711"/>
              </a:xfrm>
              <a:custGeom>
                <a:avLst/>
                <a:gdLst/>
                <a:ahLst/>
                <a:cxnLst/>
                <a:rect l="l" t="t" r="r" b="b"/>
                <a:pathLst>
                  <a:path w="2973452" h="496711">
                    <a:moveTo>
                      <a:pt x="0" y="52651"/>
                    </a:moveTo>
                    <a:cubicBezTo>
                      <a:pt x="0" y="23611"/>
                      <a:pt x="23730" y="0"/>
                      <a:pt x="52916" y="0"/>
                    </a:cubicBezTo>
                    <a:lnTo>
                      <a:pt x="2920536" y="0"/>
                    </a:lnTo>
                    <a:cubicBezTo>
                      <a:pt x="2949722" y="0"/>
                      <a:pt x="2973452" y="23611"/>
                      <a:pt x="2973452" y="52651"/>
                    </a:cubicBezTo>
                    <a:lnTo>
                      <a:pt x="2973452" y="444060"/>
                    </a:lnTo>
                    <a:cubicBezTo>
                      <a:pt x="2973452" y="473100"/>
                      <a:pt x="2949722" y="496711"/>
                      <a:pt x="2920536" y="496711"/>
                    </a:cubicBezTo>
                    <a:lnTo>
                      <a:pt x="52916" y="496711"/>
                    </a:lnTo>
                    <a:cubicBezTo>
                      <a:pt x="23730" y="496837"/>
                      <a:pt x="0" y="473226"/>
                      <a:pt x="0" y="444186"/>
                    </a:cubicBezTo>
                    <a:close/>
                  </a:path>
                </a:pathLst>
              </a:custGeom>
              <a:solidFill>
                <a:srgbClr val="EF4444">
                  <a:alpha val="784"/>
                </a:srgbClr>
              </a:solidFill>
              <a:ln w="12700" cap="sq">
                <a:solidFill>
                  <a:srgbClr val="EF4444"/>
                </a:solidFill>
                <a:prstDash val="solid"/>
                <a:miter/>
              </a:ln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105360" y="112919"/>
              <a:ext cx="4018428" cy="480781"/>
              <a:chOff x="0" y="0"/>
              <a:chExt cx="4018428" cy="480781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4018427" cy="480780"/>
              </a:xfrm>
              <a:custGeom>
                <a:avLst/>
                <a:gdLst/>
                <a:ahLst/>
                <a:cxnLst/>
                <a:rect l="l" t="t" r="r" b="b"/>
                <a:pathLst>
                  <a:path w="4018427" h="480780">
                    <a:moveTo>
                      <a:pt x="0" y="0"/>
                    </a:moveTo>
                    <a:lnTo>
                      <a:pt x="4018427" y="0"/>
                    </a:lnTo>
                    <a:lnTo>
                      <a:pt x="4018427" y="480780"/>
                    </a:lnTo>
                    <a:lnTo>
                      <a:pt x="0" y="48078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69761" r="26333" b="-70182"/>
                </a:stretch>
              </a:blip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9525"/>
                <a:ext cx="4018428" cy="49030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59"/>
                  </a:lnSpc>
                </a:pPr>
                <a:r>
                  <a:rPr lang="en-US" sz="1799" b="1" spc="112">
                    <a:solidFill>
                      <a:srgbClr val="EF4444"/>
                    </a:solidFill>
                    <a:latin typeface="Paperlogy Bold"/>
                    <a:ea typeface="Paperlogy Bold"/>
                    <a:cs typeface="Paperlogy Bold"/>
                    <a:sym typeface="Paperlogy Bold"/>
                  </a:rPr>
                  <a:t>RED ZONE — 독선적 리더</a:t>
                </a: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9970160" y="5387041"/>
            <a:ext cx="6954012" cy="490008"/>
            <a:chOff x="0" y="0"/>
            <a:chExt cx="9272016" cy="65334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272016" cy="653344"/>
            </a:xfrm>
            <a:custGeom>
              <a:avLst/>
              <a:gdLst/>
              <a:ahLst/>
              <a:cxnLst/>
              <a:rect l="l" t="t" r="r" b="b"/>
              <a:pathLst>
                <a:path w="9272016" h="653344">
                  <a:moveTo>
                    <a:pt x="0" y="0"/>
                  </a:moveTo>
                  <a:lnTo>
                    <a:pt x="9272016" y="0"/>
                  </a:lnTo>
                  <a:lnTo>
                    <a:pt x="9272016" y="653344"/>
                  </a:lnTo>
                  <a:lnTo>
                    <a:pt x="0" y="6533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1738" b="-221310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9272016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FFFFF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"힘들면 손을 잡고 호흡을 맞춰 걸읍시다"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980219" y="5953249"/>
            <a:ext cx="6954012" cy="734263"/>
            <a:chOff x="0" y="0"/>
            <a:chExt cx="9272016" cy="979017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272016" cy="979017"/>
            </a:xfrm>
            <a:custGeom>
              <a:avLst/>
              <a:gdLst/>
              <a:ahLst/>
              <a:cxnLst/>
              <a:rect l="l" t="t" r="r" b="b"/>
              <a:pathLst>
                <a:path w="9272016" h="979017">
                  <a:moveTo>
                    <a:pt x="0" y="0"/>
                  </a:moveTo>
                  <a:lnTo>
                    <a:pt x="9272016" y="0"/>
                  </a:lnTo>
                  <a:lnTo>
                    <a:pt x="9272016" y="979017"/>
                  </a:lnTo>
                  <a:lnTo>
                    <a:pt x="0" y="9790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4537" b="-134537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9272016" cy="9885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속도는 조금 느리더라도 낙오자 곁에서 발걸음의 템포를 맞춥니다. 힘든 구간에서는 먼저 손을 건네고 튼튼하게 뒤를 받치며 끝까지 함께 갑니다.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971075" y="6766934"/>
            <a:ext cx="6953098" cy="9144"/>
            <a:chOff x="0" y="0"/>
            <a:chExt cx="9270797" cy="12192"/>
          </a:xfrm>
        </p:grpSpPr>
        <p:sp>
          <p:nvSpPr>
            <p:cNvPr id="41" name="Freeform 41" descr="gen-dedup-5bb726e4d507407fe6afe1dd31057ef2.png"/>
            <p:cNvSpPr/>
            <p:nvPr/>
          </p:nvSpPr>
          <p:spPr>
            <a:xfrm>
              <a:off x="0" y="0"/>
              <a:ext cx="9270746" cy="12192"/>
            </a:xfrm>
            <a:custGeom>
              <a:avLst/>
              <a:gdLst/>
              <a:ahLst/>
              <a:cxnLst/>
              <a:rect l="l" t="t" r="r" b="b"/>
              <a:pathLst>
                <a:path w="9270746" h="12192">
                  <a:moveTo>
                    <a:pt x="0" y="0"/>
                  </a:moveTo>
                  <a:lnTo>
                    <a:pt x="9270746" y="0"/>
                  </a:lnTo>
                  <a:lnTo>
                    <a:pt x="9270746" y="12192"/>
                  </a:lnTo>
                  <a:lnTo>
                    <a:pt x="0" y="12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1999" r="1997"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9971075" y="7014736"/>
            <a:ext cx="7414870" cy="390101"/>
            <a:chOff x="0" y="0"/>
            <a:chExt cx="9886493" cy="520135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9886493" cy="520136"/>
            </a:xfrm>
            <a:custGeom>
              <a:avLst/>
              <a:gdLst/>
              <a:ahLst/>
              <a:cxnLst/>
              <a:rect l="l" t="t" r="r" b="b"/>
              <a:pathLst>
                <a:path w="9886493" h="520136">
                  <a:moveTo>
                    <a:pt x="0" y="0"/>
                  </a:moveTo>
                  <a:lnTo>
                    <a:pt x="9886493" y="0"/>
                  </a:lnTo>
                  <a:lnTo>
                    <a:pt x="9886493" y="520136"/>
                  </a:lnTo>
                  <a:lnTo>
                    <a:pt x="0" y="5201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0045" b="-310679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9525"/>
              <a:ext cx="9886493" cy="529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99"/>
                </a:lnSpc>
              </a:pPr>
              <a:r>
                <a:rPr lang="en-US" sz="1999" b="1">
                  <a:solidFill>
                    <a:srgbClr val="22C55E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🌱 결과: 다음 산도, 그다음 산도 일행 전체가 자발적으로 끝까지 완주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971075" y="4514481"/>
            <a:ext cx="4445765" cy="514350"/>
            <a:chOff x="0" y="0"/>
            <a:chExt cx="5927686" cy="685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927589" cy="685644"/>
            </a:xfrm>
            <a:custGeom>
              <a:avLst/>
              <a:gdLst/>
              <a:ahLst/>
              <a:cxnLst/>
              <a:rect l="l" t="t" r="r" b="b"/>
              <a:pathLst>
                <a:path w="5927589" h="685644">
                  <a:moveTo>
                    <a:pt x="0" y="72677"/>
                  </a:moveTo>
                  <a:cubicBezTo>
                    <a:pt x="0" y="32592"/>
                    <a:pt x="36186" y="0"/>
                    <a:pt x="80694" y="0"/>
                  </a:cubicBezTo>
                  <a:lnTo>
                    <a:pt x="5846896" y="0"/>
                  </a:lnTo>
                  <a:cubicBezTo>
                    <a:pt x="5891403" y="0"/>
                    <a:pt x="5927589" y="32592"/>
                    <a:pt x="5927589" y="72677"/>
                  </a:cubicBezTo>
                  <a:lnTo>
                    <a:pt x="5927589" y="612966"/>
                  </a:lnTo>
                  <a:cubicBezTo>
                    <a:pt x="5927589" y="653052"/>
                    <a:pt x="5891403" y="685643"/>
                    <a:pt x="5846896" y="685643"/>
                  </a:cubicBezTo>
                  <a:lnTo>
                    <a:pt x="80694" y="685643"/>
                  </a:lnTo>
                  <a:cubicBezTo>
                    <a:pt x="36186" y="685813"/>
                    <a:pt x="0" y="653226"/>
                    <a:pt x="0" y="613140"/>
                  </a:cubicBezTo>
                  <a:close/>
                </a:path>
              </a:pathLst>
            </a:custGeom>
            <a:solidFill>
              <a:srgbClr val="22C55E">
                <a:alpha val="784"/>
              </a:srgbClr>
            </a:solidFill>
            <a:ln w="12700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10183627" y="4590605"/>
            <a:ext cx="4020660" cy="362102"/>
            <a:chOff x="0" y="0"/>
            <a:chExt cx="5360880" cy="482803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360880" cy="482802"/>
            </a:xfrm>
            <a:custGeom>
              <a:avLst/>
              <a:gdLst/>
              <a:ahLst/>
              <a:cxnLst/>
              <a:rect l="l" t="t" r="r" b="b"/>
              <a:pathLst>
                <a:path w="5360880" h="482802">
                  <a:moveTo>
                    <a:pt x="0" y="0"/>
                  </a:moveTo>
                  <a:lnTo>
                    <a:pt x="5360880" y="0"/>
                  </a:lnTo>
                  <a:lnTo>
                    <a:pt x="5360880" y="482802"/>
                  </a:lnTo>
                  <a:lnTo>
                    <a:pt x="0" y="4828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6372" r="27724" b="-106372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5360880" cy="4923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59"/>
                </a:lnSpc>
              </a:pPr>
              <a:r>
                <a:rPr lang="en-US" sz="1799" b="1" spc="112">
                  <a:solidFill>
                    <a:srgbClr val="22C55E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GREEN SIGN — 따뜻한 온도의 리더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57250" y="8667750"/>
            <a:ext cx="16954195" cy="1134499"/>
            <a:chOff x="0" y="0"/>
            <a:chExt cx="22605594" cy="1512665"/>
          </a:xfrm>
        </p:grpSpPr>
        <p:grpSp>
          <p:nvGrpSpPr>
            <p:cNvPr id="51" name="Group 51"/>
            <p:cNvGrpSpPr/>
            <p:nvPr/>
          </p:nvGrpSpPr>
          <p:grpSpPr>
            <a:xfrm>
              <a:off x="533197" y="0"/>
              <a:ext cx="22072397" cy="1512665"/>
              <a:chOff x="0" y="0"/>
              <a:chExt cx="4359980" cy="298798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4359980" cy="298798"/>
              </a:xfrm>
              <a:custGeom>
                <a:avLst/>
                <a:gdLst/>
                <a:ahLst/>
                <a:cxnLst/>
                <a:rect l="l" t="t" r="r" b="b"/>
                <a:pathLst>
                  <a:path w="4359980" h="298798">
                    <a:moveTo>
                      <a:pt x="0" y="0"/>
                    </a:moveTo>
                    <a:lnTo>
                      <a:pt x="4359980" y="0"/>
                    </a:lnTo>
                    <a:lnTo>
                      <a:pt x="4359980" y="298798"/>
                    </a:lnTo>
                    <a:lnTo>
                      <a:pt x="0" y="298798"/>
                    </a:lnTo>
                    <a:close/>
                  </a:path>
                </a:pathLst>
              </a:custGeom>
              <a:solidFill>
                <a:srgbClr val="3B3B3B"/>
              </a:soli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0" y="-9525"/>
                <a:ext cx="4359980" cy="3083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54" name="AutoShape 54"/>
            <p:cNvSpPr/>
            <p:nvPr/>
          </p:nvSpPr>
          <p:spPr>
            <a:xfrm>
              <a:off x="635000" y="0"/>
              <a:ext cx="0" cy="1512665"/>
            </a:xfrm>
            <a:prstGeom prst="line">
              <a:avLst/>
            </a:prstGeom>
            <a:ln w="1270000" cap="flat">
              <a:solidFill>
                <a:srgbClr val="EF44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202387" y="194450"/>
              <a:ext cx="2772776" cy="1140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FFFFFF"/>
                  </a:solidFill>
                  <a:latin typeface="Paperlogy Medium"/>
                  <a:ea typeface="Paperlogy Medium"/>
                  <a:cs typeface="Paperlogy Medium"/>
                  <a:sym typeface="Paperlogy Medium"/>
                </a:rPr>
                <a:t>L.REMETTRE Core Ethos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4828946" y="8989996"/>
            <a:ext cx="11681902" cy="490007"/>
            <a:chOff x="0" y="0"/>
            <a:chExt cx="15575869" cy="653343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5575868" cy="653342"/>
            </a:xfrm>
            <a:custGeom>
              <a:avLst/>
              <a:gdLst/>
              <a:ahLst/>
              <a:cxnLst/>
              <a:rect l="l" t="t" r="r" b="b"/>
              <a:pathLst>
                <a:path w="15575868" h="653342">
                  <a:moveTo>
                    <a:pt x="0" y="0"/>
                  </a:moveTo>
                  <a:lnTo>
                    <a:pt x="15575868" y="0"/>
                  </a:lnTo>
                  <a:lnTo>
                    <a:pt x="15575868" y="653342"/>
                  </a:lnTo>
                  <a:lnTo>
                    <a:pt x="0" y="6533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08799" r="28080" b="-259370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9525"/>
              <a:ext cx="15575869" cy="6628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FFFFF"/>
                  </a:solidFill>
                  <a:latin typeface="Paperlogy Medium"/>
                  <a:ea typeface="Paperlogy Medium"/>
                  <a:cs typeface="Paperlogy Medium"/>
                  <a:sym typeface="Paperlogy Medium"/>
                </a:rPr>
                <a:t> "리더십이란 얼마나 빨리 오르느냐가 아니라, 누구와 함께 오르느냐의 문제입니다."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707" y="761695"/>
            <a:ext cx="16573500" cy="19202"/>
            <a:chOff x="0" y="0"/>
            <a:chExt cx="22098000" cy="25603"/>
          </a:xfrm>
        </p:grpSpPr>
        <p:sp>
          <p:nvSpPr>
            <p:cNvPr id="3" name="Freeform 3" descr="gen-dedup-8e155934e3e6c9b01e275e9a352dafea.png"/>
            <p:cNvSpPr/>
            <p:nvPr/>
          </p:nvSpPr>
          <p:spPr>
            <a:xfrm>
              <a:off x="0" y="0"/>
              <a:ext cx="22098000" cy="25654"/>
            </a:xfrm>
            <a:custGeom>
              <a:avLst/>
              <a:gdLst/>
              <a:ahLst/>
              <a:cxnLst/>
              <a:rect l="l" t="t" r="r" b="b"/>
              <a:pathLst>
                <a:path w="22098000" h="25654">
                  <a:moveTo>
                    <a:pt x="0" y="0"/>
                  </a:moveTo>
                  <a:lnTo>
                    <a:pt x="22098000" y="0"/>
                  </a:lnTo>
                  <a:lnTo>
                    <a:pt x="22098000" y="25654"/>
                  </a:lnTo>
                  <a:lnTo>
                    <a:pt x="0" y="2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396" r="-10342" b="59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953805" y="3643427"/>
            <a:ext cx="8496605" cy="4853178"/>
            <a:chOff x="0" y="0"/>
            <a:chExt cx="11328806" cy="6470904"/>
          </a:xfrm>
        </p:grpSpPr>
        <p:sp>
          <p:nvSpPr>
            <p:cNvPr id="5" name="Freeform 5" descr="gen-dedup-f5b2f63c3eac0c4abc3c6a17a44a5b60.png"/>
            <p:cNvSpPr/>
            <p:nvPr/>
          </p:nvSpPr>
          <p:spPr>
            <a:xfrm>
              <a:off x="0" y="0"/>
              <a:ext cx="11328781" cy="6470929"/>
            </a:xfrm>
            <a:custGeom>
              <a:avLst/>
              <a:gdLst/>
              <a:ahLst/>
              <a:cxnLst/>
              <a:rect l="l" t="t" r="r" b="b"/>
              <a:pathLst>
                <a:path w="11328781" h="6470929">
                  <a:moveTo>
                    <a:pt x="0" y="0"/>
                  </a:moveTo>
                  <a:lnTo>
                    <a:pt x="11328781" y="0"/>
                  </a:lnTo>
                  <a:lnTo>
                    <a:pt x="11328781" y="6470929"/>
                  </a:lnTo>
                  <a:lnTo>
                    <a:pt x="0" y="64709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3B3B">
                <a:alpha val="40000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57250" y="952500"/>
            <a:ext cx="16573500" cy="390101"/>
            <a:chOff x="0" y="0"/>
            <a:chExt cx="22098000" cy="5201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098000" cy="520134"/>
            </a:xfrm>
            <a:custGeom>
              <a:avLst/>
              <a:gdLst/>
              <a:ahLst/>
              <a:cxnLst/>
              <a:rect l="l" t="t" r="r" b="b"/>
              <a:pathLst>
                <a:path w="22098000" h="520134">
                  <a:moveTo>
                    <a:pt x="0" y="0"/>
                  </a:moveTo>
                  <a:lnTo>
                    <a:pt x="22098000" y="0"/>
                  </a:lnTo>
                  <a:lnTo>
                    <a:pt x="22098000" y="520134"/>
                  </a:lnTo>
                  <a:lnTo>
                    <a:pt x="0" y="5201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96064" b="-759587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22098000" cy="529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99"/>
                </a:lnSpc>
              </a:pPr>
              <a:r>
                <a:rPr lang="en-US" sz="1999" b="1" spc="346">
                  <a:solidFill>
                    <a:srgbClr val="C5A880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ORGANIZATIONAL SURVIVAL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57250" y="1428750"/>
            <a:ext cx="16573500" cy="1389168"/>
            <a:chOff x="0" y="0"/>
            <a:chExt cx="22098000" cy="185222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098000" cy="1852225"/>
            </a:xfrm>
            <a:custGeom>
              <a:avLst/>
              <a:gdLst/>
              <a:ahLst/>
              <a:cxnLst/>
              <a:rect l="l" t="t" r="r" b="b"/>
              <a:pathLst>
                <a:path w="22098000" h="1852225">
                  <a:moveTo>
                    <a:pt x="0" y="0"/>
                  </a:moveTo>
                  <a:lnTo>
                    <a:pt x="22098000" y="0"/>
                  </a:lnTo>
                  <a:lnTo>
                    <a:pt x="22098000" y="1852225"/>
                  </a:lnTo>
                  <a:lnTo>
                    <a:pt x="0" y="18522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0514" b="-154418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22098000" cy="18617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399"/>
                </a:lnSpc>
              </a:pPr>
              <a:r>
                <a:rPr lang="en-US" sz="6999" b="1">
                  <a:solidFill>
                    <a:srgbClr val="F3F4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조직에서 직급이 올라갈 때 드러나는 비밀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57250" y="2857500"/>
            <a:ext cx="16573500" cy="390101"/>
            <a:chOff x="0" y="0"/>
            <a:chExt cx="22098000" cy="52013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098000" cy="520135"/>
            </a:xfrm>
            <a:custGeom>
              <a:avLst/>
              <a:gdLst/>
              <a:ahLst/>
              <a:cxnLst/>
              <a:rect l="l" t="t" r="r" b="b"/>
              <a:pathLst>
                <a:path w="22098000" h="520135">
                  <a:moveTo>
                    <a:pt x="0" y="0"/>
                  </a:moveTo>
                  <a:lnTo>
                    <a:pt x="22098000" y="0"/>
                  </a:lnTo>
                  <a:lnTo>
                    <a:pt x="22098000" y="520135"/>
                  </a:lnTo>
                  <a:lnTo>
                    <a:pt x="0" y="5201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85045" b="-770601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22098000" cy="529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단순히 성과와 역량 때문일까요? 오래 살아남는 강자들이 가진 진짜 무기는 따로 있습니다.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28700" y="5153870"/>
            <a:ext cx="7144207" cy="1953158"/>
            <a:chOff x="0" y="0"/>
            <a:chExt cx="9525610" cy="260421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525609" cy="2604210"/>
            </a:xfrm>
            <a:custGeom>
              <a:avLst/>
              <a:gdLst/>
              <a:ahLst/>
              <a:cxnLst/>
              <a:rect l="l" t="t" r="r" b="b"/>
              <a:pathLst>
                <a:path w="9525609" h="2604210">
                  <a:moveTo>
                    <a:pt x="0" y="0"/>
                  </a:moveTo>
                  <a:lnTo>
                    <a:pt x="9525609" y="0"/>
                  </a:lnTo>
                  <a:lnTo>
                    <a:pt x="9525609" y="2604210"/>
                  </a:lnTo>
                  <a:lnTo>
                    <a:pt x="0" y="26042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271" b="-21271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9525610" cy="26137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just">
                <a:lnSpc>
                  <a:spcPts val="2999"/>
                </a:lnSpc>
              </a:pPr>
              <a:r>
                <a:rPr lang="en-US" sz="2499" i="1">
                  <a:solidFill>
                    <a:srgbClr val="C5A880"/>
                  </a:solidFill>
                  <a:latin typeface="Paperlogy"/>
                  <a:ea typeface="Paperlogy"/>
                  <a:cs typeface="Paperlogy"/>
                  <a:sym typeface="Paperlogy"/>
                </a:rPr>
                <a:t>"정해진 규칙과 옛 원칙만 고집스럽게 부르짖는 사람치고, 이 험난한 비즈니스 전장에서 오래 버텨내는 경우는 좀처럼 없습니다. 끝까지 생존을 유지하는 유일한 힘은 유연함입니다."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39351" y="3916849"/>
            <a:ext cx="7525512" cy="490007"/>
            <a:chOff x="0" y="0"/>
            <a:chExt cx="10034016" cy="65334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034016" cy="653342"/>
            </a:xfrm>
            <a:custGeom>
              <a:avLst/>
              <a:gdLst/>
              <a:ahLst/>
              <a:cxnLst/>
              <a:rect l="l" t="t" r="r" b="b"/>
              <a:pathLst>
                <a:path w="10034016" h="653342">
                  <a:moveTo>
                    <a:pt x="0" y="0"/>
                  </a:moveTo>
                  <a:lnTo>
                    <a:pt x="10034016" y="0"/>
                  </a:lnTo>
                  <a:lnTo>
                    <a:pt x="10034016" y="653342"/>
                  </a:lnTo>
                  <a:lnTo>
                    <a:pt x="0" y="6533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70979" b="-227522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10034016" cy="6628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499" b="1" spc="124">
                  <a:solidFill>
                    <a:srgbClr val="FFFFFF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성장의 유연성 vs 고집스러운 도태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30207" y="4745784"/>
            <a:ext cx="7525512" cy="399627"/>
            <a:chOff x="0" y="0"/>
            <a:chExt cx="10034016" cy="53283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034016" cy="532835"/>
            </a:xfrm>
            <a:custGeom>
              <a:avLst/>
              <a:gdLst/>
              <a:ahLst/>
              <a:cxnLst/>
              <a:rect l="l" t="t" r="r" b="b"/>
              <a:pathLst>
                <a:path w="10034016" h="532835">
                  <a:moveTo>
                    <a:pt x="0" y="0"/>
                  </a:moveTo>
                  <a:lnTo>
                    <a:pt x="10034016" y="0"/>
                  </a:lnTo>
                  <a:lnTo>
                    <a:pt x="10034016" y="532835"/>
                  </a:lnTo>
                  <a:lnTo>
                    <a:pt x="0" y="5328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22768" b="-311091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10034016" cy="5423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EF4444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🔴 무의식에 각인된 수직적 억압의 대물림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30207" y="5114162"/>
            <a:ext cx="7525512" cy="910774"/>
            <a:chOff x="0" y="0"/>
            <a:chExt cx="10034016" cy="121436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034016" cy="1214366"/>
            </a:xfrm>
            <a:custGeom>
              <a:avLst/>
              <a:gdLst/>
              <a:ahLst/>
              <a:cxnLst/>
              <a:rect l="l" t="t" r="r" b="b"/>
              <a:pathLst>
                <a:path w="10034016" h="1214366">
                  <a:moveTo>
                    <a:pt x="0" y="0"/>
                  </a:moveTo>
                  <a:lnTo>
                    <a:pt x="10034016" y="0"/>
                  </a:lnTo>
                  <a:lnTo>
                    <a:pt x="10034016" y="1214366"/>
                  </a:lnTo>
                  <a:lnTo>
                    <a:pt x="0" y="12143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0309" b="-121690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10034016" cy="1223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가부장적인 가정(생선 몸통은 아버지 몫)과 교사의 말이 법이던 구시대적 억압을 겪은 세대가 새로운 환경에 직면할 때 갈등이 증폭됩니다. 변화를 거부하면 단숨에 '꼰대'로 고립됩니다.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30207" y="6292367"/>
            <a:ext cx="7524598" cy="47625"/>
            <a:chOff x="0" y="0"/>
            <a:chExt cx="10032797" cy="63500"/>
          </a:xfrm>
        </p:grpSpPr>
        <p:sp>
          <p:nvSpPr>
            <p:cNvPr id="28" name="Freeform 28" descr="gen-dedup-9a3c8848c349821db90e386bf5e5d436.png"/>
            <p:cNvSpPr/>
            <p:nvPr/>
          </p:nvSpPr>
          <p:spPr>
            <a:xfrm>
              <a:off x="0" y="0"/>
              <a:ext cx="10032746" cy="63500"/>
            </a:xfrm>
            <a:custGeom>
              <a:avLst/>
              <a:gdLst/>
              <a:ahLst/>
              <a:cxnLst/>
              <a:rect l="l" t="t" r="r" b="b"/>
              <a:pathLst>
                <a:path w="10032746" h="63500">
                  <a:moveTo>
                    <a:pt x="0" y="0"/>
                  </a:moveTo>
                  <a:lnTo>
                    <a:pt x="10032746" y="0"/>
                  </a:lnTo>
                  <a:lnTo>
                    <a:pt x="10032746" y="63500"/>
                  </a:lnTo>
                  <a:lnTo>
                    <a:pt x="0" y="6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00001" r="-200010"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9430207" y="6535692"/>
            <a:ext cx="7525512" cy="399627"/>
            <a:chOff x="0" y="0"/>
            <a:chExt cx="10034016" cy="53283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034016" cy="532835"/>
            </a:xfrm>
            <a:custGeom>
              <a:avLst/>
              <a:gdLst/>
              <a:ahLst/>
              <a:cxnLst/>
              <a:rect l="l" t="t" r="r" b="b"/>
              <a:pathLst>
                <a:path w="10034016" h="532835">
                  <a:moveTo>
                    <a:pt x="0" y="0"/>
                  </a:moveTo>
                  <a:lnTo>
                    <a:pt x="10034016" y="0"/>
                  </a:lnTo>
                  <a:lnTo>
                    <a:pt x="10034016" y="532835"/>
                  </a:lnTo>
                  <a:lnTo>
                    <a:pt x="0" y="5328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22768" b="-311091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9525"/>
              <a:ext cx="10034016" cy="5423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22C55E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🌱 세대와 환경을 인정하는 리더십의 온도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430207" y="6904823"/>
            <a:ext cx="7525512" cy="910774"/>
            <a:chOff x="0" y="0"/>
            <a:chExt cx="10034016" cy="121436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034016" cy="1214366"/>
            </a:xfrm>
            <a:custGeom>
              <a:avLst/>
              <a:gdLst/>
              <a:ahLst/>
              <a:cxnLst/>
              <a:rect l="l" t="t" r="r" b="b"/>
              <a:pathLst>
                <a:path w="10034016" h="1214366">
                  <a:moveTo>
                    <a:pt x="0" y="0"/>
                  </a:moveTo>
                  <a:lnTo>
                    <a:pt x="10034016" y="0"/>
                  </a:lnTo>
                  <a:lnTo>
                    <a:pt x="10034016" y="1214366"/>
                  </a:lnTo>
                  <a:lnTo>
                    <a:pt x="0" y="12143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0309" b="-121690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10034016" cy="1223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"세대가 달라졌으니 내가 좀 더 유연하게 맞춰가야겠구나." 변화에 맞춰 스스로 생각과 규칙을 전환할 줄 아는 유연성이야말로 진짜 고수들이 가진 강력한 무기입니다.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57250" y="8667750"/>
            <a:ext cx="16954195" cy="1134499"/>
            <a:chOff x="0" y="0"/>
            <a:chExt cx="22605594" cy="1512665"/>
          </a:xfrm>
        </p:grpSpPr>
        <p:grpSp>
          <p:nvGrpSpPr>
            <p:cNvPr id="36" name="Group 36"/>
            <p:cNvGrpSpPr/>
            <p:nvPr/>
          </p:nvGrpSpPr>
          <p:grpSpPr>
            <a:xfrm>
              <a:off x="533197" y="0"/>
              <a:ext cx="22072397" cy="1512665"/>
              <a:chOff x="0" y="0"/>
              <a:chExt cx="4359980" cy="298798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4359980" cy="298798"/>
              </a:xfrm>
              <a:custGeom>
                <a:avLst/>
                <a:gdLst/>
                <a:ahLst/>
                <a:cxnLst/>
                <a:rect l="l" t="t" r="r" b="b"/>
                <a:pathLst>
                  <a:path w="4359980" h="298798">
                    <a:moveTo>
                      <a:pt x="0" y="0"/>
                    </a:moveTo>
                    <a:lnTo>
                      <a:pt x="4359980" y="0"/>
                    </a:lnTo>
                    <a:lnTo>
                      <a:pt x="4359980" y="298798"/>
                    </a:lnTo>
                    <a:lnTo>
                      <a:pt x="0" y="298798"/>
                    </a:lnTo>
                    <a:close/>
                  </a:path>
                </a:pathLst>
              </a:custGeom>
              <a:solidFill>
                <a:srgbClr val="3B3B3B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0" y="-9525"/>
                <a:ext cx="4359980" cy="3083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39" name="AutoShape 39"/>
            <p:cNvSpPr/>
            <p:nvPr/>
          </p:nvSpPr>
          <p:spPr>
            <a:xfrm>
              <a:off x="635000" y="0"/>
              <a:ext cx="0" cy="1512665"/>
            </a:xfrm>
            <a:prstGeom prst="line">
              <a:avLst/>
            </a:prstGeom>
            <a:ln w="1270000" cap="flat">
              <a:solidFill>
                <a:srgbClr val="EF44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02387" y="194450"/>
              <a:ext cx="2772776" cy="1140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FFFFFF"/>
                  </a:solidFill>
                  <a:latin typeface="Paperlogy Medium"/>
                  <a:ea typeface="Paperlogy Medium"/>
                  <a:cs typeface="Paperlogy Medium"/>
                  <a:sym typeface="Paperlogy Medium"/>
                </a:rPr>
                <a:t>L.REMETTRE Core Ethos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3760541" y="9013296"/>
            <a:ext cx="12945820" cy="490007"/>
            <a:chOff x="0" y="0"/>
            <a:chExt cx="16799710" cy="63587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6799711" cy="635878"/>
            </a:xfrm>
            <a:custGeom>
              <a:avLst/>
              <a:gdLst/>
              <a:ahLst/>
              <a:cxnLst/>
              <a:rect l="l" t="t" r="r" b="b"/>
              <a:pathLst>
                <a:path w="16799711" h="635878">
                  <a:moveTo>
                    <a:pt x="0" y="0"/>
                  </a:moveTo>
                  <a:lnTo>
                    <a:pt x="16799711" y="0"/>
                  </a:lnTo>
                  <a:lnTo>
                    <a:pt x="16799711" y="635878"/>
                  </a:lnTo>
                  <a:lnTo>
                    <a:pt x="0" y="6358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17254" r="13899" b="-369214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16799710" cy="6454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FFFFF"/>
                  </a:solidFill>
                  <a:latin typeface="Paperlogy Medium"/>
                  <a:ea typeface="Paperlogy Medium"/>
                  <a:cs typeface="Paperlogy Medium"/>
                  <a:sym typeface="Paperlogy Medium"/>
                </a:rPr>
                <a:t>"꼰대는 나이가 많아서 되는 게 아닙니다. 시대에 맞춰 생각을 바꿀 의지가 없을 때 벌어지는 참사입니다."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707" y="761695"/>
            <a:ext cx="16573500" cy="19202"/>
            <a:chOff x="0" y="0"/>
            <a:chExt cx="22098000" cy="25603"/>
          </a:xfrm>
        </p:grpSpPr>
        <p:sp>
          <p:nvSpPr>
            <p:cNvPr id="3" name="Freeform 3" descr="gen-dedup-8e155934e3e6c9b01e275e9a352dafea.png"/>
            <p:cNvSpPr/>
            <p:nvPr/>
          </p:nvSpPr>
          <p:spPr>
            <a:xfrm>
              <a:off x="0" y="0"/>
              <a:ext cx="22098000" cy="25654"/>
            </a:xfrm>
            <a:custGeom>
              <a:avLst/>
              <a:gdLst/>
              <a:ahLst/>
              <a:cxnLst/>
              <a:rect l="l" t="t" r="r" b="b"/>
              <a:pathLst>
                <a:path w="22098000" h="25654">
                  <a:moveTo>
                    <a:pt x="0" y="0"/>
                  </a:moveTo>
                  <a:lnTo>
                    <a:pt x="22098000" y="0"/>
                  </a:lnTo>
                  <a:lnTo>
                    <a:pt x="22098000" y="25654"/>
                  </a:lnTo>
                  <a:lnTo>
                    <a:pt x="0" y="2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396" r="-10342" b="59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498863" y="3509138"/>
            <a:ext cx="7905750" cy="4467392"/>
            <a:chOff x="0" y="0"/>
            <a:chExt cx="10541000" cy="5956522"/>
          </a:xfrm>
        </p:grpSpPr>
        <p:sp>
          <p:nvSpPr>
            <p:cNvPr id="5" name="Freeform 5" descr="gen-dedup-4cc0b267fcf057a68787bb8faeafcb52.png"/>
            <p:cNvSpPr/>
            <p:nvPr/>
          </p:nvSpPr>
          <p:spPr>
            <a:xfrm>
              <a:off x="0" y="0"/>
              <a:ext cx="10540950" cy="5956547"/>
            </a:xfrm>
            <a:custGeom>
              <a:avLst/>
              <a:gdLst/>
              <a:ahLst/>
              <a:cxnLst/>
              <a:rect l="l" t="t" r="r" b="b"/>
              <a:pathLst>
                <a:path w="10540950" h="5956547">
                  <a:moveTo>
                    <a:pt x="192112" y="0"/>
                  </a:moveTo>
                  <a:lnTo>
                    <a:pt x="10348837" y="0"/>
                  </a:lnTo>
                  <a:cubicBezTo>
                    <a:pt x="10454938" y="0"/>
                    <a:pt x="10540950" y="86012"/>
                    <a:pt x="10540950" y="192112"/>
                  </a:cubicBezTo>
                  <a:lnTo>
                    <a:pt x="10540950" y="5764435"/>
                  </a:lnTo>
                  <a:cubicBezTo>
                    <a:pt x="10540950" y="5870536"/>
                    <a:pt x="10454938" y="5956547"/>
                    <a:pt x="10348837" y="5956547"/>
                  </a:cubicBezTo>
                  <a:lnTo>
                    <a:pt x="192112" y="5956547"/>
                  </a:lnTo>
                  <a:cubicBezTo>
                    <a:pt x="86012" y="5956547"/>
                    <a:pt x="0" y="5870536"/>
                    <a:pt x="0" y="5764435"/>
                  </a:cubicBezTo>
                  <a:lnTo>
                    <a:pt x="0" y="192112"/>
                  </a:lnTo>
                  <a:cubicBezTo>
                    <a:pt x="0" y="86012"/>
                    <a:pt x="86012" y="0"/>
                    <a:pt x="192112" y="0"/>
                  </a:cubicBezTo>
                  <a:close/>
                </a:path>
              </a:pathLst>
            </a:custGeom>
            <a:blipFill>
              <a:blip r:embed="rId4"/>
              <a:stretch>
                <a:fillRect t="-11525" b="-11525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857707" y="952500"/>
            <a:ext cx="16573500" cy="399627"/>
            <a:chOff x="0" y="0"/>
            <a:chExt cx="22098000" cy="5328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098000" cy="532835"/>
            </a:xfrm>
            <a:custGeom>
              <a:avLst/>
              <a:gdLst/>
              <a:ahLst/>
              <a:cxnLst/>
              <a:rect l="l" t="t" r="r" b="b"/>
              <a:pathLst>
                <a:path w="22098000" h="532835">
                  <a:moveTo>
                    <a:pt x="0" y="0"/>
                  </a:moveTo>
                  <a:lnTo>
                    <a:pt x="22098000" y="0"/>
                  </a:lnTo>
                  <a:lnTo>
                    <a:pt x="22098000" y="532835"/>
                  </a:lnTo>
                  <a:lnTo>
                    <a:pt x="0" y="53283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77089" b="-739097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22098000" cy="5423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346">
                  <a:solidFill>
                    <a:srgbClr val="C5A880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HISTORICAL PARADIGM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57707" y="1428750"/>
            <a:ext cx="16573500" cy="1389168"/>
            <a:chOff x="0" y="0"/>
            <a:chExt cx="22098000" cy="185222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098000" cy="1852225"/>
            </a:xfrm>
            <a:custGeom>
              <a:avLst/>
              <a:gdLst/>
              <a:ahLst/>
              <a:cxnLst/>
              <a:rect l="l" t="t" r="r" b="b"/>
              <a:pathLst>
                <a:path w="22098000" h="1852225">
                  <a:moveTo>
                    <a:pt x="0" y="0"/>
                  </a:moveTo>
                  <a:lnTo>
                    <a:pt x="22098000" y="0"/>
                  </a:lnTo>
                  <a:lnTo>
                    <a:pt x="22098000" y="1852225"/>
                  </a:lnTo>
                  <a:lnTo>
                    <a:pt x="0" y="185222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10514" b="-154418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22098000" cy="18617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399"/>
                </a:lnSpc>
              </a:pPr>
              <a:r>
                <a:rPr lang="en-US" sz="6999" b="1">
                  <a:solidFill>
                    <a:srgbClr val="F3F4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초기 스티브 잡스의 실수: 속도의 불통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57707" y="2857500"/>
            <a:ext cx="16573500" cy="390101"/>
            <a:chOff x="0" y="0"/>
            <a:chExt cx="22098000" cy="52013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098000" cy="520135"/>
            </a:xfrm>
            <a:custGeom>
              <a:avLst/>
              <a:gdLst/>
              <a:ahLst/>
              <a:cxnLst/>
              <a:rect l="l" t="t" r="r" b="b"/>
              <a:pathLst>
                <a:path w="22098000" h="520135">
                  <a:moveTo>
                    <a:pt x="0" y="0"/>
                  </a:moveTo>
                  <a:lnTo>
                    <a:pt x="22098000" y="0"/>
                  </a:lnTo>
                  <a:lnTo>
                    <a:pt x="22098000" y="520135"/>
                  </a:lnTo>
                  <a:lnTo>
                    <a:pt x="0" y="52013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85045" b="-770601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22098000" cy="529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세상을 바꿀 기세로 무장한 천재 리더가 왜 팀 전체에 심각한 균열을 일으켰을까요?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84301" y="3509138"/>
            <a:ext cx="7905750" cy="4467392"/>
            <a:chOff x="0" y="0"/>
            <a:chExt cx="1224808" cy="69211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24808" cy="692116"/>
            </a:xfrm>
            <a:custGeom>
              <a:avLst/>
              <a:gdLst/>
              <a:ahLst/>
              <a:cxnLst/>
              <a:rect l="l" t="t" r="r" b="b"/>
              <a:pathLst>
                <a:path w="1224808" h="692116">
                  <a:moveTo>
                    <a:pt x="27420" y="0"/>
                  </a:moveTo>
                  <a:lnTo>
                    <a:pt x="1197388" y="0"/>
                  </a:lnTo>
                  <a:cubicBezTo>
                    <a:pt x="1204660" y="0"/>
                    <a:pt x="1211634" y="2889"/>
                    <a:pt x="1216776" y="8031"/>
                  </a:cubicBezTo>
                  <a:cubicBezTo>
                    <a:pt x="1221919" y="13173"/>
                    <a:pt x="1224808" y="20148"/>
                    <a:pt x="1224808" y="27420"/>
                  </a:cubicBezTo>
                  <a:lnTo>
                    <a:pt x="1224808" y="664696"/>
                  </a:lnTo>
                  <a:cubicBezTo>
                    <a:pt x="1224808" y="671968"/>
                    <a:pt x="1221919" y="678943"/>
                    <a:pt x="1216776" y="684085"/>
                  </a:cubicBezTo>
                  <a:cubicBezTo>
                    <a:pt x="1211634" y="689227"/>
                    <a:pt x="1204660" y="692116"/>
                    <a:pt x="1197388" y="692116"/>
                  </a:cubicBezTo>
                  <a:lnTo>
                    <a:pt x="27420" y="692116"/>
                  </a:lnTo>
                  <a:cubicBezTo>
                    <a:pt x="20148" y="692116"/>
                    <a:pt x="13173" y="689227"/>
                    <a:pt x="8031" y="684085"/>
                  </a:cubicBezTo>
                  <a:cubicBezTo>
                    <a:pt x="2889" y="678943"/>
                    <a:pt x="0" y="671968"/>
                    <a:pt x="0" y="664696"/>
                  </a:cubicBezTo>
                  <a:lnTo>
                    <a:pt x="0" y="27420"/>
                  </a:lnTo>
                  <a:cubicBezTo>
                    <a:pt x="0" y="20148"/>
                    <a:pt x="2889" y="13173"/>
                    <a:pt x="8031" y="8031"/>
                  </a:cubicBezTo>
                  <a:cubicBezTo>
                    <a:pt x="13173" y="2889"/>
                    <a:pt x="20148" y="0"/>
                    <a:pt x="27420" y="0"/>
                  </a:cubicBezTo>
                  <a:close/>
                </a:path>
              </a:pathLst>
            </a:custGeom>
            <a:blipFill>
              <a:blip r:embed="rId6"/>
              <a:stretch>
                <a:fillRect l="-604" t="-8758" r="-6631" b="-8547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187882" y="4591292"/>
            <a:ext cx="6954012" cy="490008"/>
            <a:chOff x="0" y="0"/>
            <a:chExt cx="9272016" cy="65334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272016" cy="653344"/>
            </a:xfrm>
            <a:custGeom>
              <a:avLst/>
              <a:gdLst/>
              <a:ahLst/>
              <a:cxnLst/>
              <a:rect l="l" t="t" r="r" b="b"/>
              <a:pathLst>
                <a:path w="9272016" h="653344">
                  <a:moveTo>
                    <a:pt x="0" y="0"/>
                  </a:moveTo>
                  <a:lnTo>
                    <a:pt x="9272016" y="0"/>
                  </a:lnTo>
                  <a:lnTo>
                    <a:pt x="9272016" y="653344"/>
                  </a:lnTo>
                  <a:lnTo>
                    <a:pt x="0" y="6533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31738" b="-22131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9272016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FFFFF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"주 90시간 밤샘 근무 요구"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87882" y="5179790"/>
            <a:ext cx="6954012" cy="1020085"/>
            <a:chOff x="0" y="0"/>
            <a:chExt cx="9272016" cy="136011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272016" cy="1360114"/>
            </a:xfrm>
            <a:custGeom>
              <a:avLst/>
              <a:gdLst/>
              <a:ahLst/>
              <a:cxnLst/>
              <a:rect l="l" t="t" r="r" b="b"/>
              <a:pathLst>
                <a:path w="9272016" h="1360114">
                  <a:moveTo>
                    <a:pt x="0" y="0"/>
                  </a:moveTo>
                  <a:lnTo>
                    <a:pt x="9272016" y="0"/>
                  </a:lnTo>
                  <a:lnTo>
                    <a:pt x="9272016" y="1360114"/>
                  </a:lnTo>
                  <a:lnTo>
                    <a:pt x="0" y="136011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8644" b="-87018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9272016" cy="13696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dirty="0" err="1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매킨토시</a:t>
              </a:r>
              <a:r>
                <a:rPr lang="en-US" sz="1800" dirty="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 </a:t>
              </a:r>
              <a:r>
                <a:rPr lang="en-US" sz="1800" dirty="0" err="1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초기</a:t>
              </a:r>
              <a:r>
                <a:rPr lang="en-US" sz="1800" dirty="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 </a:t>
              </a:r>
              <a:r>
                <a:rPr lang="en-US" sz="1800" dirty="0" err="1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개발</a:t>
              </a:r>
              <a:r>
                <a:rPr lang="en-US" sz="1800" dirty="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 </a:t>
              </a:r>
              <a:r>
                <a:rPr lang="en-US" sz="1800" dirty="0" err="1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시절</a:t>
              </a:r>
              <a:r>
                <a:rPr lang="en-US" sz="1800" dirty="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, </a:t>
              </a:r>
              <a:r>
                <a:rPr lang="en-US" sz="1800" dirty="0" err="1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잡스는</a:t>
              </a:r>
              <a:r>
                <a:rPr lang="en-US" sz="1800" dirty="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 </a:t>
              </a:r>
              <a:r>
                <a:rPr lang="en-US" sz="1800" dirty="0" err="1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모든</a:t>
              </a:r>
              <a:r>
                <a:rPr lang="en-US" sz="1800" dirty="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 </a:t>
              </a:r>
              <a:r>
                <a:rPr lang="en-US" sz="1800" dirty="0" err="1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팀원들에게</a:t>
              </a:r>
              <a:r>
                <a:rPr lang="en-US" sz="1800" dirty="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 </a:t>
              </a:r>
              <a:r>
                <a:rPr lang="en-US" sz="1800" dirty="0" err="1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자신의</a:t>
              </a:r>
              <a:r>
                <a:rPr lang="en-US" sz="1800" dirty="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 </a:t>
              </a:r>
              <a:r>
                <a:rPr lang="en-US" sz="1800" dirty="0" err="1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절대적인</a:t>
              </a:r>
              <a:r>
                <a:rPr lang="en-US" sz="1800" dirty="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 </a:t>
              </a:r>
              <a:r>
                <a:rPr lang="en-US" sz="1800" dirty="0" err="1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기준과</a:t>
              </a:r>
              <a:r>
                <a:rPr lang="en-US" sz="1800" dirty="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 </a:t>
              </a:r>
              <a:r>
                <a:rPr lang="en-US" sz="1800" dirty="0" err="1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속도를</a:t>
              </a:r>
              <a:r>
                <a:rPr lang="en-US" sz="1800" dirty="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 </a:t>
              </a:r>
              <a:r>
                <a:rPr lang="en-US" sz="1800" dirty="0" err="1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무리하게</a:t>
              </a:r>
              <a:r>
                <a:rPr lang="en-US" sz="1800" dirty="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 </a:t>
              </a:r>
              <a:r>
                <a:rPr lang="en-US" sz="1800" dirty="0" err="1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강요했습니다</a:t>
              </a:r>
              <a:r>
                <a:rPr lang="en-US" sz="1800" dirty="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. "</a:t>
              </a:r>
              <a:r>
                <a:rPr lang="en-US" sz="1800" dirty="0" err="1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세상을</a:t>
              </a:r>
              <a:r>
                <a:rPr lang="en-US" sz="1800" dirty="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 </a:t>
              </a:r>
              <a:r>
                <a:rPr lang="en-US" sz="1800" dirty="0" err="1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바꿀</a:t>
              </a:r>
              <a:r>
                <a:rPr lang="en-US" sz="1800" dirty="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 </a:t>
              </a:r>
              <a:r>
                <a:rPr lang="en-US" sz="1800" dirty="0" err="1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기회인데</a:t>
              </a:r>
              <a:r>
                <a:rPr lang="en-US" sz="1800" dirty="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, </a:t>
              </a:r>
              <a:r>
                <a:rPr lang="en-US" sz="1800" dirty="0" err="1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겨우</a:t>
              </a:r>
              <a:r>
                <a:rPr lang="en-US" sz="1800" dirty="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 이 </a:t>
              </a:r>
              <a:r>
                <a:rPr lang="en-US" sz="1800" dirty="0" err="1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정도로</a:t>
              </a:r>
              <a:r>
                <a:rPr lang="en-US" sz="1800" dirty="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 </a:t>
              </a:r>
              <a:r>
                <a:rPr lang="en-US" sz="1800" dirty="0" err="1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지칩니까</a:t>
              </a:r>
              <a:r>
                <a:rPr lang="en-US" sz="1800" dirty="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?"</a:t>
              </a:r>
              <a:r>
                <a:rPr lang="en-US" sz="1800" dirty="0" err="1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라며</a:t>
              </a:r>
              <a:r>
                <a:rPr lang="en-US" sz="1800" dirty="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 </a:t>
              </a:r>
              <a:r>
                <a:rPr lang="en-US" sz="1800" dirty="0" err="1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채찍질을</a:t>
              </a:r>
              <a:r>
                <a:rPr lang="en-US" sz="1800" dirty="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 </a:t>
              </a:r>
              <a:r>
                <a:rPr lang="en-US" sz="1800" dirty="0" err="1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이어갔습니다</a:t>
              </a:r>
              <a:r>
                <a:rPr lang="en-US" sz="1800" dirty="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88796" y="6380850"/>
            <a:ext cx="6953098" cy="47625"/>
            <a:chOff x="0" y="0"/>
            <a:chExt cx="9270797" cy="63500"/>
          </a:xfrm>
        </p:grpSpPr>
        <p:sp>
          <p:nvSpPr>
            <p:cNvPr id="24" name="Freeform 24" descr="gen-dedup-5bb726e4d507407fe6afe1dd31057ef2.png"/>
            <p:cNvSpPr/>
            <p:nvPr/>
          </p:nvSpPr>
          <p:spPr>
            <a:xfrm>
              <a:off x="0" y="0"/>
              <a:ext cx="9270746" cy="63500"/>
            </a:xfrm>
            <a:custGeom>
              <a:avLst/>
              <a:gdLst/>
              <a:ahLst/>
              <a:cxnLst/>
              <a:rect l="l" t="t" r="r" b="b"/>
              <a:pathLst>
                <a:path w="9270746" h="63500">
                  <a:moveTo>
                    <a:pt x="0" y="0"/>
                  </a:moveTo>
                  <a:lnTo>
                    <a:pt x="9270746" y="0"/>
                  </a:lnTo>
                  <a:lnTo>
                    <a:pt x="9270746" y="63500"/>
                  </a:lnTo>
                  <a:lnTo>
                    <a:pt x="0" y="6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00001" r="-200012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1187882" y="6899752"/>
            <a:ext cx="8038490" cy="352044"/>
            <a:chOff x="0" y="0"/>
            <a:chExt cx="10717987" cy="46939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717987" cy="469393"/>
            </a:xfrm>
            <a:custGeom>
              <a:avLst/>
              <a:gdLst/>
              <a:ahLst/>
              <a:cxnLst/>
              <a:rect l="l" t="t" r="r" b="b"/>
              <a:pathLst>
                <a:path w="10717987" h="469393">
                  <a:moveTo>
                    <a:pt x="0" y="0"/>
                  </a:moveTo>
                  <a:lnTo>
                    <a:pt x="10717987" y="0"/>
                  </a:lnTo>
                  <a:lnTo>
                    <a:pt x="10717987" y="469393"/>
                  </a:lnTo>
                  <a:lnTo>
                    <a:pt x="0" y="46939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00241" b="-389591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10717987" cy="4789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EF4444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❌ 붕괴 요인: 따라올 수 없는 속도의 복제를 요구하여 구성원 전원 중도 탈락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88796" y="3905562"/>
            <a:ext cx="2286000" cy="514280"/>
            <a:chOff x="0" y="0"/>
            <a:chExt cx="3048000" cy="685706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3048000" cy="685706"/>
              <a:chOff x="0" y="0"/>
              <a:chExt cx="2306392" cy="518867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2306354" cy="518749"/>
              </a:xfrm>
              <a:custGeom>
                <a:avLst/>
                <a:gdLst/>
                <a:ahLst/>
                <a:cxnLst/>
                <a:rect l="l" t="t" r="r" b="b"/>
                <a:pathLst>
                  <a:path w="2306354" h="518749">
                    <a:moveTo>
                      <a:pt x="0" y="54987"/>
                    </a:moveTo>
                    <a:cubicBezTo>
                      <a:pt x="0" y="24658"/>
                      <a:pt x="23785" y="0"/>
                      <a:pt x="53039" y="0"/>
                    </a:cubicBezTo>
                    <a:lnTo>
                      <a:pt x="2253315" y="0"/>
                    </a:lnTo>
                    <a:cubicBezTo>
                      <a:pt x="2282569" y="0"/>
                      <a:pt x="2306354" y="24658"/>
                      <a:pt x="2306354" y="54987"/>
                    </a:cubicBezTo>
                    <a:lnTo>
                      <a:pt x="2306354" y="463762"/>
                    </a:lnTo>
                    <a:cubicBezTo>
                      <a:pt x="2306354" y="494090"/>
                      <a:pt x="2282569" y="518748"/>
                      <a:pt x="2253315" y="518748"/>
                    </a:cubicBezTo>
                    <a:lnTo>
                      <a:pt x="53039" y="518748"/>
                    </a:lnTo>
                    <a:cubicBezTo>
                      <a:pt x="23785" y="518880"/>
                      <a:pt x="0" y="494222"/>
                      <a:pt x="0" y="463893"/>
                    </a:cubicBezTo>
                    <a:close/>
                  </a:path>
                </a:pathLst>
              </a:custGeom>
              <a:solidFill>
                <a:srgbClr val="EF4444">
                  <a:alpha val="784"/>
                </a:srgbClr>
              </a:solidFill>
              <a:ln w="12700" cap="sq">
                <a:solidFill>
                  <a:srgbClr val="EF4444"/>
                </a:solidFill>
                <a:prstDash val="solid"/>
                <a:miter/>
              </a:ln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115596" y="108157"/>
              <a:ext cx="2816808" cy="469391"/>
              <a:chOff x="0" y="0"/>
              <a:chExt cx="2816808" cy="469391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2816808" cy="469391"/>
              </a:xfrm>
              <a:custGeom>
                <a:avLst/>
                <a:gdLst/>
                <a:ahLst/>
                <a:cxnLst/>
                <a:rect l="l" t="t" r="r" b="b"/>
                <a:pathLst>
                  <a:path w="2816808" h="469391">
                    <a:moveTo>
                      <a:pt x="0" y="0"/>
                    </a:moveTo>
                    <a:lnTo>
                      <a:pt x="2816808" y="0"/>
                    </a:lnTo>
                    <a:lnTo>
                      <a:pt x="2816808" y="469391"/>
                    </a:lnTo>
                    <a:lnTo>
                      <a:pt x="0" y="469391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t="-43466" r="18844" b="-46323"/>
                </a:stretch>
              </a:blip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9525"/>
                <a:ext cx="2816808" cy="47891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59"/>
                  </a:lnSpc>
                </a:pPr>
                <a:r>
                  <a:rPr lang="en-US" sz="1799" b="1">
                    <a:solidFill>
                      <a:srgbClr val="EF4444"/>
                    </a:solidFill>
                    <a:latin typeface="Paperlogy Bold"/>
                    <a:ea typeface="Paperlogy Bold"/>
                    <a:cs typeface="Paperlogy Bold"/>
                    <a:sym typeface="Paperlogy Bold"/>
                  </a:rPr>
                  <a:t>광적인 비전 제어 방식</a:t>
                </a: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9856394" y="4591292"/>
            <a:ext cx="6954012" cy="490008"/>
            <a:chOff x="0" y="0"/>
            <a:chExt cx="9272016" cy="65334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272016" cy="653344"/>
            </a:xfrm>
            <a:custGeom>
              <a:avLst/>
              <a:gdLst/>
              <a:ahLst/>
              <a:cxnLst/>
              <a:rect l="l" t="t" r="r" b="b"/>
              <a:pathLst>
                <a:path w="9272016" h="653344">
                  <a:moveTo>
                    <a:pt x="0" y="0"/>
                  </a:moveTo>
                  <a:lnTo>
                    <a:pt x="9272016" y="0"/>
                  </a:lnTo>
                  <a:lnTo>
                    <a:pt x="9272016" y="653344"/>
                  </a:lnTo>
                  <a:lnTo>
                    <a:pt x="0" y="6533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31738" b="-221310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9272016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FFFFF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등산 대장과 생초보의 산행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857308" y="5179790"/>
            <a:ext cx="6954012" cy="1020085"/>
            <a:chOff x="0" y="0"/>
            <a:chExt cx="9272016" cy="136011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272016" cy="1360114"/>
            </a:xfrm>
            <a:custGeom>
              <a:avLst/>
              <a:gdLst/>
              <a:ahLst/>
              <a:cxnLst/>
              <a:rect l="l" t="t" r="r" b="b"/>
              <a:pathLst>
                <a:path w="9272016" h="1360114">
                  <a:moveTo>
                    <a:pt x="0" y="0"/>
                  </a:moveTo>
                  <a:lnTo>
                    <a:pt x="9272016" y="0"/>
                  </a:lnTo>
                  <a:lnTo>
                    <a:pt x="9272016" y="1360114"/>
                  </a:lnTo>
                  <a:lnTo>
                    <a:pt x="0" y="136011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8644" b="-87018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9272016" cy="13696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매일 산을 타서 축지법 쓰듯 혼자 정상에 훌쩍 올라가서는, 저 아래서 헐떡이며 올라오는 초보자들을 향해 소리치는 것과 같습니다. 지친 초보자들은 결국 진저리를 치며 산을 영영 멀리하게 됩니다.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857308" y="6380850"/>
            <a:ext cx="6953098" cy="47625"/>
            <a:chOff x="0" y="0"/>
            <a:chExt cx="9270797" cy="63500"/>
          </a:xfrm>
        </p:grpSpPr>
        <p:sp>
          <p:nvSpPr>
            <p:cNvPr id="41" name="Freeform 41" descr="gen-dedup-5bb726e4d507407fe6afe1dd31057ef2.png"/>
            <p:cNvSpPr/>
            <p:nvPr/>
          </p:nvSpPr>
          <p:spPr>
            <a:xfrm>
              <a:off x="0" y="0"/>
              <a:ext cx="9270746" cy="63500"/>
            </a:xfrm>
            <a:custGeom>
              <a:avLst/>
              <a:gdLst/>
              <a:ahLst/>
              <a:cxnLst/>
              <a:rect l="l" t="t" r="r" b="b"/>
              <a:pathLst>
                <a:path w="9270746" h="63500">
                  <a:moveTo>
                    <a:pt x="0" y="0"/>
                  </a:moveTo>
                  <a:lnTo>
                    <a:pt x="9270746" y="0"/>
                  </a:lnTo>
                  <a:lnTo>
                    <a:pt x="9270746" y="63500"/>
                  </a:lnTo>
                  <a:lnTo>
                    <a:pt x="0" y="6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00001" r="-200012"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9856394" y="6899752"/>
            <a:ext cx="7257593" cy="618744"/>
            <a:chOff x="0" y="0"/>
            <a:chExt cx="9676790" cy="82499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9676791" cy="824992"/>
            </a:xfrm>
            <a:custGeom>
              <a:avLst/>
              <a:gdLst/>
              <a:ahLst/>
              <a:cxnLst/>
              <a:rect l="l" t="t" r="r" b="b"/>
              <a:pathLst>
                <a:path w="9676791" h="824992">
                  <a:moveTo>
                    <a:pt x="0" y="0"/>
                  </a:moveTo>
                  <a:lnTo>
                    <a:pt x="9676791" y="0"/>
                  </a:lnTo>
                  <a:lnTo>
                    <a:pt x="9676791" y="824992"/>
                  </a:lnTo>
                  <a:lnTo>
                    <a:pt x="0" y="8249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68153" r="4182" b="-169828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9525"/>
              <a:ext cx="9676790" cy="8345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C5A880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💡 교훈: 리더의 역할은 각자의 형편에 맞춰 역량을 펴도록 판을 깔아주는 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C5A880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                  완급 조절입니다.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857308" y="3905492"/>
            <a:ext cx="2286000" cy="514350"/>
            <a:chOff x="0" y="0"/>
            <a:chExt cx="3048000" cy="685800"/>
          </a:xfrm>
        </p:grpSpPr>
        <p:grpSp>
          <p:nvGrpSpPr>
            <p:cNvPr id="46" name="Group 46"/>
            <p:cNvGrpSpPr/>
            <p:nvPr/>
          </p:nvGrpSpPr>
          <p:grpSpPr>
            <a:xfrm>
              <a:off x="0" y="0"/>
              <a:ext cx="3048000" cy="685800"/>
              <a:chOff x="0" y="0"/>
              <a:chExt cx="3048000" cy="6858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3047950" cy="685644"/>
              </a:xfrm>
              <a:custGeom>
                <a:avLst/>
                <a:gdLst/>
                <a:ahLst/>
                <a:cxnLst/>
                <a:rect l="l" t="t" r="r" b="b"/>
                <a:pathLst>
                  <a:path w="3047950" h="685644">
                    <a:moveTo>
                      <a:pt x="0" y="72677"/>
                    </a:moveTo>
                    <a:cubicBezTo>
                      <a:pt x="0" y="32592"/>
                      <a:pt x="31433" y="0"/>
                      <a:pt x="70093" y="0"/>
                    </a:cubicBezTo>
                    <a:lnTo>
                      <a:pt x="2977857" y="0"/>
                    </a:lnTo>
                    <a:cubicBezTo>
                      <a:pt x="3016517" y="0"/>
                      <a:pt x="3047950" y="32592"/>
                      <a:pt x="3047950" y="72677"/>
                    </a:cubicBezTo>
                    <a:lnTo>
                      <a:pt x="3047950" y="612966"/>
                    </a:lnTo>
                    <a:cubicBezTo>
                      <a:pt x="3047950" y="653052"/>
                      <a:pt x="3016517" y="685643"/>
                      <a:pt x="2977857" y="685643"/>
                    </a:cubicBezTo>
                    <a:lnTo>
                      <a:pt x="70093" y="685643"/>
                    </a:lnTo>
                    <a:cubicBezTo>
                      <a:pt x="31433" y="685813"/>
                      <a:pt x="0" y="653226"/>
                      <a:pt x="0" y="613140"/>
                    </a:cubicBezTo>
                    <a:close/>
                  </a:path>
                </a:pathLst>
              </a:custGeom>
              <a:solidFill>
                <a:srgbClr val="C5A880">
                  <a:alpha val="784"/>
                </a:srgbClr>
              </a:solidFill>
              <a:ln w="12700" cap="sq">
                <a:solidFill>
                  <a:srgbClr val="C5A880"/>
                </a:solidFill>
                <a:prstDash val="solid"/>
                <a:miter/>
              </a:ln>
            </p:spPr>
          </p:sp>
        </p:grpSp>
        <p:grpSp>
          <p:nvGrpSpPr>
            <p:cNvPr id="48" name="Group 48"/>
            <p:cNvGrpSpPr/>
            <p:nvPr/>
          </p:nvGrpSpPr>
          <p:grpSpPr>
            <a:xfrm>
              <a:off x="214723" y="48313"/>
              <a:ext cx="2618554" cy="589175"/>
              <a:chOff x="0" y="0"/>
              <a:chExt cx="3048000" cy="6858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3048000" cy="685799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685799">
                    <a:moveTo>
                      <a:pt x="0" y="0"/>
                    </a:moveTo>
                    <a:lnTo>
                      <a:pt x="3048000" y="0"/>
                    </a:lnTo>
                    <a:lnTo>
                      <a:pt x="3048000" y="685799"/>
                    </a:lnTo>
                    <a:lnTo>
                      <a:pt x="0" y="685799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t="-29750" r="25000" b="-150"/>
                </a:stretch>
              </a:blip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0" y="-9525"/>
                <a:ext cx="3048000" cy="69532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59"/>
                  </a:lnSpc>
                </a:pPr>
                <a:r>
                  <a:rPr lang="en-US" sz="1799" b="1">
                    <a:solidFill>
                      <a:srgbClr val="C5A880"/>
                    </a:solidFill>
                    <a:latin typeface="Paperlogy Bold"/>
                    <a:ea typeface="Paperlogy Bold"/>
                    <a:cs typeface="Paperlogy Bold"/>
                    <a:sym typeface="Paperlogy Bold"/>
                  </a:rPr>
                  <a:t>축지법 등산 대장 비유</a:t>
                </a: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857250" y="8667750"/>
            <a:ext cx="16954195" cy="1134499"/>
            <a:chOff x="0" y="0"/>
            <a:chExt cx="22605594" cy="1512665"/>
          </a:xfrm>
        </p:grpSpPr>
        <p:grpSp>
          <p:nvGrpSpPr>
            <p:cNvPr id="52" name="Group 52"/>
            <p:cNvGrpSpPr/>
            <p:nvPr/>
          </p:nvGrpSpPr>
          <p:grpSpPr>
            <a:xfrm>
              <a:off x="533197" y="0"/>
              <a:ext cx="22072397" cy="1512665"/>
              <a:chOff x="0" y="0"/>
              <a:chExt cx="4359980" cy="298798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4359980" cy="298798"/>
              </a:xfrm>
              <a:custGeom>
                <a:avLst/>
                <a:gdLst/>
                <a:ahLst/>
                <a:cxnLst/>
                <a:rect l="l" t="t" r="r" b="b"/>
                <a:pathLst>
                  <a:path w="4359980" h="298798">
                    <a:moveTo>
                      <a:pt x="0" y="0"/>
                    </a:moveTo>
                    <a:lnTo>
                      <a:pt x="4359980" y="0"/>
                    </a:lnTo>
                    <a:lnTo>
                      <a:pt x="4359980" y="298798"/>
                    </a:lnTo>
                    <a:lnTo>
                      <a:pt x="0" y="298798"/>
                    </a:lnTo>
                    <a:close/>
                  </a:path>
                </a:pathLst>
              </a:custGeom>
              <a:solidFill>
                <a:srgbClr val="3B3B3B"/>
              </a:solidFill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0" y="-9525"/>
                <a:ext cx="4359980" cy="3083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55" name="AutoShape 55"/>
            <p:cNvSpPr/>
            <p:nvPr/>
          </p:nvSpPr>
          <p:spPr>
            <a:xfrm>
              <a:off x="635000" y="0"/>
              <a:ext cx="0" cy="1512665"/>
            </a:xfrm>
            <a:prstGeom prst="line">
              <a:avLst/>
            </a:prstGeom>
            <a:ln w="1270000" cap="flat">
              <a:solidFill>
                <a:srgbClr val="EF44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02387" y="194450"/>
              <a:ext cx="2772776" cy="1140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 b="1" dirty="0">
                  <a:solidFill>
                    <a:srgbClr val="FFFFFF"/>
                  </a:solidFill>
                  <a:latin typeface="Paperlogy Medium"/>
                  <a:ea typeface="Paperlogy Medium"/>
                  <a:cs typeface="Paperlogy Medium"/>
                  <a:sym typeface="Paperlogy Medium"/>
                </a:rPr>
                <a:t>L.REMETTRE Core Ethos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351526" y="8989996"/>
            <a:ext cx="10382670" cy="490007"/>
            <a:chOff x="0" y="0"/>
            <a:chExt cx="13843560" cy="653343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3843560" cy="653342"/>
            </a:xfrm>
            <a:custGeom>
              <a:avLst/>
              <a:gdLst/>
              <a:ahLst/>
              <a:cxnLst/>
              <a:rect l="l" t="t" r="r" b="b"/>
              <a:pathLst>
                <a:path w="13843560" h="653342">
                  <a:moveTo>
                    <a:pt x="0" y="0"/>
                  </a:moveTo>
                  <a:lnTo>
                    <a:pt x="13843560" y="0"/>
                  </a:lnTo>
                  <a:lnTo>
                    <a:pt x="13843560" y="653342"/>
                  </a:lnTo>
                  <a:lnTo>
                    <a:pt x="0" y="65334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10326" r="18711" b="-260897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9525"/>
              <a:ext cx="13843560" cy="6628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FFFFF"/>
                  </a:solidFill>
                  <a:latin typeface="Paperlogy Medium"/>
                  <a:ea typeface="Paperlogy Medium"/>
                  <a:cs typeface="Paperlogy Medium"/>
                  <a:sym typeface="Paperlogy Medium"/>
                </a:rPr>
                <a:t>"나 혼자 세상을 바꿀 천재가 된들 아래가 받쳐주지 못하면 조직은 즉시 붕괴합니다."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707" y="761695"/>
            <a:ext cx="16573500" cy="19202"/>
            <a:chOff x="0" y="0"/>
            <a:chExt cx="22098000" cy="25603"/>
          </a:xfrm>
        </p:grpSpPr>
        <p:sp>
          <p:nvSpPr>
            <p:cNvPr id="3" name="Freeform 3" descr="gen-dedup-8e155934e3e6c9b01e275e9a352dafea.png"/>
            <p:cNvSpPr/>
            <p:nvPr/>
          </p:nvSpPr>
          <p:spPr>
            <a:xfrm>
              <a:off x="0" y="0"/>
              <a:ext cx="22098000" cy="25654"/>
            </a:xfrm>
            <a:custGeom>
              <a:avLst/>
              <a:gdLst/>
              <a:ahLst/>
              <a:cxnLst/>
              <a:rect l="l" t="t" r="r" b="b"/>
              <a:pathLst>
                <a:path w="22098000" h="25654">
                  <a:moveTo>
                    <a:pt x="0" y="0"/>
                  </a:moveTo>
                  <a:lnTo>
                    <a:pt x="22098000" y="0"/>
                  </a:lnTo>
                  <a:lnTo>
                    <a:pt x="22098000" y="25654"/>
                  </a:lnTo>
                  <a:lnTo>
                    <a:pt x="0" y="2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396" r="-10342" b="59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76910" y="952500"/>
            <a:ext cx="16573500" cy="390101"/>
            <a:chOff x="0" y="0"/>
            <a:chExt cx="22098000" cy="5201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098000" cy="520134"/>
            </a:xfrm>
            <a:custGeom>
              <a:avLst/>
              <a:gdLst/>
              <a:ahLst/>
              <a:cxnLst/>
              <a:rect l="l" t="t" r="r" b="b"/>
              <a:pathLst>
                <a:path w="22098000" h="520134">
                  <a:moveTo>
                    <a:pt x="0" y="0"/>
                  </a:moveTo>
                  <a:lnTo>
                    <a:pt x="22098000" y="0"/>
                  </a:lnTo>
                  <a:lnTo>
                    <a:pt x="22098000" y="520134"/>
                  </a:lnTo>
                  <a:lnTo>
                    <a:pt x="0" y="5201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96064" b="-759587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22098000" cy="529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99"/>
                </a:lnSpc>
              </a:pPr>
              <a:r>
                <a:rPr lang="en-US" sz="1999" b="1" spc="346">
                  <a:solidFill>
                    <a:srgbClr val="C5A880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BREAKING THE ADDICTION CYCLES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57707" y="1428750"/>
            <a:ext cx="16573500" cy="1389168"/>
            <a:chOff x="0" y="0"/>
            <a:chExt cx="22098000" cy="185222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098000" cy="1852225"/>
            </a:xfrm>
            <a:custGeom>
              <a:avLst/>
              <a:gdLst/>
              <a:ahLst/>
              <a:cxnLst/>
              <a:rect l="l" t="t" r="r" b="b"/>
              <a:pathLst>
                <a:path w="22098000" h="1852225">
                  <a:moveTo>
                    <a:pt x="0" y="0"/>
                  </a:moveTo>
                  <a:lnTo>
                    <a:pt x="22098000" y="0"/>
                  </a:lnTo>
                  <a:lnTo>
                    <a:pt x="22098000" y="1852225"/>
                  </a:lnTo>
                  <a:lnTo>
                    <a:pt x="0" y="18522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0514" b="-154418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22098000" cy="18617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399"/>
                </a:lnSpc>
              </a:pPr>
              <a:r>
                <a:rPr lang="en-US" sz="6999" b="1">
                  <a:solidFill>
                    <a:srgbClr val="F3F4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지독한 관성 끊어내기: 리더의 공백기와 결단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57707" y="2857500"/>
            <a:ext cx="16573500" cy="390101"/>
            <a:chOff x="0" y="0"/>
            <a:chExt cx="22098000" cy="52013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98000" cy="520135"/>
            </a:xfrm>
            <a:custGeom>
              <a:avLst/>
              <a:gdLst/>
              <a:ahLst/>
              <a:cxnLst/>
              <a:rect l="l" t="t" r="r" b="b"/>
              <a:pathLst>
                <a:path w="22098000" h="520135">
                  <a:moveTo>
                    <a:pt x="0" y="0"/>
                  </a:moveTo>
                  <a:lnTo>
                    <a:pt x="22098000" y="0"/>
                  </a:lnTo>
                  <a:lnTo>
                    <a:pt x="22098000" y="520135"/>
                  </a:lnTo>
                  <a:lnTo>
                    <a:pt x="0" y="5201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85045" b="-77060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22098000" cy="529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과거의 익숙한 독소를 끊어내지 못한다면 결코 다음 단계의 성장은 찾아오지 않습니다.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2805" y="3647988"/>
            <a:ext cx="7905750" cy="4619375"/>
            <a:chOff x="0" y="0"/>
            <a:chExt cx="1224808" cy="71566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24808" cy="715662"/>
            </a:xfrm>
            <a:custGeom>
              <a:avLst/>
              <a:gdLst/>
              <a:ahLst/>
              <a:cxnLst/>
              <a:rect l="l" t="t" r="r" b="b"/>
              <a:pathLst>
                <a:path w="1224808" h="715662">
                  <a:moveTo>
                    <a:pt x="27420" y="0"/>
                  </a:moveTo>
                  <a:lnTo>
                    <a:pt x="1197388" y="0"/>
                  </a:lnTo>
                  <a:cubicBezTo>
                    <a:pt x="1204660" y="0"/>
                    <a:pt x="1211634" y="2889"/>
                    <a:pt x="1216776" y="8031"/>
                  </a:cubicBezTo>
                  <a:cubicBezTo>
                    <a:pt x="1221919" y="13173"/>
                    <a:pt x="1224808" y="20148"/>
                    <a:pt x="1224808" y="27420"/>
                  </a:cubicBezTo>
                  <a:lnTo>
                    <a:pt x="1224808" y="688242"/>
                  </a:lnTo>
                  <a:cubicBezTo>
                    <a:pt x="1224808" y="695514"/>
                    <a:pt x="1221919" y="702489"/>
                    <a:pt x="1216776" y="707631"/>
                  </a:cubicBezTo>
                  <a:cubicBezTo>
                    <a:pt x="1211634" y="712773"/>
                    <a:pt x="1204660" y="715662"/>
                    <a:pt x="1197388" y="715662"/>
                  </a:cubicBezTo>
                  <a:lnTo>
                    <a:pt x="27420" y="715662"/>
                  </a:lnTo>
                  <a:cubicBezTo>
                    <a:pt x="20148" y="715662"/>
                    <a:pt x="13173" y="712773"/>
                    <a:pt x="8031" y="707631"/>
                  </a:cubicBezTo>
                  <a:cubicBezTo>
                    <a:pt x="2889" y="702489"/>
                    <a:pt x="0" y="695514"/>
                    <a:pt x="0" y="688242"/>
                  </a:cubicBezTo>
                  <a:lnTo>
                    <a:pt x="0" y="27420"/>
                  </a:lnTo>
                  <a:cubicBezTo>
                    <a:pt x="0" y="20148"/>
                    <a:pt x="2889" y="13173"/>
                    <a:pt x="8031" y="8031"/>
                  </a:cubicBezTo>
                  <a:cubicBezTo>
                    <a:pt x="13173" y="2889"/>
                    <a:pt x="20148" y="0"/>
                    <a:pt x="27420" y="0"/>
                  </a:cubicBezTo>
                  <a:close/>
                </a:path>
              </a:pathLst>
            </a:custGeom>
            <a:blipFill>
              <a:blip r:embed="rId5"/>
              <a:stretch>
                <a:fillRect l="-604" t="-7170" r="-6631" b="-6276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 rot="-5400000">
            <a:off x="11072633" y="2004801"/>
            <a:ext cx="4619375" cy="7905750"/>
            <a:chOff x="0" y="0"/>
            <a:chExt cx="6159166" cy="10541000"/>
          </a:xfrm>
        </p:grpSpPr>
        <p:sp>
          <p:nvSpPr>
            <p:cNvPr id="16" name="Freeform 16" descr="gen-dedup-235dea340c86b80c5369b82d182baed0.png"/>
            <p:cNvSpPr/>
            <p:nvPr/>
          </p:nvSpPr>
          <p:spPr>
            <a:xfrm>
              <a:off x="0" y="0"/>
              <a:ext cx="6159152" cy="10540999"/>
            </a:xfrm>
            <a:custGeom>
              <a:avLst/>
              <a:gdLst/>
              <a:ahLst/>
              <a:cxnLst/>
              <a:rect l="l" t="t" r="r" b="b"/>
              <a:pathLst>
                <a:path w="6159152" h="10540999">
                  <a:moveTo>
                    <a:pt x="435768" y="0"/>
                  </a:moveTo>
                  <a:lnTo>
                    <a:pt x="5723383" y="0"/>
                  </a:lnTo>
                  <a:cubicBezTo>
                    <a:pt x="5964051" y="0"/>
                    <a:pt x="6159152" y="195100"/>
                    <a:pt x="6159152" y="435768"/>
                  </a:cubicBezTo>
                  <a:lnTo>
                    <a:pt x="6159152" y="10105231"/>
                  </a:lnTo>
                  <a:cubicBezTo>
                    <a:pt x="6159152" y="10345900"/>
                    <a:pt x="5964051" y="10540999"/>
                    <a:pt x="5723383" y="10540999"/>
                  </a:cubicBezTo>
                  <a:lnTo>
                    <a:pt x="435768" y="10540999"/>
                  </a:lnTo>
                  <a:cubicBezTo>
                    <a:pt x="195100" y="10540999"/>
                    <a:pt x="0" y="10345900"/>
                    <a:pt x="0" y="10105231"/>
                  </a:cubicBezTo>
                  <a:lnTo>
                    <a:pt x="0" y="435768"/>
                  </a:lnTo>
                  <a:cubicBezTo>
                    <a:pt x="0" y="195100"/>
                    <a:pt x="195100" y="0"/>
                    <a:pt x="435768" y="0"/>
                  </a:cubicBezTo>
                  <a:close/>
                </a:path>
              </a:pathLst>
            </a:custGeom>
            <a:blipFill>
              <a:blip r:embed="rId6"/>
              <a:stretch>
                <a:fillRect l="-71286" r="-71289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333195" y="4643504"/>
            <a:ext cx="6954012" cy="490008"/>
            <a:chOff x="0" y="0"/>
            <a:chExt cx="9272016" cy="65334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272016" cy="653344"/>
            </a:xfrm>
            <a:custGeom>
              <a:avLst/>
              <a:gdLst/>
              <a:ahLst/>
              <a:cxnLst/>
              <a:rect l="l" t="t" r="r" b="b"/>
              <a:pathLst>
                <a:path w="9272016" h="653344">
                  <a:moveTo>
                    <a:pt x="0" y="0"/>
                  </a:moveTo>
                  <a:lnTo>
                    <a:pt x="9272016" y="0"/>
                  </a:lnTo>
                  <a:lnTo>
                    <a:pt x="9272016" y="653344"/>
                  </a:lnTo>
                  <a:lnTo>
                    <a:pt x="0" y="6533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1738" b="-22131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9272016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FFFFF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알코올 중독자가 끊지 못하는 진짜 이유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33195" y="5518740"/>
            <a:ext cx="6954012" cy="1200116"/>
            <a:chOff x="0" y="0"/>
            <a:chExt cx="9272016" cy="160015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272016" cy="1600155"/>
            </a:xfrm>
            <a:custGeom>
              <a:avLst/>
              <a:gdLst/>
              <a:ahLst/>
              <a:cxnLst/>
              <a:rect l="l" t="t" r="r" b="b"/>
              <a:pathLst>
                <a:path w="9272016" h="1600155">
                  <a:moveTo>
                    <a:pt x="0" y="0"/>
                  </a:moveTo>
                  <a:lnTo>
                    <a:pt x="9272016" y="0"/>
                  </a:lnTo>
                  <a:lnTo>
                    <a:pt x="9272016" y="1600155"/>
                  </a:lnTo>
                  <a:lnTo>
                    <a:pt x="0" y="16001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760" b="-74049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9272016" cy="16096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이미 그 독소에</a:t>
              </a:r>
              <a:r>
                <a:rPr lang="en-US" sz="1800" b="1">
                  <a:solidFill>
                    <a:srgbClr val="FFFFFF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 '중독'</a:t>
              </a: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되어 있기 때문입니다. 머리로는 끊어야지 다짐해도 익숙함을 이기지 못하고 제자리로 돌아갑니다. 이 질긴 악순환의 사슬을 끊기 위해서는 자기 나쁜 습관을 자각하고 과감히 끊어내는</a:t>
              </a:r>
              <a:r>
                <a:rPr lang="en-US" sz="1800">
                  <a:solidFill>
                    <a:srgbClr val="FFFFFF"/>
                  </a:solidFill>
                  <a:latin typeface="Paperlogy"/>
                  <a:ea typeface="Paperlogy"/>
                  <a:cs typeface="Paperlogy"/>
                  <a:sym typeface="Paperlogy"/>
                </a:rPr>
                <a:t> </a:t>
              </a:r>
              <a:r>
                <a:rPr lang="en-US" sz="1800" b="1">
                  <a:solidFill>
                    <a:srgbClr val="FFFFFF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'결단'</a:t>
              </a: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과 즉각적인</a:t>
              </a:r>
              <a:r>
                <a:rPr lang="en-US" sz="1800">
                  <a:solidFill>
                    <a:srgbClr val="FFFFFF"/>
                  </a:solidFill>
                  <a:latin typeface="Paperlogy"/>
                  <a:ea typeface="Paperlogy"/>
                  <a:cs typeface="Paperlogy"/>
                  <a:sym typeface="Paperlogy"/>
                </a:rPr>
                <a:t> </a:t>
              </a:r>
              <a:r>
                <a:rPr lang="en-US" sz="1800" b="1">
                  <a:solidFill>
                    <a:srgbClr val="FFFFFF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'실천'</a:t>
              </a: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이 결합해야 합니다.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33195" y="3977331"/>
            <a:ext cx="1905000" cy="514350"/>
            <a:chOff x="0" y="0"/>
            <a:chExt cx="2540000" cy="685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540013" cy="685644"/>
            </a:xfrm>
            <a:custGeom>
              <a:avLst/>
              <a:gdLst/>
              <a:ahLst/>
              <a:cxnLst/>
              <a:rect l="l" t="t" r="r" b="b"/>
              <a:pathLst>
                <a:path w="2540013" h="685644">
                  <a:moveTo>
                    <a:pt x="0" y="72677"/>
                  </a:moveTo>
                  <a:cubicBezTo>
                    <a:pt x="0" y="32592"/>
                    <a:pt x="32026" y="0"/>
                    <a:pt x="71417" y="0"/>
                  </a:cubicBezTo>
                  <a:lnTo>
                    <a:pt x="2468600" y="0"/>
                  </a:lnTo>
                  <a:cubicBezTo>
                    <a:pt x="2507991" y="0"/>
                    <a:pt x="2540013" y="32592"/>
                    <a:pt x="2540013" y="72677"/>
                  </a:cubicBezTo>
                  <a:lnTo>
                    <a:pt x="2540013" y="612966"/>
                  </a:lnTo>
                  <a:cubicBezTo>
                    <a:pt x="2540013" y="653052"/>
                    <a:pt x="2507991" y="685643"/>
                    <a:pt x="2468600" y="685643"/>
                  </a:cubicBezTo>
                  <a:lnTo>
                    <a:pt x="71417" y="685643"/>
                  </a:lnTo>
                  <a:cubicBezTo>
                    <a:pt x="32026" y="685813"/>
                    <a:pt x="0" y="653226"/>
                    <a:pt x="0" y="613140"/>
                  </a:cubicBezTo>
                  <a:close/>
                </a:path>
              </a:pathLst>
            </a:custGeom>
            <a:solidFill>
              <a:srgbClr val="EF4444">
                <a:alpha val="784"/>
              </a:srgbClr>
            </a:solidFill>
            <a:ln w="1270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526107" y="4058484"/>
            <a:ext cx="1519176" cy="352044"/>
            <a:chOff x="0" y="0"/>
            <a:chExt cx="2025568" cy="46939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025568" cy="469391"/>
            </a:xfrm>
            <a:custGeom>
              <a:avLst/>
              <a:gdLst/>
              <a:ahLst/>
              <a:cxnLst/>
              <a:rect l="l" t="t" r="r" b="b"/>
              <a:pathLst>
                <a:path w="2025568" h="469391">
                  <a:moveTo>
                    <a:pt x="0" y="0"/>
                  </a:moveTo>
                  <a:lnTo>
                    <a:pt x="2025568" y="0"/>
                  </a:lnTo>
                  <a:lnTo>
                    <a:pt x="2025568" y="469391"/>
                  </a:lnTo>
                  <a:lnTo>
                    <a:pt x="0" y="46939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106" r="7788" b="-28963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2025568" cy="4789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EF4444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습관의 관성 루프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001707" y="4643504"/>
            <a:ext cx="6954012" cy="490008"/>
            <a:chOff x="0" y="0"/>
            <a:chExt cx="9272016" cy="65334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272016" cy="653344"/>
            </a:xfrm>
            <a:custGeom>
              <a:avLst/>
              <a:gdLst/>
              <a:ahLst/>
              <a:cxnLst/>
              <a:rect l="l" t="t" r="r" b="b"/>
              <a:pathLst>
                <a:path w="9272016" h="653344">
                  <a:moveTo>
                    <a:pt x="0" y="0"/>
                  </a:moveTo>
                  <a:lnTo>
                    <a:pt x="9272016" y="0"/>
                  </a:lnTo>
                  <a:lnTo>
                    <a:pt x="9272016" y="653344"/>
                  </a:lnTo>
                  <a:lnTo>
                    <a:pt x="0" y="6533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1738" b="-221310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9272016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FFFFF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자기가 만든 회사에서 쫓겨난 시련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001707" y="5518740"/>
            <a:ext cx="6954012" cy="1200116"/>
            <a:chOff x="0" y="0"/>
            <a:chExt cx="9272016" cy="160015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272016" cy="1600155"/>
            </a:xfrm>
            <a:custGeom>
              <a:avLst/>
              <a:gdLst/>
              <a:ahLst/>
              <a:cxnLst/>
              <a:rect l="l" t="t" r="r" b="b"/>
              <a:pathLst>
                <a:path w="9272016" h="1600155">
                  <a:moveTo>
                    <a:pt x="0" y="0"/>
                  </a:moveTo>
                  <a:lnTo>
                    <a:pt x="9272016" y="0"/>
                  </a:lnTo>
                  <a:lnTo>
                    <a:pt x="9272016" y="1600155"/>
                  </a:lnTo>
                  <a:lnTo>
                    <a:pt x="0" y="16001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760" b="-74049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9272016" cy="16096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아무리 천재성이 뛰어나도 구성원이 기꺼이 따르게 만드는 </a:t>
              </a:r>
              <a:r>
                <a:rPr lang="en-US" sz="1800" b="1">
                  <a:solidFill>
                    <a:srgbClr val="FFFFFF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'팔로워십'</a:t>
              </a: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이 없으면 리더는 단숨에 고립됩니다. 잡스는 쫓겨난 공백기 동안 픽사와 넥스트를 이끌며 타인의 말을 경청하고 상대를 진심으로 존중하는 진짜</a:t>
              </a:r>
              <a:r>
                <a:rPr lang="en-US" sz="1800" b="1">
                  <a:solidFill>
                    <a:srgbClr val="FFFFFF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 '유연함'</a:t>
              </a: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을 뼈저리게 터득했습니다.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001707" y="6595299"/>
            <a:ext cx="6953098" cy="47625"/>
            <a:chOff x="0" y="0"/>
            <a:chExt cx="9270797" cy="63500"/>
          </a:xfrm>
        </p:grpSpPr>
        <p:sp>
          <p:nvSpPr>
            <p:cNvPr id="35" name="Freeform 35" descr="gen-dedup-5bb726e4d507407fe6afe1dd31057ef2.png"/>
            <p:cNvSpPr/>
            <p:nvPr/>
          </p:nvSpPr>
          <p:spPr>
            <a:xfrm>
              <a:off x="0" y="0"/>
              <a:ext cx="9270746" cy="63500"/>
            </a:xfrm>
            <a:custGeom>
              <a:avLst/>
              <a:gdLst/>
              <a:ahLst/>
              <a:cxnLst/>
              <a:rect l="l" t="t" r="r" b="b"/>
              <a:pathLst>
                <a:path w="9270746" h="63500">
                  <a:moveTo>
                    <a:pt x="0" y="0"/>
                  </a:moveTo>
                  <a:lnTo>
                    <a:pt x="9270746" y="0"/>
                  </a:lnTo>
                  <a:lnTo>
                    <a:pt x="9270746" y="63500"/>
                  </a:lnTo>
                  <a:lnTo>
                    <a:pt x="0" y="6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00001" r="-200012"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>
            <a:off x="10000793" y="7147749"/>
            <a:ext cx="6954012" cy="618744"/>
            <a:chOff x="0" y="0"/>
            <a:chExt cx="9272016" cy="82499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272016" cy="824992"/>
            </a:xfrm>
            <a:custGeom>
              <a:avLst/>
              <a:gdLst/>
              <a:ahLst/>
              <a:cxnLst/>
              <a:rect l="l" t="t" r="r" b="b"/>
              <a:pathLst>
                <a:path w="9272016" h="824992">
                  <a:moveTo>
                    <a:pt x="0" y="0"/>
                  </a:moveTo>
                  <a:lnTo>
                    <a:pt x="9272016" y="0"/>
                  </a:lnTo>
                  <a:lnTo>
                    <a:pt x="9272016" y="824992"/>
                  </a:lnTo>
                  <a:lnTo>
                    <a:pt x="0" y="824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8153" b="-169828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9272016" cy="8345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22C55E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🌱 교훈: 타인의 잘못을 나의 거울로 삼아 고집을 꺾고 자태를 수련할 때 비로소 진정한 복제(Replication)가 시작됩니다.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001707" y="3977331"/>
            <a:ext cx="1927984" cy="514350"/>
            <a:chOff x="0" y="0"/>
            <a:chExt cx="2570646" cy="685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570638" cy="685644"/>
            </a:xfrm>
            <a:custGeom>
              <a:avLst/>
              <a:gdLst/>
              <a:ahLst/>
              <a:cxnLst/>
              <a:rect l="l" t="t" r="r" b="b"/>
              <a:pathLst>
                <a:path w="2570638" h="685644">
                  <a:moveTo>
                    <a:pt x="0" y="72677"/>
                  </a:moveTo>
                  <a:cubicBezTo>
                    <a:pt x="0" y="32592"/>
                    <a:pt x="15590" y="0"/>
                    <a:pt x="34765" y="0"/>
                  </a:cubicBezTo>
                  <a:lnTo>
                    <a:pt x="2535872" y="0"/>
                  </a:lnTo>
                  <a:cubicBezTo>
                    <a:pt x="2555047" y="0"/>
                    <a:pt x="2570638" y="32592"/>
                    <a:pt x="2570638" y="72677"/>
                  </a:cubicBezTo>
                  <a:lnTo>
                    <a:pt x="2570638" y="612966"/>
                  </a:lnTo>
                  <a:cubicBezTo>
                    <a:pt x="2570638" y="653052"/>
                    <a:pt x="2555047" y="685643"/>
                    <a:pt x="2535872" y="685643"/>
                  </a:cubicBezTo>
                  <a:lnTo>
                    <a:pt x="34765" y="685643"/>
                  </a:lnTo>
                  <a:cubicBezTo>
                    <a:pt x="15590" y="685813"/>
                    <a:pt x="0" y="653226"/>
                    <a:pt x="0" y="613140"/>
                  </a:cubicBezTo>
                  <a:close/>
                </a:path>
              </a:pathLst>
            </a:custGeom>
            <a:solidFill>
              <a:srgbClr val="22C55E">
                <a:alpha val="784"/>
              </a:srgbClr>
            </a:solidFill>
            <a:ln w="12700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10156468" y="4058484"/>
            <a:ext cx="1618463" cy="352044"/>
            <a:chOff x="0" y="0"/>
            <a:chExt cx="2157951" cy="46939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157951" cy="469391"/>
            </a:xfrm>
            <a:custGeom>
              <a:avLst/>
              <a:gdLst/>
              <a:ahLst/>
              <a:cxnLst/>
              <a:rect l="l" t="t" r="r" b="b"/>
              <a:pathLst>
                <a:path w="2157951" h="469391">
                  <a:moveTo>
                    <a:pt x="0" y="0"/>
                  </a:moveTo>
                  <a:lnTo>
                    <a:pt x="2157951" y="0"/>
                  </a:lnTo>
                  <a:lnTo>
                    <a:pt x="2157951" y="469391"/>
                  </a:lnTo>
                  <a:lnTo>
                    <a:pt x="0" y="46939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0423" r="-80680" b="-113281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2157951" cy="4789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22C55E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리더의 성찰 루프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57250" y="8667750"/>
            <a:ext cx="16954195" cy="1134499"/>
            <a:chOff x="0" y="0"/>
            <a:chExt cx="22605594" cy="1512665"/>
          </a:xfrm>
        </p:grpSpPr>
        <p:grpSp>
          <p:nvGrpSpPr>
            <p:cNvPr id="45" name="Group 45"/>
            <p:cNvGrpSpPr/>
            <p:nvPr/>
          </p:nvGrpSpPr>
          <p:grpSpPr>
            <a:xfrm>
              <a:off x="533197" y="0"/>
              <a:ext cx="22072397" cy="1512665"/>
              <a:chOff x="0" y="0"/>
              <a:chExt cx="4359980" cy="298798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4359980" cy="298798"/>
              </a:xfrm>
              <a:custGeom>
                <a:avLst/>
                <a:gdLst/>
                <a:ahLst/>
                <a:cxnLst/>
                <a:rect l="l" t="t" r="r" b="b"/>
                <a:pathLst>
                  <a:path w="4359980" h="298798">
                    <a:moveTo>
                      <a:pt x="0" y="0"/>
                    </a:moveTo>
                    <a:lnTo>
                      <a:pt x="4359980" y="0"/>
                    </a:lnTo>
                    <a:lnTo>
                      <a:pt x="4359980" y="298798"/>
                    </a:lnTo>
                    <a:lnTo>
                      <a:pt x="0" y="298798"/>
                    </a:lnTo>
                    <a:close/>
                  </a:path>
                </a:pathLst>
              </a:custGeom>
              <a:solidFill>
                <a:srgbClr val="3B3B3B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0" y="-9525"/>
                <a:ext cx="4359980" cy="3083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48" name="AutoShape 48"/>
            <p:cNvSpPr/>
            <p:nvPr/>
          </p:nvSpPr>
          <p:spPr>
            <a:xfrm>
              <a:off x="635000" y="0"/>
              <a:ext cx="0" cy="1512665"/>
            </a:xfrm>
            <a:prstGeom prst="line">
              <a:avLst/>
            </a:prstGeom>
            <a:ln w="1270000" cap="flat">
              <a:solidFill>
                <a:srgbClr val="EF44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02387" y="194450"/>
              <a:ext cx="2772776" cy="1140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FFFFFF"/>
                  </a:solidFill>
                  <a:latin typeface="Paperlogy Medium"/>
                  <a:ea typeface="Paperlogy Medium"/>
                  <a:cs typeface="Paperlogy Medium"/>
                  <a:sym typeface="Paperlogy Medium"/>
                </a:rPr>
                <a:t>L.REMETTRE Core Ethos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938575" y="8989995"/>
            <a:ext cx="11236856" cy="490008"/>
            <a:chOff x="0" y="0"/>
            <a:chExt cx="14982475" cy="653344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4982475" cy="653343"/>
            </a:xfrm>
            <a:custGeom>
              <a:avLst/>
              <a:gdLst/>
              <a:ahLst/>
              <a:cxnLst/>
              <a:rect l="l" t="t" r="r" b="b"/>
              <a:pathLst>
                <a:path w="14982475" h="653343">
                  <a:moveTo>
                    <a:pt x="0" y="0"/>
                  </a:moveTo>
                  <a:lnTo>
                    <a:pt x="14982475" y="0"/>
                  </a:lnTo>
                  <a:lnTo>
                    <a:pt x="14982475" y="653343"/>
                  </a:lnTo>
                  <a:lnTo>
                    <a:pt x="0" y="6533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7959" r="18706" b="-288531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9525"/>
              <a:ext cx="14982475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FFFFF"/>
                  </a:solidFill>
                  <a:latin typeface="Paperlogy Medium"/>
                  <a:ea typeface="Paperlogy Medium"/>
                  <a:cs typeface="Paperlogy Medium"/>
                  <a:sym typeface="Paperlogy Medium"/>
                </a:rPr>
                <a:t>"조직의 복제가 막혔다면 리더의 일방적 독선에 의한 팔로워십의 균열을 의심해야 합니다."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707" y="761695"/>
            <a:ext cx="16573500" cy="19202"/>
            <a:chOff x="0" y="0"/>
            <a:chExt cx="22098000" cy="25603"/>
          </a:xfrm>
        </p:grpSpPr>
        <p:sp>
          <p:nvSpPr>
            <p:cNvPr id="3" name="Freeform 3" descr="gen-dedup-8e155934e3e6c9b01e275e9a352dafea.png"/>
            <p:cNvSpPr/>
            <p:nvPr/>
          </p:nvSpPr>
          <p:spPr>
            <a:xfrm>
              <a:off x="0" y="0"/>
              <a:ext cx="22098000" cy="25654"/>
            </a:xfrm>
            <a:custGeom>
              <a:avLst/>
              <a:gdLst/>
              <a:ahLst/>
              <a:cxnLst/>
              <a:rect l="l" t="t" r="r" b="b"/>
              <a:pathLst>
                <a:path w="22098000" h="25654">
                  <a:moveTo>
                    <a:pt x="0" y="0"/>
                  </a:moveTo>
                  <a:lnTo>
                    <a:pt x="22098000" y="0"/>
                  </a:lnTo>
                  <a:lnTo>
                    <a:pt x="22098000" y="25654"/>
                  </a:lnTo>
                  <a:lnTo>
                    <a:pt x="0" y="2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396" r="-10342" b="59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707" y="952500"/>
            <a:ext cx="16573500" cy="399627"/>
            <a:chOff x="0" y="0"/>
            <a:chExt cx="22098000" cy="53283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098000" cy="532835"/>
            </a:xfrm>
            <a:custGeom>
              <a:avLst/>
              <a:gdLst/>
              <a:ahLst/>
              <a:cxnLst/>
              <a:rect l="l" t="t" r="r" b="b"/>
              <a:pathLst>
                <a:path w="22098000" h="532835">
                  <a:moveTo>
                    <a:pt x="0" y="0"/>
                  </a:moveTo>
                  <a:lnTo>
                    <a:pt x="22098000" y="0"/>
                  </a:lnTo>
                  <a:lnTo>
                    <a:pt x="22098000" y="532835"/>
                  </a:lnTo>
                  <a:lnTo>
                    <a:pt x="0" y="5328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77089" b="-739097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22098000" cy="5423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346">
                  <a:solidFill>
                    <a:srgbClr val="C5A880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THE ART OF PRESENCE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57707" y="1428750"/>
            <a:ext cx="16573500" cy="1389168"/>
            <a:chOff x="0" y="0"/>
            <a:chExt cx="22098000" cy="185222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098000" cy="1852225"/>
            </a:xfrm>
            <a:custGeom>
              <a:avLst/>
              <a:gdLst/>
              <a:ahLst/>
              <a:cxnLst/>
              <a:rect l="l" t="t" r="r" b="b"/>
              <a:pathLst>
                <a:path w="22098000" h="1852225">
                  <a:moveTo>
                    <a:pt x="0" y="0"/>
                  </a:moveTo>
                  <a:lnTo>
                    <a:pt x="22098000" y="0"/>
                  </a:lnTo>
                  <a:lnTo>
                    <a:pt x="22098000" y="1852225"/>
                  </a:lnTo>
                  <a:lnTo>
                    <a:pt x="0" y="18522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0514" b="-154418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22098000" cy="18617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399"/>
                </a:lnSpc>
              </a:pPr>
              <a:r>
                <a:rPr lang="en-US" sz="6999" b="1">
                  <a:solidFill>
                    <a:srgbClr val="F3F4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사람의 마음을 얻는 리더의 자태(姿態)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57707" y="2857500"/>
            <a:ext cx="16573500" cy="390101"/>
            <a:chOff x="0" y="0"/>
            <a:chExt cx="22098000" cy="52013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98000" cy="520135"/>
            </a:xfrm>
            <a:custGeom>
              <a:avLst/>
              <a:gdLst/>
              <a:ahLst/>
              <a:cxnLst/>
              <a:rect l="l" t="t" r="r" b="b"/>
              <a:pathLst>
                <a:path w="22098000" h="520135">
                  <a:moveTo>
                    <a:pt x="0" y="0"/>
                  </a:moveTo>
                  <a:lnTo>
                    <a:pt x="22098000" y="0"/>
                  </a:lnTo>
                  <a:lnTo>
                    <a:pt x="22098000" y="520135"/>
                  </a:lnTo>
                  <a:lnTo>
                    <a:pt x="0" y="5201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85045" b="-77060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22098000" cy="529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인간은 본능적으로 상대의 눈빛과 어깨 각도에서 풍기는 격조를 꿰뚫어 봅니다.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42851" y="3509138"/>
            <a:ext cx="7905750" cy="4467392"/>
            <a:chOff x="0" y="0"/>
            <a:chExt cx="10541000" cy="5956522"/>
          </a:xfrm>
        </p:grpSpPr>
        <p:sp>
          <p:nvSpPr>
            <p:cNvPr id="14" name="Freeform 14" descr="gen-dedup-4cc0b267fcf057a68787bb8faeafcb52.png"/>
            <p:cNvSpPr/>
            <p:nvPr/>
          </p:nvSpPr>
          <p:spPr>
            <a:xfrm>
              <a:off x="0" y="0"/>
              <a:ext cx="10540950" cy="5956547"/>
            </a:xfrm>
            <a:custGeom>
              <a:avLst/>
              <a:gdLst/>
              <a:ahLst/>
              <a:cxnLst/>
              <a:rect l="l" t="t" r="r" b="b"/>
              <a:pathLst>
                <a:path w="10540950" h="5956547">
                  <a:moveTo>
                    <a:pt x="192112" y="0"/>
                  </a:moveTo>
                  <a:lnTo>
                    <a:pt x="10348837" y="0"/>
                  </a:lnTo>
                  <a:cubicBezTo>
                    <a:pt x="10454938" y="0"/>
                    <a:pt x="10540950" y="86012"/>
                    <a:pt x="10540950" y="192112"/>
                  </a:cubicBezTo>
                  <a:lnTo>
                    <a:pt x="10540950" y="5764435"/>
                  </a:lnTo>
                  <a:cubicBezTo>
                    <a:pt x="10540950" y="5870536"/>
                    <a:pt x="10454938" y="5956547"/>
                    <a:pt x="10348837" y="5956547"/>
                  </a:cubicBezTo>
                  <a:lnTo>
                    <a:pt x="192112" y="5956547"/>
                  </a:lnTo>
                  <a:cubicBezTo>
                    <a:pt x="86012" y="5956547"/>
                    <a:pt x="0" y="5870536"/>
                    <a:pt x="0" y="5764435"/>
                  </a:cubicBezTo>
                  <a:lnTo>
                    <a:pt x="0" y="192112"/>
                  </a:lnTo>
                  <a:cubicBezTo>
                    <a:pt x="0" y="86012"/>
                    <a:pt x="86012" y="0"/>
                    <a:pt x="192112" y="0"/>
                  </a:cubicBezTo>
                  <a:close/>
                </a:path>
              </a:pathLst>
            </a:custGeom>
            <a:blipFill>
              <a:blip r:embed="rId5"/>
              <a:stretch>
                <a:fillRect t="-11525" b="-11525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423136" y="4501750"/>
            <a:ext cx="6954012" cy="490008"/>
            <a:chOff x="0" y="0"/>
            <a:chExt cx="9272016" cy="6533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272016" cy="653344"/>
            </a:xfrm>
            <a:custGeom>
              <a:avLst/>
              <a:gdLst/>
              <a:ahLst/>
              <a:cxnLst/>
              <a:rect l="l" t="t" r="r" b="b"/>
              <a:pathLst>
                <a:path w="9272016" h="653344">
                  <a:moveTo>
                    <a:pt x="0" y="0"/>
                  </a:moveTo>
                  <a:lnTo>
                    <a:pt x="9272016" y="0"/>
                  </a:lnTo>
                  <a:lnTo>
                    <a:pt x="9272016" y="653344"/>
                  </a:lnTo>
                  <a:lnTo>
                    <a:pt x="0" y="6533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1738" b="-22131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9272016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3F4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"자세"와 "태도"를 합친 온전한 모양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23136" y="5146677"/>
            <a:ext cx="6954012" cy="1467612"/>
            <a:chOff x="0" y="0"/>
            <a:chExt cx="9272016" cy="195681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272016" cy="1956816"/>
            </a:xfrm>
            <a:custGeom>
              <a:avLst/>
              <a:gdLst/>
              <a:ahLst/>
              <a:cxnLst/>
              <a:rect l="l" t="t" r="r" b="b"/>
              <a:pathLst>
                <a:path w="9272016" h="1956816">
                  <a:moveTo>
                    <a:pt x="0" y="0"/>
                  </a:moveTo>
                  <a:lnTo>
                    <a:pt x="9272016" y="0"/>
                  </a:lnTo>
                  <a:lnTo>
                    <a:pt x="9272016" y="1956816"/>
                  </a:lnTo>
                  <a:lnTo>
                    <a:pt x="0" y="19568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2326" b="-42326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9272016" cy="19663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리더의 내면적 단단함은 겉으로 드러나는 눈빛과 어깨의 각도, 즉 </a:t>
              </a:r>
              <a:r>
                <a:rPr lang="en-US" sz="1800" b="1">
                  <a:solidFill>
                    <a:srgbClr val="9CA3AF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'자태'</a:t>
              </a: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를 통해 즉각적으로 진단됩니다. 주변의 평판과 정직한 신뢰가 바탕이 될 때, 리더는 자기도 모르게 인정에 걸맞은 격조 높은 자태를 완성하고 제어하게 됩니다.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423136" y="6740091"/>
            <a:ext cx="6953098" cy="9144"/>
            <a:chOff x="0" y="0"/>
            <a:chExt cx="9270797" cy="12192"/>
          </a:xfrm>
        </p:grpSpPr>
        <p:sp>
          <p:nvSpPr>
            <p:cNvPr id="22" name="Freeform 22" descr="gen-dedup-5bb726e4d507407fe6afe1dd31057ef2.png"/>
            <p:cNvSpPr/>
            <p:nvPr/>
          </p:nvSpPr>
          <p:spPr>
            <a:xfrm>
              <a:off x="0" y="0"/>
              <a:ext cx="9270746" cy="12192"/>
            </a:xfrm>
            <a:custGeom>
              <a:avLst/>
              <a:gdLst/>
              <a:ahLst/>
              <a:cxnLst/>
              <a:rect l="l" t="t" r="r" b="b"/>
              <a:pathLst>
                <a:path w="9270746" h="12192">
                  <a:moveTo>
                    <a:pt x="0" y="0"/>
                  </a:moveTo>
                  <a:lnTo>
                    <a:pt x="9270746" y="0"/>
                  </a:lnTo>
                  <a:lnTo>
                    <a:pt x="9270746" y="12192"/>
                  </a:lnTo>
                  <a:lnTo>
                    <a:pt x="0" y="12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1999" r="1997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1259477" y="6977835"/>
            <a:ext cx="7272497" cy="609905"/>
            <a:chOff x="0" y="0"/>
            <a:chExt cx="9696663" cy="81320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696662" cy="813207"/>
            </a:xfrm>
            <a:custGeom>
              <a:avLst/>
              <a:gdLst/>
              <a:ahLst/>
              <a:cxnLst/>
              <a:rect l="l" t="t" r="r" b="b"/>
              <a:pathLst>
                <a:path w="9696662" h="813207">
                  <a:moveTo>
                    <a:pt x="0" y="0"/>
                  </a:moveTo>
                  <a:lnTo>
                    <a:pt x="9696662" y="0"/>
                  </a:lnTo>
                  <a:lnTo>
                    <a:pt x="9696662" y="813207"/>
                  </a:lnTo>
                  <a:lnTo>
                    <a:pt x="0" y="81320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72164" r="4379" b="-172164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9696663" cy="8227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C5A880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"너는 참 바른 아이야"라는 긍정적 인정이 올바른 자태를 만드는 평판의 환류 효과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16782" y="3756451"/>
            <a:ext cx="2095500" cy="514350"/>
            <a:chOff x="0" y="0"/>
            <a:chExt cx="2794000" cy="685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793914" cy="685644"/>
            </a:xfrm>
            <a:custGeom>
              <a:avLst/>
              <a:gdLst/>
              <a:ahLst/>
              <a:cxnLst/>
              <a:rect l="l" t="t" r="r" b="b"/>
              <a:pathLst>
                <a:path w="2793914" h="685644">
                  <a:moveTo>
                    <a:pt x="0" y="72677"/>
                  </a:moveTo>
                  <a:cubicBezTo>
                    <a:pt x="0" y="32592"/>
                    <a:pt x="32187" y="0"/>
                    <a:pt x="71776" y="0"/>
                  </a:cubicBezTo>
                  <a:lnTo>
                    <a:pt x="2722138" y="0"/>
                  </a:lnTo>
                  <a:cubicBezTo>
                    <a:pt x="2761727" y="0"/>
                    <a:pt x="2793914" y="32592"/>
                    <a:pt x="2793914" y="72677"/>
                  </a:cubicBezTo>
                  <a:lnTo>
                    <a:pt x="2793914" y="612966"/>
                  </a:lnTo>
                  <a:cubicBezTo>
                    <a:pt x="2793914" y="653052"/>
                    <a:pt x="2761727" y="685643"/>
                    <a:pt x="2722138" y="685643"/>
                  </a:cubicBezTo>
                  <a:lnTo>
                    <a:pt x="71776" y="685643"/>
                  </a:lnTo>
                  <a:cubicBezTo>
                    <a:pt x="32187" y="685813"/>
                    <a:pt x="0" y="653226"/>
                    <a:pt x="0" y="613140"/>
                  </a:cubicBezTo>
                  <a:close/>
                </a:path>
              </a:pathLst>
            </a:custGeom>
            <a:solidFill>
              <a:srgbClr val="C5A880">
                <a:alpha val="784"/>
              </a:srgbClr>
            </a:solidFill>
            <a:ln w="12700" cap="sq">
              <a:solidFill>
                <a:srgbClr val="C5A880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1577919" y="3848149"/>
            <a:ext cx="1773227" cy="362102"/>
            <a:chOff x="0" y="0"/>
            <a:chExt cx="2364302" cy="48280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364302" cy="482802"/>
            </a:xfrm>
            <a:custGeom>
              <a:avLst/>
              <a:gdLst/>
              <a:ahLst/>
              <a:cxnLst/>
              <a:rect l="l" t="t" r="r" b="b"/>
              <a:pathLst>
                <a:path w="2364302" h="482802">
                  <a:moveTo>
                    <a:pt x="0" y="0"/>
                  </a:moveTo>
                  <a:lnTo>
                    <a:pt x="2364302" y="0"/>
                  </a:lnTo>
                  <a:lnTo>
                    <a:pt x="2364302" y="482802"/>
                  </a:lnTo>
                  <a:lnTo>
                    <a:pt x="0" y="4828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2565" r="13470" b="-32565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2364302" cy="4923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C5A880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자세와 태도의 일치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 rot="-5400000">
            <a:off x="11159493" y="1789959"/>
            <a:ext cx="4467392" cy="7905750"/>
            <a:chOff x="0" y="0"/>
            <a:chExt cx="5956522" cy="10541000"/>
          </a:xfrm>
        </p:grpSpPr>
        <p:sp>
          <p:nvSpPr>
            <p:cNvPr id="32" name="Freeform 32" descr="gen-dedup-235dea340c86b80c5369b82d182baed0.png"/>
            <p:cNvSpPr/>
            <p:nvPr/>
          </p:nvSpPr>
          <p:spPr>
            <a:xfrm>
              <a:off x="0" y="0"/>
              <a:ext cx="5956508" cy="10540999"/>
            </a:xfrm>
            <a:custGeom>
              <a:avLst/>
              <a:gdLst/>
              <a:ahLst/>
              <a:cxnLst/>
              <a:rect l="l" t="t" r="r" b="b"/>
              <a:pathLst>
                <a:path w="5956508" h="10540999">
                  <a:moveTo>
                    <a:pt x="450593" y="0"/>
                  </a:moveTo>
                  <a:lnTo>
                    <a:pt x="5505915" y="0"/>
                  </a:lnTo>
                  <a:cubicBezTo>
                    <a:pt x="5625420" y="0"/>
                    <a:pt x="5740030" y="47473"/>
                    <a:pt x="5824532" y="131976"/>
                  </a:cubicBezTo>
                  <a:cubicBezTo>
                    <a:pt x="5909035" y="216478"/>
                    <a:pt x="5956508" y="331089"/>
                    <a:pt x="5956508" y="450593"/>
                  </a:cubicBezTo>
                  <a:lnTo>
                    <a:pt x="5956508" y="10090406"/>
                  </a:lnTo>
                  <a:cubicBezTo>
                    <a:pt x="5956508" y="10339262"/>
                    <a:pt x="5754771" y="10540999"/>
                    <a:pt x="5505915" y="10540999"/>
                  </a:cubicBezTo>
                  <a:lnTo>
                    <a:pt x="450593" y="10540999"/>
                  </a:lnTo>
                  <a:cubicBezTo>
                    <a:pt x="331089" y="10540999"/>
                    <a:pt x="216478" y="10493526"/>
                    <a:pt x="131976" y="10409024"/>
                  </a:cubicBezTo>
                  <a:cubicBezTo>
                    <a:pt x="47473" y="10324521"/>
                    <a:pt x="0" y="10209911"/>
                    <a:pt x="0" y="10090406"/>
                  </a:cubicBezTo>
                  <a:lnTo>
                    <a:pt x="0" y="450593"/>
                  </a:lnTo>
                  <a:cubicBezTo>
                    <a:pt x="0" y="331089"/>
                    <a:pt x="47473" y="216478"/>
                    <a:pt x="131976" y="131976"/>
                  </a:cubicBezTo>
                  <a:cubicBezTo>
                    <a:pt x="216478" y="47473"/>
                    <a:pt x="331089" y="0"/>
                    <a:pt x="450593" y="0"/>
                  </a:cubicBezTo>
                  <a:close/>
                </a:path>
              </a:pathLst>
            </a:custGeom>
            <a:blipFill>
              <a:blip r:embed="rId7"/>
              <a:stretch>
                <a:fillRect l="-75412" r="-75415"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10091648" y="4501750"/>
            <a:ext cx="6954012" cy="490008"/>
            <a:chOff x="0" y="0"/>
            <a:chExt cx="9272016" cy="65334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272016" cy="653344"/>
            </a:xfrm>
            <a:custGeom>
              <a:avLst/>
              <a:gdLst/>
              <a:ahLst/>
              <a:cxnLst/>
              <a:rect l="l" t="t" r="r" b="b"/>
              <a:pathLst>
                <a:path w="9272016" h="653344">
                  <a:moveTo>
                    <a:pt x="0" y="0"/>
                  </a:moveTo>
                  <a:lnTo>
                    <a:pt x="9272016" y="0"/>
                  </a:lnTo>
                  <a:lnTo>
                    <a:pt x="9272016" y="653344"/>
                  </a:lnTo>
                  <a:lnTo>
                    <a:pt x="0" y="6533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1738" b="-221310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9272016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3F4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결과 앞에서 책임을 지는 대인배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085294" y="5536133"/>
            <a:ext cx="6954012" cy="704427"/>
            <a:chOff x="0" y="0"/>
            <a:chExt cx="9272016" cy="93923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272016" cy="939236"/>
            </a:xfrm>
            <a:custGeom>
              <a:avLst/>
              <a:gdLst/>
              <a:ahLst/>
              <a:cxnLst/>
              <a:rect l="l" t="t" r="r" b="b"/>
              <a:pathLst>
                <a:path w="9272016" h="939236">
                  <a:moveTo>
                    <a:pt x="0" y="0"/>
                  </a:moveTo>
                  <a:lnTo>
                    <a:pt x="9272016" y="0"/>
                  </a:lnTo>
                  <a:lnTo>
                    <a:pt x="9272016" y="939236"/>
                  </a:lnTo>
                  <a:lnTo>
                    <a:pt x="0" y="9392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4998" b="-189709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9272016" cy="9487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22BC5B"/>
                  </a:solidFill>
                  <a:latin typeface="Paperlogy Semi-Bold"/>
                  <a:ea typeface="Paperlogy Semi-Bold"/>
                  <a:cs typeface="Paperlogy Semi-Bold"/>
                  <a:sym typeface="Paperlogy Semi-Bold"/>
                </a:rPr>
                <a:t>"제 후원이 부족하여 이번 직급 달성에 실패했습니다. 파트너 사장님, 다음엔 제가 한 걸음 더 앞장서서 달리겠습니다."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091648" y="6730032"/>
            <a:ext cx="6954012" cy="1105510"/>
            <a:chOff x="0" y="0"/>
            <a:chExt cx="9272016" cy="147401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272016" cy="1474014"/>
            </a:xfrm>
            <a:custGeom>
              <a:avLst/>
              <a:gdLst/>
              <a:ahLst/>
              <a:cxnLst/>
              <a:rect l="l" t="t" r="r" b="b"/>
              <a:pathLst>
                <a:path w="9272016" h="1474014">
                  <a:moveTo>
                    <a:pt x="0" y="0"/>
                  </a:moveTo>
                  <a:lnTo>
                    <a:pt x="9272016" y="0"/>
                  </a:lnTo>
                  <a:lnTo>
                    <a:pt x="9272016" y="1474014"/>
                  </a:lnTo>
                  <a:lnTo>
                    <a:pt x="0" y="14740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2567" b="-72567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9272016" cy="14835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원하는 결과를 얻지 못했을 때조차 남 탓이나 환경 탓으로 책임을 회피하지 않고, 파트너의 상처를 먼저 다스리며 동기를 불어넣는 따뜻함이 리더가 지녀야 할 격조의 끝판왕입니다.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085294" y="3756451"/>
            <a:ext cx="2190750" cy="514350"/>
            <a:chOff x="0" y="0"/>
            <a:chExt cx="2921000" cy="685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920984" cy="685644"/>
            </a:xfrm>
            <a:custGeom>
              <a:avLst/>
              <a:gdLst/>
              <a:ahLst/>
              <a:cxnLst/>
              <a:rect l="l" t="t" r="r" b="b"/>
              <a:pathLst>
                <a:path w="2920984" h="685644">
                  <a:moveTo>
                    <a:pt x="0" y="72677"/>
                  </a:moveTo>
                  <a:cubicBezTo>
                    <a:pt x="0" y="32592"/>
                    <a:pt x="30808" y="0"/>
                    <a:pt x="68700" y="0"/>
                  </a:cubicBezTo>
                  <a:lnTo>
                    <a:pt x="2852284" y="0"/>
                  </a:lnTo>
                  <a:cubicBezTo>
                    <a:pt x="2890176" y="0"/>
                    <a:pt x="2920984" y="32592"/>
                    <a:pt x="2920984" y="72677"/>
                  </a:cubicBezTo>
                  <a:lnTo>
                    <a:pt x="2920984" y="612966"/>
                  </a:lnTo>
                  <a:cubicBezTo>
                    <a:pt x="2920984" y="653052"/>
                    <a:pt x="2890176" y="685643"/>
                    <a:pt x="2852284" y="685643"/>
                  </a:cubicBezTo>
                  <a:lnTo>
                    <a:pt x="68700" y="685643"/>
                  </a:lnTo>
                  <a:cubicBezTo>
                    <a:pt x="30808" y="685813"/>
                    <a:pt x="0" y="653226"/>
                    <a:pt x="0" y="613140"/>
                  </a:cubicBezTo>
                  <a:close/>
                </a:path>
              </a:pathLst>
            </a:custGeom>
            <a:solidFill>
              <a:srgbClr val="22C55E">
                <a:alpha val="784"/>
              </a:srgbClr>
            </a:solidFill>
            <a:ln w="12700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10182922" y="3832575"/>
            <a:ext cx="1995494" cy="362102"/>
            <a:chOff x="0" y="0"/>
            <a:chExt cx="2660659" cy="482803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660660" cy="482802"/>
            </a:xfrm>
            <a:custGeom>
              <a:avLst/>
              <a:gdLst/>
              <a:ahLst/>
              <a:cxnLst/>
              <a:rect l="l" t="t" r="r" b="b"/>
              <a:pathLst>
                <a:path w="2660660" h="482802">
                  <a:moveTo>
                    <a:pt x="0" y="0"/>
                  </a:moveTo>
                  <a:lnTo>
                    <a:pt x="2660660" y="0"/>
                  </a:lnTo>
                  <a:lnTo>
                    <a:pt x="2660660" y="482802"/>
                  </a:lnTo>
                  <a:lnTo>
                    <a:pt x="0" y="4828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0241" r="15960" b="-40241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2660659" cy="4923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22C55E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진정한 대인배의 자태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57250" y="8667750"/>
            <a:ext cx="16954195" cy="1134499"/>
            <a:chOff x="0" y="0"/>
            <a:chExt cx="22605594" cy="1512665"/>
          </a:xfrm>
        </p:grpSpPr>
        <p:grpSp>
          <p:nvGrpSpPr>
            <p:cNvPr id="48" name="Group 48"/>
            <p:cNvGrpSpPr/>
            <p:nvPr/>
          </p:nvGrpSpPr>
          <p:grpSpPr>
            <a:xfrm>
              <a:off x="533197" y="0"/>
              <a:ext cx="22072397" cy="1512665"/>
              <a:chOff x="0" y="0"/>
              <a:chExt cx="4359980" cy="298798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4359980" cy="298798"/>
              </a:xfrm>
              <a:custGeom>
                <a:avLst/>
                <a:gdLst/>
                <a:ahLst/>
                <a:cxnLst/>
                <a:rect l="l" t="t" r="r" b="b"/>
                <a:pathLst>
                  <a:path w="4359980" h="298798">
                    <a:moveTo>
                      <a:pt x="0" y="0"/>
                    </a:moveTo>
                    <a:lnTo>
                      <a:pt x="4359980" y="0"/>
                    </a:lnTo>
                    <a:lnTo>
                      <a:pt x="4359980" y="298798"/>
                    </a:lnTo>
                    <a:lnTo>
                      <a:pt x="0" y="298798"/>
                    </a:lnTo>
                    <a:close/>
                  </a:path>
                </a:pathLst>
              </a:custGeom>
              <a:solidFill>
                <a:srgbClr val="3B3B3B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0" y="-9525"/>
                <a:ext cx="4359980" cy="3083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51" name="AutoShape 51"/>
            <p:cNvSpPr/>
            <p:nvPr/>
          </p:nvSpPr>
          <p:spPr>
            <a:xfrm>
              <a:off x="635000" y="0"/>
              <a:ext cx="0" cy="1512665"/>
            </a:xfrm>
            <a:prstGeom prst="line">
              <a:avLst/>
            </a:prstGeom>
            <a:ln w="1270000" cap="flat">
              <a:solidFill>
                <a:srgbClr val="EF44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02387" y="194450"/>
              <a:ext cx="2772776" cy="1140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FFFFFF"/>
                  </a:solidFill>
                  <a:latin typeface="Paperlogy Medium"/>
                  <a:ea typeface="Paperlogy Medium"/>
                  <a:cs typeface="Paperlogy Medium"/>
                  <a:sym typeface="Paperlogy Medium"/>
                </a:rPr>
                <a:t>L.REMETTRE Core Ethos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120426" y="8989995"/>
            <a:ext cx="11233946" cy="490008"/>
            <a:chOff x="0" y="0"/>
            <a:chExt cx="14978594" cy="653344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4978594" cy="653343"/>
            </a:xfrm>
            <a:custGeom>
              <a:avLst/>
              <a:gdLst/>
              <a:ahLst/>
              <a:cxnLst/>
              <a:rect l="l" t="t" r="r" b="b"/>
              <a:pathLst>
                <a:path w="14978594" h="653343">
                  <a:moveTo>
                    <a:pt x="0" y="0"/>
                  </a:moveTo>
                  <a:lnTo>
                    <a:pt x="14978594" y="0"/>
                  </a:lnTo>
                  <a:lnTo>
                    <a:pt x="14978594" y="653343"/>
                  </a:lnTo>
                  <a:lnTo>
                    <a:pt x="0" y="6533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52358" r="15461" b="-302930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14978594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FFFFF"/>
                  </a:solidFill>
                  <a:latin typeface="Paperlogy Medium"/>
                  <a:ea typeface="Paperlogy Medium"/>
                  <a:cs typeface="Paperlogy Medium"/>
                  <a:sym typeface="Paperlogy Medium"/>
                </a:rPr>
                <a:t>"인정은 호칭에 걸맞은 품격 있는 태도를 스스로 갈고닦게 만드는 가장 강력한 채찍입니다."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707" y="761695"/>
            <a:ext cx="16573500" cy="19202"/>
            <a:chOff x="0" y="0"/>
            <a:chExt cx="22098000" cy="25603"/>
          </a:xfrm>
        </p:grpSpPr>
        <p:sp>
          <p:nvSpPr>
            <p:cNvPr id="3" name="Freeform 3" descr="gen-dedup-8e155934e3e6c9b01e275e9a352dafea.png"/>
            <p:cNvSpPr/>
            <p:nvPr/>
          </p:nvSpPr>
          <p:spPr>
            <a:xfrm>
              <a:off x="0" y="0"/>
              <a:ext cx="22098000" cy="25654"/>
            </a:xfrm>
            <a:custGeom>
              <a:avLst/>
              <a:gdLst/>
              <a:ahLst/>
              <a:cxnLst/>
              <a:rect l="l" t="t" r="r" b="b"/>
              <a:pathLst>
                <a:path w="22098000" h="25654">
                  <a:moveTo>
                    <a:pt x="0" y="0"/>
                  </a:moveTo>
                  <a:lnTo>
                    <a:pt x="22098000" y="0"/>
                  </a:lnTo>
                  <a:lnTo>
                    <a:pt x="22098000" y="25654"/>
                  </a:lnTo>
                  <a:lnTo>
                    <a:pt x="0" y="2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396" r="-10342" b="59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707" y="952500"/>
            <a:ext cx="16573500" cy="399627"/>
            <a:chOff x="0" y="0"/>
            <a:chExt cx="22098000" cy="53283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098000" cy="532835"/>
            </a:xfrm>
            <a:custGeom>
              <a:avLst/>
              <a:gdLst/>
              <a:ahLst/>
              <a:cxnLst/>
              <a:rect l="l" t="t" r="r" b="b"/>
              <a:pathLst>
                <a:path w="22098000" h="532835">
                  <a:moveTo>
                    <a:pt x="0" y="0"/>
                  </a:moveTo>
                  <a:lnTo>
                    <a:pt x="22098000" y="0"/>
                  </a:lnTo>
                  <a:lnTo>
                    <a:pt x="22098000" y="532835"/>
                  </a:lnTo>
                  <a:lnTo>
                    <a:pt x="0" y="5328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77089" b="-739097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22098000" cy="5423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346">
                  <a:solidFill>
                    <a:srgbClr val="C5A880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SYSTEM LEADERSHIP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57707" y="1428750"/>
            <a:ext cx="16573500" cy="1389168"/>
            <a:chOff x="0" y="0"/>
            <a:chExt cx="22098000" cy="185222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098000" cy="1852225"/>
            </a:xfrm>
            <a:custGeom>
              <a:avLst/>
              <a:gdLst/>
              <a:ahLst/>
              <a:cxnLst/>
              <a:rect l="l" t="t" r="r" b="b"/>
              <a:pathLst>
                <a:path w="22098000" h="1852225">
                  <a:moveTo>
                    <a:pt x="0" y="0"/>
                  </a:moveTo>
                  <a:lnTo>
                    <a:pt x="22098000" y="0"/>
                  </a:lnTo>
                  <a:lnTo>
                    <a:pt x="22098000" y="1852225"/>
                  </a:lnTo>
                  <a:lnTo>
                    <a:pt x="0" y="18522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0514" b="-154418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22098000" cy="18617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399"/>
                </a:lnSpc>
              </a:pPr>
              <a:r>
                <a:rPr lang="en-US" sz="6999" b="1">
                  <a:solidFill>
                    <a:srgbClr val="F3F4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배 두 척의 비유: 목선에서 크루즈선으로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57707" y="2857500"/>
            <a:ext cx="16573500" cy="399627"/>
            <a:chOff x="0" y="0"/>
            <a:chExt cx="22098000" cy="5328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98000" cy="532836"/>
            </a:xfrm>
            <a:custGeom>
              <a:avLst/>
              <a:gdLst/>
              <a:ahLst/>
              <a:cxnLst/>
              <a:rect l="l" t="t" r="r" b="b"/>
              <a:pathLst>
                <a:path w="22098000" h="532836">
                  <a:moveTo>
                    <a:pt x="0" y="0"/>
                  </a:moveTo>
                  <a:lnTo>
                    <a:pt x="22098000" y="0"/>
                  </a:lnTo>
                  <a:lnTo>
                    <a:pt x="22098000" y="532836"/>
                  </a:lnTo>
                  <a:lnTo>
                    <a:pt x="0" y="5328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66333" b="-74985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22098000" cy="5423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거친 비즈니스 바다에서 개인의 한계를 극복하고 폭발적으로 조직을 확장하는 유일한 열쇠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03062" y="3657514"/>
            <a:ext cx="7905750" cy="4619375"/>
            <a:chOff x="0" y="0"/>
            <a:chExt cx="1224808" cy="71566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24808" cy="715662"/>
            </a:xfrm>
            <a:custGeom>
              <a:avLst/>
              <a:gdLst/>
              <a:ahLst/>
              <a:cxnLst/>
              <a:rect l="l" t="t" r="r" b="b"/>
              <a:pathLst>
                <a:path w="1224808" h="715662">
                  <a:moveTo>
                    <a:pt x="27420" y="0"/>
                  </a:moveTo>
                  <a:lnTo>
                    <a:pt x="1197388" y="0"/>
                  </a:lnTo>
                  <a:cubicBezTo>
                    <a:pt x="1204660" y="0"/>
                    <a:pt x="1211634" y="2889"/>
                    <a:pt x="1216776" y="8031"/>
                  </a:cubicBezTo>
                  <a:cubicBezTo>
                    <a:pt x="1221919" y="13173"/>
                    <a:pt x="1224808" y="20148"/>
                    <a:pt x="1224808" y="27420"/>
                  </a:cubicBezTo>
                  <a:lnTo>
                    <a:pt x="1224808" y="688242"/>
                  </a:lnTo>
                  <a:cubicBezTo>
                    <a:pt x="1224808" y="695514"/>
                    <a:pt x="1221919" y="702489"/>
                    <a:pt x="1216776" y="707631"/>
                  </a:cubicBezTo>
                  <a:cubicBezTo>
                    <a:pt x="1211634" y="712773"/>
                    <a:pt x="1204660" y="715662"/>
                    <a:pt x="1197388" y="715662"/>
                  </a:cubicBezTo>
                  <a:lnTo>
                    <a:pt x="27420" y="715662"/>
                  </a:lnTo>
                  <a:cubicBezTo>
                    <a:pt x="20148" y="715662"/>
                    <a:pt x="13173" y="712773"/>
                    <a:pt x="8031" y="707631"/>
                  </a:cubicBezTo>
                  <a:cubicBezTo>
                    <a:pt x="2889" y="702489"/>
                    <a:pt x="0" y="695514"/>
                    <a:pt x="0" y="688242"/>
                  </a:cubicBezTo>
                  <a:lnTo>
                    <a:pt x="0" y="27420"/>
                  </a:lnTo>
                  <a:cubicBezTo>
                    <a:pt x="0" y="20148"/>
                    <a:pt x="2889" y="13173"/>
                    <a:pt x="8031" y="8031"/>
                  </a:cubicBezTo>
                  <a:cubicBezTo>
                    <a:pt x="13173" y="2889"/>
                    <a:pt x="20148" y="0"/>
                    <a:pt x="27420" y="0"/>
                  </a:cubicBezTo>
                  <a:close/>
                </a:path>
              </a:pathLst>
            </a:custGeom>
            <a:blipFill>
              <a:blip r:embed="rId5"/>
              <a:stretch>
                <a:fillRect l="-604" t="-7170" r="-6631" b="-6276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 rot="-5400000">
            <a:off x="11222376" y="2004801"/>
            <a:ext cx="4619375" cy="7905750"/>
            <a:chOff x="0" y="0"/>
            <a:chExt cx="6159166" cy="10541000"/>
          </a:xfrm>
        </p:grpSpPr>
        <p:sp>
          <p:nvSpPr>
            <p:cNvPr id="16" name="Freeform 16" descr="gen-dedup-235dea340c86b80c5369b82d182baed0.png"/>
            <p:cNvSpPr/>
            <p:nvPr/>
          </p:nvSpPr>
          <p:spPr>
            <a:xfrm>
              <a:off x="0" y="0"/>
              <a:ext cx="6159152" cy="10540999"/>
            </a:xfrm>
            <a:custGeom>
              <a:avLst/>
              <a:gdLst/>
              <a:ahLst/>
              <a:cxnLst/>
              <a:rect l="l" t="t" r="r" b="b"/>
              <a:pathLst>
                <a:path w="6159152" h="10540999">
                  <a:moveTo>
                    <a:pt x="435768" y="0"/>
                  </a:moveTo>
                  <a:lnTo>
                    <a:pt x="5723383" y="0"/>
                  </a:lnTo>
                  <a:cubicBezTo>
                    <a:pt x="5964051" y="0"/>
                    <a:pt x="6159152" y="195100"/>
                    <a:pt x="6159152" y="435768"/>
                  </a:cubicBezTo>
                  <a:lnTo>
                    <a:pt x="6159152" y="10105231"/>
                  </a:lnTo>
                  <a:cubicBezTo>
                    <a:pt x="6159152" y="10345900"/>
                    <a:pt x="5964051" y="10540999"/>
                    <a:pt x="5723383" y="10540999"/>
                  </a:cubicBezTo>
                  <a:lnTo>
                    <a:pt x="435768" y="10540999"/>
                  </a:lnTo>
                  <a:cubicBezTo>
                    <a:pt x="195100" y="10540999"/>
                    <a:pt x="0" y="10345900"/>
                    <a:pt x="0" y="10105231"/>
                  </a:cubicBezTo>
                  <a:lnTo>
                    <a:pt x="0" y="435768"/>
                  </a:lnTo>
                  <a:cubicBezTo>
                    <a:pt x="0" y="195100"/>
                    <a:pt x="195100" y="0"/>
                    <a:pt x="435768" y="0"/>
                  </a:cubicBezTo>
                  <a:close/>
                </a:path>
              </a:pathLst>
            </a:custGeom>
            <a:blipFill>
              <a:blip r:embed="rId6"/>
              <a:stretch>
                <a:fillRect l="-71286" r="-71289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482938" y="5164512"/>
            <a:ext cx="6954012" cy="490008"/>
            <a:chOff x="0" y="0"/>
            <a:chExt cx="9272016" cy="65334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272016" cy="653344"/>
            </a:xfrm>
            <a:custGeom>
              <a:avLst/>
              <a:gdLst/>
              <a:ahLst/>
              <a:cxnLst/>
              <a:rect l="l" t="t" r="r" b="b"/>
              <a:pathLst>
                <a:path w="9272016" h="653344">
                  <a:moveTo>
                    <a:pt x="0" y="0"/>
                  </a:moveTo>
                  <a:lnTo>
                    <a:pt x="9272016" y="0"/>
                  </a:lnTo>
                  <a:lnTo>
                    <a:pt x="9272016" y="653344"/>
                  </a:lnTo>
                  <a:lnTo>
                    <a:pt x="0" y="6533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1738" b="-22131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9272016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3F4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선장 한 명의 목선(木船)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82938" y="5864070"/>
            <a:ext cx="6954012" cy="885444"/>
            <a:chOff x="0" y="0"/>
            <a:chExt cx="9272016" cy="11805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272016" cy="1180593"/>
            </a:xfrm>
            <a:custGeom>
              <a:avLst/>
              <a:gdLst/>
              <a:ahLst/>
              <a:cxnLst/>
              <a:rect l="l" t="t" r="r" b="b"/>
              <a:pathLst>
                <a:path w="9272016" h="1180593">
                  <a:moveTo>
                    <a:pt x="0" y="0"/>
                  </a:moveTo>
                  <a:lnTo>
                    <a:pt x="9272016" y="0"/>
                  </a:lnTo>
                  <a:lnTo>
                    <a:pt x="9272016" y="1180593"/>
                  </a:lnTo>
                  <a:lnTo>
                    <a:pt x="0" y="11805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0602" b="-115456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9272016" cy="1190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선장 한 사람의 육체 노동과 판단에만 배의 운명을 맡깁니다. 이런 작은 배에서는 진정한 의미의 리더십과 성장을 실현하기 매우 어렵습니다. 조금이라도 거센 풍랑을 마주하면 중심을 잃고 단숨에 뒤집혀 좌초되고 마니까요.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82938" y="6912410"/>
            <a:ext cx="6953098" cy="47625"/>
            <a:chOff x="0" y="0"/>
            <a:chExt cx="9270797" cy="63500"/>
          </a:xfrm>
        </p:grpSpPr>
        <p:sp>
          <p:nvSpPr>
            <p:cNvPr id="24" name="Freeform 24" descr="gen-dedup-5bb726e4d507407fe6afe1dd31057ef2.png"/>
            <p:cNvSpPr/>
            <p:nvPr/>
          </p:nvSpPr>
          <p:spPr>
            <a:xfrm>
              <a:off x="0" y="0"/>
              <a:ext cx="9270746" cy="63500"/>
            </a:xfrm>
            <a:custGeom>
              <a:avLst/>
              <a:gdLst/>
              <a:ahLst/>
              <a:cxnLst/>
              <a:rect l="l" t="t" r="r" b="b"/>
              <a:pathLst>
                <a:path w="9270746" h="63500">
                  <a:moveTo>
                    <a:pt x="0" y="0"/>
                  </a:moveTo>
                  <a:lnTo>
                    <a:pt x="9270746" y="0"/>
                  </a:lnTo>
                  <a:lnTo>
                    <a:pt x="9270746" y="63500"/>
                  </a:lnTo>
                  <a:lnTo>
                    <a:pt x="0" y="6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00001" r="-200012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1376868" y="7298711"/>
            <a:ext cx="8298180" cy="352044"/>
            <a:chOff x="0" y="0"/>
            <a:chExt cx="11064240" cy="46939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064240" cy="469393"/>
            </a:xfrm>
            <a:custGeom>
              <a:avLst/>
              <a:gdLst/>
              <a:ahLst/>
              <a:cxnLst/>
              <a:rect l="l" t="t" r="r" b="b"/>
              <a:pathLst>
                <a:path w="11064240" h="469393">
                  <a:moveTo>
                    <a:pt x="0" y="0"/>
                  </a:moveTo>
                  <a:lnTo>
                    <a:pt x="11064240" y="0"/>
                  </a:lnTo>
                  <a:lnTo>
                    <a:pt x="11064240" y="469393"/>
                  </a:lnTo>
                  <a:lnTo>
                    <a:pt x="0" y="4693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14614" b="-403964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11064240" cy="4789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EF4444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⚠️ 위험요인: 리더가 쉬는 순간 사업도 완전히 멈춤 (시스템 없는 친목 모임화)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85494" y="4231062"/>
            <a:ext cx="3048000" cy="514350"/>
            <a:chOff x="0" y="0"/>
            <a:chExt cx="4064000" cy="685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063874" cy="685644"/>
            </a:xfrm>
            <a:custGeom>
              <a:avLst/>
              <a:gdLst/>
              <a:ahLst/>
              <a:cxnLst/>
              <a:rect l="l" t="t" r="r" b="b"/>
              <a:pathLst>
                <a:path w="4063874" h="685644">
                  <a:moveTo>
                    <a:pt x="0" y="72677"/>
                  </a:moveTo>
                  <a:cubicBezTo>
                    <a:pt x="0" y="32592"/>
                    <a:pt x="33574" y="0"/>
                    <a:pt x="74868" y="0"/>
                  </a:cubicBezTo>
                  <a:lnTo>
                    <a:pt x="3989006" y="0"/>
                  </a:lnTo>
                  <a:cubicBezTo>
                    <a:pt x="4030301" y="0"/>
                    <a:pt x="4063874" y="32592"/>
                    <a:pt x="4063874" y="72677"/>
                  </a:cubicBezTo>
                  <a:lnTo>
                    <a:pt x="4063874" y="612966"/>
                  </a:lnTo>
                  <a:cubicBezTo>
                    <a:pt x="4063874" y="653052"/>
                    <a:pt x="4030301" y="685643"/>
                    <a:pt x="3989006" y="685643"/>
                  </a:cubicBezTo>
                  <a:lnTo>
                    <a:pt x="74868" y="685643"/>
                  </a:lnTo>
                  <a:cubicBezTo>
                    <a:pt x="33574" y="685813"/>
                    <a:pt x="0" y="653226"/>
                    <a:pt x="0" y="613140"/>
                  </a:cubicBezTo>
                  <a:close/>
                </a:path>
              </a:pathLst>
            </a:custGeom>
            <a:solidFill>
              <a:srgbClr val="EF4444">
                <a:alpha val="784"/>
              </a:srgbClr>
            </a:solidFill>
            <a:ln w="1270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1484705" y="4312215"/>
            <a:ext cx="2649579" cy="352044"/>
            <a:chOff x="0" y="0"/>
            <a:chExt cx="3532772" cy="46939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532772" cy="469391"/>
            </a:xfrm>
            <a:custGeom>
              <a:avLst/>
              <a:gdLst/>
              <a:ahLst/>
              <a:cxnLst/>
              <a:rect l="l" t="t" r="r" b="b"/>
              <a:pathLst>
                <a:path w="3532772" h="469391">
                  <a:moveTo>
                    <a:pt x="0" y="0"/>
                  </a:moveTo>
                  <a:lnTo>
                    <a:pt x="3532772" y="0"/>
                  </a:lnTo>
                  <a:lnTo>
                    <a:pt x="3532772" y="469391"/>
                  </a:lnTo>
                  <a:lnTo>
                    <a:pt x="0" y="46939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7202" r="19105" b="-70059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3532772" cy="4789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EF4444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개인의 역량에 의존하는 목선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161509" y="5164512"/>
            <a:ext cx="6954012" cy="490008"/>
            <a:chOff x="0" y="0"/>
            <a:chExt cx="9272016" cy="65334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272016" cy="653344"/>
            </a:xfrm>
            <a:custGeom>
              <a:avLst/>
              <a:gdLst/>
              <a:ahLst/>
              <a:cxnLst/>
              <a:rect l="l" t="t" r="r" b="b"/>
              <a:pathLst>
                <a:path w="9272016" h="653344">
                  <a:moveTo>
                    <a:pt x="0" y="0"/>
                  </a:moveTo>
                  <a:lnTo>
                    <a:pt x="9272016" y="0"/>
                  </a:lnTo>
                  <a:lnTo>
                    <a:pt x="9272016" y="653344"/>
                  </a:lnTo>
                  <a:lnTo>
                    <a:pt x="0" y="6533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1738" b="-221310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9272016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3F4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시스템으로 움직이는 크루즈선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161509" y="5750621"/>
            <a:ext cx="6954012" cy="1112344"/>
            <a:chOff x="0" y="0"/>
            <a:chExt cx="9272016" cy="148312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272016" cy="1483125"/>
            </a:xfrm>
            <a:custGeom>
              <a:avLst/>
              <a:gdLst/>
              <a:ahLst/>
              <a:cxnLst/>
              <a:rect l="l" t="t" r="r" b="b"/>
              <a:pathLst>
                <a:path w="9272016" h="1483125">
                  <a:moveTo>
                    <a:pt x="0" y="0"/>
                  </a:moveTo>
                  <a:lnTo>
                    <a:pt x="9272016" y="0"/>
                  </a:lnTo>
                  <a:lnTo>
                    <a:pt x="9272016" y="1483125"/>
                  </a:lnTo>
                  <a:lnTo>
                    <a:pt x="0" y="14831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5844" b="-87783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9272016" cy="1492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삼성 같은 초일류 기업이 오너 한 명의 머리가 아니라 정교하게 짜인 조직 문화와 시스템으로 굴러가는 것과 같습니다. 수천 명의 승무원이 각자의 자리에서 유기적으로 움직이며 승객의 완전한 안전과 서비스를 조율해 냅니다.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161509" y="6960035"/>
            <a:ext cx="6953098" cy="47625"/>
            <a:chOff x="0" y="0"/>
            <a:chExt cx="9270797" cy="63500"/>
          </a:xfrm>
        </p:grpSpPr>
        <p:sp>
          <p:nvSpPr>
            <p:cNvPr id="40" name="Freeform 40" descr="gen-dedup-5bb726e4d507407fe6afe1dd31057ef2.png"/>
            <p:cNvSpPr/>
            <p:nvPr/>
          </p:nvSpPr>
          <p:spPr>
            <a:xfrm>
              <a:off x="0" y="0"/>
              <a:ext cx="9270746" cy="63500"/>
            </a:xfrm>
            <a:custGeom>
              <a:avLst/>
              <a:gdLst/>
              <a:ahLst/>
              <a:cxnLst/>
              <a:rect l="l" t="t" r="r" b="b"/>
              <a:pathLst>
                <a:path w="9270746" h="63500">
                  <a:moveTo>
                    <a:pt x="0" y="0"/>
                  </a:moveTo>
                  <a:lnTo>
                    <a:pt x="9270746" y="0"/>
                  </a:lnTo>
                  <a:lnTo>
                    <a:pt x="9270746" y="63500"/>
                  </a:lnTo>
                  <a:lnTo>
                    <a:pt x="0" y="6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00001" r="-200012"/>
              </a:stretch>
            </a:blipFill>
          </p:spPr>
        </p:sp>
      </p:grpSp>
      <p:grpSp>
        <p:nvGrpSpPr>
          <p:cNvPr id="41" name="Group 41"/>
          <p:cNvGrpSpPr/>
          <p:nvPr/>
        </p:nvGrpSpPr>
        <p:grpSpPr>
          <a:xfrm>
            <a:off x="10160594" y="7165361"/>
            <a:ext cx="6954012" cy="618744"/>
            <a:chOff x="0" y="0"/>
            <a:chExt cx="9272016" cy="82499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9272016" cy="824992"/>
            </a:xfrm>
            <a:custGeom>
              <a:avLst/>
              <a:gdLst/>
              <a:ahLst/>
              <a:cxnLst/>
              <a:rect l="l" t="t" r="r" b="b"/>
              <a:pathLst>
                <a:path w="9272016" h="824992">
                  <a:moveTo>
                    <a:pt x="0" y="0"/>
                  </a:moveTo>
                  <a:lnTo>
                    <a:pt x="9272016" y="0"/>
                  </a:lnTo>
                  <a:lnTo>
                    <a:pt x="9272016" y="824992"/>
                  </a:lnTo>
                  <a:lnTo>
                    <a:pt x="0" y="824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8153" b="-169828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9272016" cy="8345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22C55E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🌱 르메뜨레 비전: 내가 완벽하게 가르치려 애쓰는 대신 검증된 고속도로인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22C55E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      '르메뜨레 시스템'으로 파트너를 정직하게 합류시키십시오.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081400" y="4231062"/>
            <a:ext cx="3048000" cy="514350"/>
            <a:chOff x="0" y="0"/>
            <a:chExt cx="4064000" cy="685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063874" cy="685644"/>
            </a:xfrm>
            <a:custGeom>
              <a:avLst/>
              <a:gdLst/>
              <a:ahLst/>
              <a:cxnLst/>
              <a:rect l="l" t="t" r="r" b="b"/>
              <a:pathLst>
                <a:path w="4063874" h="685644">
                  <a:moveTo>
                    <a:pt x="0" y="72677"/>
                  </a:moveTo>
                  <a:cubicBezTo>
                    <a:pt x="0" y="32592"/>
                    <a:pt x="33574" y="0"/>
                    <a:pt x="74868" y="0"/>
                  </a:cubicBezTo>
                  <a:lnTo>
                    <a:pt x="3989006" y="0"/>
                  </a:lnTo>
                  <a:cubicBezTo>
                    <a:pt x="4030301" y="0"/>
                    <a:pt x="4063874" y="32592"/>
                    <a:pt x="4063874" y="72677"/>
                  </a:cubicBezTo>
                  <a:lnTo>
                    <a:pt x="4063874" y="612966"/>
                  </a:lnTo>
                  <a:cubicBezTo>
                    <a:pt x="4063874" y="653052"/>
                    <a:pt x="4030301" y="685643"/>
                    <a:pt x="3989006" y="685643"/>
                  </a:cubicBezTo>
                  <a:lnTo>
                    <a:pt x="74868" y="685643"/>
                  </a:lnTo>
                  <a:cubicBezTo>
                    <a:pt x="33574" y="685813"/>
                    <a:pt x="0" y="653226"/>
                    <a:pt x="0" y="613140"/>
                  </a:cubicBezTo>
                  <a:close/>
                </a:path>
              </a:pathLst>
            </a:custGeom>
            <a:solidFill>
              <a:srgbClr val="22C55E">
                <a:alpha val="784"/>
              </a:srgbClr>
            </a:solidFill>
            <a:ln w="12700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10302822" y="4312215"/>
            <a:ext cx="2605157" cy="352044"/>
            <a:chOff x="0" y="0"/>
            <a:chExt cx="3473542" cy="46939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473543" cy="469391"/>
            </a:xfrm>
            <a:custGeom>
              <a:avLst/>
              <a:gdLst/>
              <a:ahLst/>
              <a:cxnLst/>
              <a:rect l="l" t="t" r="r" b="b"/>
              <a:pathLst>
                <a:path w="3473543" h="469391">
                  <a:moveTo>
                    <a:pt x="0" y="0"/>
                  </a:moveTo>
                  <a:lnTo>
                    <a:pt x="3473543" y="0"/>
                  </a:lnTo>
                  <a:lnTo>
                    <a:pt x="3473543" y="469391"/>
                  </a:lnTo>
                  <a:lnTo>
                    <a:pt x="0" y="46939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7202" r="17726" b="-70059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9525"/>
              <a:ext cx="3473542" cy="4789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22C55E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유기적 조율의 대형 크루즈선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57250" y="8667750"/>
            <a:ext cx="16954195" cy="1134499"/>
            <a:chOff x="0" y="0"/>
            <a:chExt cx="22605594" cy="1512665"/>
          </a:xfrm>
        </p:grpSpPr>
        <p:grpSp>
          <p:nvGrpSpPr>
            <p:cNvPr id="50" name="Group 50"/>
            <p:cNvGrpSpPr/>
            <p:nvPr/>
          </p:nvGrpSpPr>
          <p:grpSpPr>
            <a:xfrm>
              <a:off x="533197" y="0"/>
              <a:ext cx="22072397" cy="1512665"/>
              <a:chOff x="0" y="0"/>
              <a:chExt cx="4359980" cy="298798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4359980" cy="298798"/>
              </a:xfrm>
              <a:custGeom>
                <a:avLst/>
                <a:gdLst/>
                <a:ahLst/>
                <a:cxnLst/>
                <a:rect l="l" t="t" r="r" b="b"/>
                <a:pathLst>
                  <a:path w="4359980" h="298798">
                    <a:moveTo>
                      <a:pt x="0" y="0"/>
                    </a:moveTo>
                    <a:lnTo>
                      <a:pt x="4359980" y="0"/>
                    </a:lnTo>
                    <a:lnTo>
                      <a:pt x="4359980" y="298798"/>
                    </a:lnTo>
                    <a:lnTo>
                      <a:pt x="0" y="298798"/>
                    </a:lnTo>
                    <a:close/>
                  </a:path>
                </a:pathLst>
              </a:custGeom>
              <a:solidFill>
                <a:srgbClr val="3B3B3B"/>
              </a:solidFill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0" y="-9525"/>
                <a:ext cx="4359980" cy="3083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53" name="AutoShape 53"/>
            <p:cNvSpPr/>
            <p:nvPr/>
          </p:nvSpPr>
          <p:spPr>
            <a:xfrm>
              <a:off x="635000" y="0"/>
              <a:ext cx="0" cy="1512665"/>
            </a:xfrm>
            <a:prstGeom prst="line">
              <a:avLst/>
            </a:prstGeom>
            <a:ln w="1270000" cap="flat">
              <a:solidFill>
                <a:srgbClr val="EF44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02387" y="194450"/>
              <a:ext cx="2772776" cy="1140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FFFFFF"/>
                  </a:solidFill>
                  <a:latin typeface="Paperlogy Medium"/>
                  <a:ea typeface="Paperlogy Medium"/>
                  <a:cs typeface="Paperlogy Medium"/>
                  <a:sym typeface="Paperlogy Medium"/>
                </a:rPr>
                <a:t>L.REMETTRE Core Ethos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4606194" y="8989995"/>
            <a:ext cx="12047985" cy="490008"/>
            <a:chOff x="0" y="0"/>
            <a:chExt cx="16063980" cy="653344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6063981" cy="653343"/>
            </a:xfrm>
            <a:custGeom>
              <a:avLst/>
              <a:gdLst/>
              <a:ahLst/>
              <a:cxnLst/>
              <a:rect l="l" t="t" r="r" b="b"/>
              <a:pathLst>
                <a:path w="16063981" h="653343">
                  <a:moveTo>
                    <a:pt x="0" y="0"/>
                  </a:moveTo>
                  <a:lnTo>
                    <a:pt x="16063981" y="0"/>
                  </a:lnTo>
                  <a:lnTo>
                    <a:pt x="16063981" y="653343"/>
                  </a:lnTo>
                  <a:lnTo>
                    <a:pt x="0" y="6533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93010" r="12688" b="-343581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9525"/>
              <a:ext cx="16063980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499" b="1">
                  <a:solidFill>
                    <a:srgbClr val="FFFFFF"/>
                  </a:solidFill>
                  <a:latin typeface="Paperlogy Medium"/>
                  <a:ea typeface="Paperlogy Medium"/>
                  <a:cs typeface="Paperlogy Medium"/>
                  <a:sym typeface="Paperlogy Medium"/>
                </a:rPr>
                <a:t>"실전 경험이 뒷받침된 완벽한 시스템만이 문을 닫지 않고 비즈니스를 영구적으로 확장시킵니다."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707" y="761695"/>
            <a:ext cx="16573500" cy="19202"/>
            <a:chOff x="0" y="0"/>
            <a:chExt cx="22098000" cy="25603"/>
          </a:xfrm>
        </p:grpSpPr>
        <p:sp>
          <p:nvSpPr>
            <p:cNvPr id="3" name="Freeform 3" descr="gen-dedup-8e155934e3e6c9b01e275e9a352dafea.png"/>
            <p:cNvSpPr/>
            <p:nvPr/>
          </p:nvSpPr>
          <p:spPr>
            <a:xfrm>
              <a:off x="0" y="0"/>
              <a:ext cx="22098000" cy="25654"/>
            </a:xfrm>
            <a:custGeom>
              <a:avLst/>
              <a:gdLst/>
              <a:ahLst/>
              <a:cxnLst/>
              <a:rect l="l" t="t" r="r" b="b"/>
              <a:pathLst>
                <a:path w="22098000" h="25654">
                  <a:moveTo>
                    <a:pt x="0" y="0"/>
                  </a:moveTo>
                  <a:lnTo>
                    <a:pt x="22098000" y="0"/>
                  </a:lnTo>
                  <a:lnTo>
                    <a:pt x="22098000" y="25654"/>
                  </a:lnTo>
                  <a:lnTo>
                    <a:pt x="0" y="2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396" r="-10342" b="59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707" y="952500"/>
            <a:ext cx="16573500" cy="399627"/>
            <a:chOff x="0" y="0"/>
            <a:chExt cx="22098000" cy="53283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098000" cy="532835"/>
            </a:xfrm>
            <a:custGeom>
              <a:avLst/>
              <a:gdLst/>
              <a:ahLst/>
              <a:cxnLst/>
              <a:rect l="l" t="t" r="r" b="b"/>
              <a:pathLst>
                <a:path w="22098000" h="532835">
                  <a:moveTo>
                    <a:pt x="0" y="0"/>
                  </a:moveTo>
                  <a:lnTo>
                    <a:pt x="22098000" y="0"/>
                  </a:lnTo>
                  <a:lnTo>
                    <a:pt x="22098000" y="532835"/>
                  </a:lnTo>
                  <a:lnTo>
                    <a:pt x="0" y="5328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77089" b="-739097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22098000" cy="5423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346">
                  <a:solidFill>
                    <a:srgbClr val="C5A880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OWNERSHIP &amp; RESPONSIBILITY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57707" y="1428750"/>
            <a:ext cx="16573500" cy="1389168"/>
            <a:chOff x="0" y="0"/>
            <a:chExt cx="22098000" cy="185222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098000" cy="1852225"/>
            </a:xfrm>
            <a:custGeom>
              <a:avLst/>
              <a:gdLst/>
              <a:ahLst/>
              <a:cxnLst/>
              <a:rect l="l" t="t" r="r" b="b"/>
              <a:pathLst>
                <a:path w="22098000" h="1852225">
                  <a:moveTo>
                    <a:pt x="0" y="0"/>
                  </a:moveTo>
                  <a:lnTo>
                    <a:pt x="22098000" y="0"/>
                  </a:lnTo>
                  <a:lnTo>
                    <a:pt x="22098000" y="1852225"/>
                  </a:lnTo>
                  <a:lnTo>
                    <a:pt x="0" y="18522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0514" b="-154418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22098000" cy="18617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399"/>
                </a:lnSpc>
              </a:pPr>
              <a:r>
                <a:rPr lang="en-US" sz="6999" b="1">
                  <a:solidFill>
                    <a:srgbClr val="F3F4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호칭의 달콤함 뒤에 숨은 무거운 책임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57707" y="2857500"/>
            <a:ext cx="16573500" cy="399627"/>
            <a:chOff x="0" y="0"/>
            <a:chExt cx="22098000" cy="5328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98000" cy="532836"/>
            </a:xfrm>
            <a:custGeom>
              <a:avLst/>
              <a:gdLst/>
              <a:ahLst/>
              <a:cxnLst/>
              <a:rect l="l" t="t" r="r" b="b"/>
              <a:pathLst>
                <a:path w="22098000" h="532836">
                  <a:moveTo>
                    <a:pt x="0" y="0"/>
                  </a:moveTo>
                  <a:lnTo>
                    <a:pt x="22098000" y="0"/>
                  </a:lnTo>
                  <a:lnTo>
                    <a:pt x="22098000" y="532836"/>
                  </a:lnTo>
                  <a:lnTo>
                    <a:pt x="0" y="5328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66333" b="-74985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22098000" cy="5423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사원에서 사장님으로의 전환: 100% 결과에 책임을 진다는 것의 진짜 무게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48646" y="3497042"/>
            <a:ext cx="7905750" cy="4491584"/>
            <a:chOff x="0" y="0"/>
            <a:chExt cx="10541000" cy="5988779"/>
          </a:xfrm>
        </p:grpSpPr>
        <p:sp>
          <p:nvSpPr>
            <p:cNvPr id="14" name="Freeform 14" descr="gen-dedup-4cc0b267fcf057a68787bb8faeafcb52.png"/>
            <p:cNvSpPr/>
            <p:nvPr/>
          </p:nvSpPr>
          <p:spPr>
            <a:xfrm>
              <a:off x="0" y="0"/>
              <a:ext cx="10540950" cy="5988804"/>
            </a:xfrm>
            <a:custGeom>
              <a:avLst/>
              <a:gdLst/>
              <a:ahLst/>
              <a:cxnLst/>
              <a:rect l="l" t="t" r="r" b="b"/>
              <a:pathLst>
                <a:path w="10540950" h="5988804">
                  <a:moveTo>
                    <a:pt x="192112" y="0"/>
                  </a:moveTo>
                  <a:lnTo>
                    <a:pt x="10348837" y="0"/>
                  </a:lnTo>
                  <a:cubicBezTo>
                    <a:pt x="10454938" y="0"/>
                    <a:pt x="10540950" y="86012"/>
                    <a:pt x="10540950" y="192112"/>
                  </a:cubicBezTo>
                  <a:lnTo>
                    <a:pt x="10540950" y="5796692"/>
                  </a:lnTo>
                  <a:cubicBezTo>
                    <a:pt x="10540950" y="5902792"/>
                    <a:pt x="10454938" y="5988804"/>
                    <a:pt x="10348837" y="5988804"/>
                  </a:cubicBezTo>
                  <a:lnTo>
                    <a:pt x="192112" y="5988804"/>
                  </a:lnTo>
                  <a:cubicBezTo>
                    <a:pt x="86012" y="5988804"/>
                    <a:pt x="0" y="5902792"/>
                    <a:pt x="0" y="5796692"/>
                  </a:cubicBezTo>
                  <a:lnTo>
                    <a:pt x="0" y="192112"/>
                  </a:lnTo>
                  <a:cubicBezTo>
                    <a:pt x="0" y="86012"/>
                    <a:pt x="86012" y="0"/>
                    <a:pt x="192112" y="0"/>
                  </a:cubicBezTo>
                  <a:close/>
                </a:path>
              </a:pathLst>
            </a:custGeom>
            <a:blipFill>
              <a:blip r:embed="rId5"/>
              <a:stretch>
                <a:fillRect t="-11193" b="-11194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263199" y="4594037"/>
            <a:ext cx="6954012" cy="490008"/>
            <a:chOff x="0" y="0"/>
            <a:chExt cx="9272016" cy="6533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272016" cy="653344"/>
            </a:xfrm>
            <a:custGeom>
              <a:avLst/>
              <a:gdLst/>
              <a:ahLst/>
              <a:cxnLst/>
              <a:rect l="l" t="t" r="r" b="b"/>
              <a:pathLst>
                <a:path w="9272016" h="653344">
                  <a:moveTo>
                    <a:pt x="0" y="0"/>
                  </a:moveTo>
                  <a:lnTo>
                    <a:pt x="9272016" y="0"/>
                  </a:lnTo>
                  <a:lnTo>
                    <a:pt x="9272016" y="653344"/>
                  </a:lnTo>
                  <a:lnTo>
                    <a:pt x="0" y="6533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1738" b="-22131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9272016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3F4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서로를 '사장님'이라 부르는 진짜 이유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63199" y="5380570"/>
            <a:ext cx="6954012" cy="1105510"/>
            <a:chOff x="0" y="0"/>
            <a:chExt cx="9272016" cy="147401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272016" cy="1474014"/>
            </a:xfrm>
            <a:custGeom>
              <a:avLst/>
              <a:gdLst/>
              <a:ahLst/>
              <a:cxnLst/>
              <a:rect l="l" t="t" r="r" b="b"/>
              <a:pathLst>
                <a:path w="9272016" h="1474014">
                  <a:moveTo>
                    <a:pt x="0" y="0"/>
                  </a:moveTo>
                  <a:lnTo>
                    <a:pt x="9272016" y="0"/>
                  </a:lnTo>
                  <a:lnTo>
                    <a:pt x="9272016" y="1474014"/>
                  </a:lnTo>
                  <a:lnTo>
                    <a:pt x="0" y="14740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2567" b="-72567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9272016" cy="14835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일반 직장에서는 승진할 때 가볍게 한턱을 쏘지만, 기쁨 뒤에는 무거운 그림자가 붙습니다. 사원 시절엔 자기 일만 챙겼으나, 팀장이 되면 부하의 실수까지 내 책임이 되기 때문이죠.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63199" y="6538201"/>
            <a:ext cx="6954012" cy="1105510"/>
            <a:chOff x="0" y="0"/>
            <a:chExt cx="9272016" cy="147401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272016" cy="1474014"/>
            </a:xfrm>
            <a:custGeom>
              <a:avLst/>
              <a:gdLst/>
              <a:ahLst/>
              <a:cxnLst/>
              <a:rect l="l" t="t" r="r" b="b"/>
              <a:pathLst>
                <a:path w="9272016" h="1474014">
                  <a:moveTo>
                    <a:pt x="0" y="0"/>
                  </a:moveTo>
                  <a:lnTo>
                    <a:pt x="9272016" y="0"/>
                  </a:lnTo>
                  <a:lnTo>
                    <a:pt x="9272016" y="1474014"/>
                  </a:lnTo>
                  <a:lnTo>
                    <a:pt x="0" y="14740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2567" b="-72567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9272016" cy="14835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르메뜨레 안에서는 서로를 </a:t>
              </a:r>
              <a:r>
                <a:rPr lang="en-US" sz="1800" b="1">
                  <a:solidFill>
                    <a:srgbClr val="9CA3AF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'사장님'</a:t>
              </a: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이라 부릅니다. 이는 여러분 한 분 한 분이 완전히 독립된 일인 기업을 운영하는 독자적인 주체임을 의미합니다. 따라서 여러분 비즈니스의 100% 결과 또한 온전히 리더 자신의 책임입니다.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63199" y="3783162"/>
            <a:ext cx="2476500" cy="514350"/>
            <a:chOff x="0" y="0"/>
            <a:chExt cx="3302000" cy="685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301945" cy="685644"/>
            </a:xfrm>
            <a:custGeom>
              <a:avLst/>
              <a:gdLst/>
              <a:ahLst/>
              <a:cxnLst/>
              <a:rect l="l" t="t" r="r" b="b"/>
              <a:pathLst>
                <a:path w="3301945" h="685644">
                  <a:moveTo>
                    <a:pt x="0" y="72677"/>
                  </a:moveTo>
                  <a:cubicBezTo>
                    <a:pt x="0" y="32592"/>
                    <a:pt x="34052" y="0"/>
                    <a:pt x="75934" y="0"/>
                  </a:cubicBezTo>
                  <a:lnTo>
                    <a:pt x="3226011" y="0"/>
                  </a:lnTo>
                  <a:cubicBezTo>
                    <a:pt x="3267894" y="0"/>
                    <a:pt x="3301945" y="32592"/>
                    <a:pt x="3301945" y="72677"/>
                  </a:cubicBezTo>
                  <a:lnTo>
                    <a:pt x="3301945" y="612966"/>
                  </a:lnTo>
                  <a:cubicBezTo>
                    <a:pt x="3301945" y="653052"/>
                    <a:pt x="3267894" y="685643"/>
                    <a:pt x="3226011" y="685643"/>
                  </a:cubicBezTo>
                  <a:lnTo>
                    <a:pt x="75934" y="685643"/>
                  </a:lnTo>
                  <a:cubicBezTo>
                    <a:pt x="34052" y="685813"/>
                    <a:pt x="0" y="653226"/>
                    <a:pt x="0" y="613140"/>
                  </a:cubicBezTo>
                  <a:close/>
                </a:path>
              </a:pathLst>
            </a:custGeom>
            <a:solidFill>
              <a:srgbClr val="C5A880">
                <a:alpha val="784"/>
              </a:srgbClr>
            </a:solidFill>
            <a:ln w="12700" cap="sq">
              <a:solidFill>
                <a:srgbClr val="C5A880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517647" y="3859286"/>
            <a:ext cx="1967605" cy="362102"/>
            <a:chOff x="0" y="0"/>
            <a:chExt cx="2623473" cy="48280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623473" cy="482802"/>
            </a:xfrm>
            <a:custGeom>
              <a:avLst/>
              <a:gdLst/>
              <a:ahLst/>
              <a:cxnLst/>
              <a:rect l="l" t="t" r="r" b="b"/>
              <a:pathLst>
                <a:path w="2623473" h="482802">
                  <a:moveTo>
                    <a:pt x="0" y="0"/>
                  </a:moveTo>
                  <a:lnTo>
                    <a:pt x="2623473" y="0"/>
                  </a:lnTo>
                  <a:lnTo>
                    <a:pt x="2623473" y="482802"/>
                  </a:lnTo>
                  <a:lnTo>
                    <a:pt x="0" y="4828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2258" r="12863" b="-42259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2623473" cy="4923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C5A880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일인 기업의 경영 주체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434519" y="3497042"/>
            <a:ext cx="7905750" cy="4491584"/>
            <a:chOff x="0" y="0"/>
            <a:chExt cx="1224808" cy="69586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24808" cy="695864"/>
            </a:xfrm>
            <a:custGeom>
              <a:avLst/>
              <a:gdLst/>
              <a:ahLst/>
              <a:cxnLst/>
              <a:rect l="l" t="t" r="r" b="b"/>
              <a:pathLst>
                <a:path w="1224808" h="695864">
                  <a:moveTo>
                    <a:pt x="14689" y="0"/>
                  </a:moveTo>
                  <a:lnTo>
                    <a:pt x="1210118" y="0"/>
                  </a:lnTo>
                  <a:cubicBezTo>
                    <a:pt x="1218231" y="0"/>
                    <a:pt x="1224808" y="6577"/>
                    <a:pt x="1224808" y="14689"/>
                  </a:cubicBezTo>
                  <a:lnTo>
                    <a:pt x="1224808" y="681175"/>
                  </a:lnTo>
                  <a:cubicBezTo>
                    <a:pt x="1224808" y="689287"/>
                    <a:pt x="1218231" y="695864"/>
                    <a:pt x="1210118" y="695864"/>
                  </a:cubicBezTo>
                  <a:lnTo>
                    <a:pt x="14689" y="695864"/>
                  </a:lnTo>
                  <a:cubicBezTo>
                    <a:pt x="6577" y="695864"/>
                    <a:pt x="0" y="689287"/>
                    <a:pt x="0" y="681175"/>
                  </a:cubicBezTo>
                  <a:lnTo>
                    <a:pt x="0" y="14689"/>
                  </a:lnTo>
                  <a:cubicBezTo>
                    <a:pt x="0" y="6577"/>
                    <a:pt x="6577" y="0"/>
                    <a:pt x="14689" y="0"/>
                  </a:cubicBezTo>
                  <a:close/>
                </a:path>
              </a:pathLst>
            </a:custGeom>
            <a:blipFill>
              <a:blip r:embed="rId6"/>
              <a:stretch>
                <a:fillRect l="-681" t="-5160" b="-4254"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9938064" y="4594037"/>
            <a:ext cx="6954012" cy="490008"/>
            <a:chOff x="0" y="0"/>
            <a:chExt cx="9272016" cy="65334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272016" cy="653344"/>
            </a:xfrm>
            <a:custGeom>
              <a:avLst/>
              <a:gdLst/>
              <a:ahLst/>
              <a:cxnLst/>
              <a:rect l="l" t="t" r="r" b="b"/>
              <a:pathLst>
                <a:path w="9272016" h="653344">
                  <a:moveTo>
                    <a:pt x="0" y="0"/>
                  </a:moveTo>
                  <a:lnTo>
                    <a:pt x="9272016" y="0"/>
                  </a:lnTo>
                  <a:lnTo>
                    <a:pt x="9272016" y="653344"/>
                  </a:lnTo>
                  <a:lnTo>
                    <a:pt x="0" y="6533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1738" b="-221310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9272016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3F4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일론 머스크와 제프 베이조스의 공통점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931711" y="5380570"/>
            <a:ext cx="6954012" cy="1105510"/>
            <a:chOff x="0" y="0"/>
            <a:chExt cx="9272016" cy="147401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272016" cy="1474013"/>
            </a:xfrm>
            <a:custGeom>
              <a:avLst/>
              <a:gdLst/>
              <a:ahLst/>
              <a:cxnLst/>
              <a:rect l="l" t="t" r="r" b="b"/>
              <a:pathLst>
                <a:path w="9272016" h="1474013">
                  <a:moveTo>
                    <a:pt x="0" y="0"/>
                  </a:moveTo>
                  <a:lnTo>
                    <a:pt x="9272016" y="0"/>
                  </a:lnTo>
                  <a:lnTo>
                    <a:pt x="9272016" y="1474013"/>
                  </a:lnTo>
                  <a:lnTo>
                    <a:pt x="0" y="147401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6189" b="-88944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9272016" cy="14835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세계적인 정점에 오른 기업가들이 거대한 부와 독보적인 영향력을 쥐게 된 핵심 비결 역시 다른 곳에 있지 않습니다. 발생할 수 있는 모든 유무형의 리스크와 불확실성을 회피하지 않고, 스스로 당당히 어깨에 짊어진 '책임감'에 있었습니다.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938064" y="6766801"/>
            <a:ext cx="6953098" cy="9144"/>
            <a:chOff x="0" y="0"/>
            <a:chExt cx="9270797" cy="12192"/>
          </a:xfrm>
        </p:grpSpPr>
        <p:sp>
          <p:nvSpPr>
            <p:cNvPr id="38" name="Freeform 38" descr="gen-dedup-5bb726e4d507407fe6afe1dd31057ef2.png"/>
            <p:cNvSpPr/>
            <p:nvPr/>
          </p:nvSpPr>
          <p:spPr>
            <a:xfrm>
              <a:off x="0" y="0"/>
              <a:ext cx="9270746" cy="12192"/>
            </a:xfrm>
            <a:custGeom>
              <a:avLst/>
              <a:gdLst/>
              <a:ahLst/>
              <a:cxnLst/>
              <a:rect l="l" t="t" r="r" b="b"/>
              <a:pathLst>
                <a:path w="9270746" h="12192">
                  <a:moveTo>
                    <a:pt x="0" y="0"/>
                  </a:moveTo>
                  <a:lnTo>
                    <a:pt x="9270746" y="0"/>
                  </a:lnTo>
                  <a:lnTo>
                    <a:pt x="9270746" y="12192"/>
                  </a:lnTo>
                  <a:lnTo>
                    <a:pt x="0" y="12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1999" r="1997"/>
              </a:stretch>
            </a:blipFill>
          </p:spPr>
        </p:sp>
      </p:grpSp>
      <p:grpSp>
        <p:nvGrpSpPr>
          <p:cNvPr id="39" name="Group 39"/>
          <p:cNvGrpSpPr/>
          <p:nvPr/>
        </p:nvGrpSpPr>
        <p:grpSpPr>
          <a:xfrm>
            <a:off x="9938064" y="6776402"/>
            <a:ext cx="6954012" cy="629107"/>
            <a:chOff x="0" y="0"/>
            <a:chExt cx="9272016" cy="83880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272016" cy="838809"/>
            </a:xfrm>
            <a:custGeom>
              <a:avLst/>
              <a:gdLst/>
              <a:ahLst/>
              <a:cxnLst/>
              <a:rect l="l" t="t" r="r" b="b"/>
              <a:pathLst>
                <a:path w="9272016" h="838809">
                  <a:moveTo>
                    <a:pt x="0" y="0"/>
                  </a:moveTo>
                  <a:lnTo>
                    <a:pt x="9272016" y="0"/>
                  </a:lnTo>
                  <a:lnTo>
                    <a:pt x="9272016" y="838809"/>
                  </a:lnTo>
                  <a:lnTo>
                    <a:pt x="0" y="83880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5383" b="-165383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9272016" cy="8483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3B82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💡 교훈: 호칭이 주는 달콤함에만 취할 것이 아니라, 리스크와 성패를 100%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3B82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       스스로 책임지는 자태와 실력을 갖춰야 합니다.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931711" y="3783162"/>
            <a:ext cx="4000500" cy="514350"/>
            <a:chOff x="0" y="0"/>
            <a:chExt cx="5334000" cy="685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333937" cy="685644"/>
            </a:xfrm>
            <a:custGeom>
              <a:avLst/>
              <a:gdLst/>
              <a:ahLst/>
              <a:cxnLst/>
              <a:rect l="l" t="t" r="r" b="b"/>
              <a:pathLst>
                <a:path w="5333937" h="685644">
                  <a:moveTo>
                    <a:pt x="0" y="72677"/>
                  </a:moveTo>
                  <a:cubicBezTo>
                    <a:pt x="0" y="32592"/>
                    <a:pt x="39373" y="0"/>
                    <a:pt x="87801" y="0"/>
                  </a:cubicBezTo>
                  <a:lnTo>
                    <a:pt x="5246136" y="0"/>
                  </a:lnTo>
                  <a:cubicBezTo>
                    <a:pt x="5294564" y="0"/>
                    <a:pt x="5333937" y="32592"/>
                    <a:pt x="5333937" y="72677"/>
                  </a:cubicBezTo>
                  <a:lnTo>
                    <a:pt x="5333937" y="612966"/>
                  </a:lnTo>
                  <a:cubicBezTo>
                    <a:pt x="5333937" y="653052"/>
                    <a:pt x="5294564" y="685643"/>
                    <a:pt x="5246136" y="685643"/>
                  </a:cubicBezTo>
                  <a:lnTo>
                    <a:pt x="87801" y="685643"/>
                  </a:lnTo>
                  <a:cubicBezTo>
                    <a:pt x="39373" y="685813"/>
                    <a:pt x="0" y="653226"/>
                    <a:pt x="0" y="613140"/>
                  </a:cubicBezTo>
                  <a:close/>
                </a:path>
              </a:pathLst>
            </a:custGeom>
            <a:solidFill>
              <a:srgbClr val="3B82F6">
                <a:alpha val="784"/>
              </a:srgbClr>
            </a:solidFill>
            <a:ln w="12700" cap="sq">
              <a:solidFill>
                <a:srgbClr val="3B82F6"/>
              </a:solidFill>
              <a:prstDash val="solid"/>
              <a:miter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10146769" y="3859286"/>
            <a:ext cx="3570385" cy="362102"/>
            <a:chOff x="0" y="0"/>
            <a:chExt cx="4760514" cy="482803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760514" cy="482802"/>
            </a:xfrm>
            <a:custGeom>
              <a:avLst/>
              <a:gdLst/>
              <a:ahLst/>
              <a:cxnLst/>
              <a:rect l="l" t="t" r="r" b="b"/>
              <a:pathLst>
                <a:path w="4760514" h="482802">
                  <a:moveTo>
                    <a:pt x="0" y="0"/>
                  </a:moveTo>
                  <a:lnTo>
                    <a:pt x="4760514" y="0"/>
                  </a:lnTo>
                  <a:lnTo>
                    <a:pt x="4760514" y="482802"/>
                  </a:lnTo>
                  <a:lnTo>
                    <a:pt x="0" y="4828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9162" r="32771" b="-79162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4760514" cy="4923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3B82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GLOBAL LEADER STANDARD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57250" y="8667750"/>
            <a:ext cx="16954195" cy="1134499"/>
            <a:chOff x="0" y="0"/>
            <a:chExt cx="22605594" cy="1512665"/>
          </a:xfrm>
        </p:grpSpPr>
        <p:grpSp>
          <p:nvGrpSpPr>
            <p:cNvPr id="48" name="Group 48"/>
            <p:cNvGrpSpPr/>
            <p:nvPr/>
          </p:nvGrpSpPr>
          <p:grpSpPr>
            <a:xfrm>
              <a:off x="533197" y="0"/>
              <a:ext cx="22072397" cy="1512665"/>
              <a:chOff x="0" y="0"/>
              <a:chExt cx="4359980" cy="298798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4359980" cy="298798"/>
              </a:xfrm>
              <a:custGeom>
                <a:avLst/>
                <a:gdLst/>
                <a:ahLst/>
                <a:cxnLst/>
                <a:rect l="l" t="t" r="r" b="b"/>
                <a:pathLst>
                  <a:path w="4359980" h="298798">
                    <a:moveTo>
                      <a:pt x="0" y="0"/>
                    </a:moveTo>
                    <a:lnTo>
                      <a:pt x="4359980" y="0"/>
                    </a:lnTo>
                    <a:lnTo>
                      <a:pt x="4359980" y="298798"/>
                    </a:lnTo>
                    <a:lnTo>
                      <a:pt x="0" y="298798"/>
                    </a:lnTo>
                    <a:close/>
                  </a:path>
                </a:pathLst>
              </a:custGeom>
              <a:solidFill>
                <a:srgbClr val="3B3B3B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0" y="-9525"/>
                <a:ext cx="4359980" cy="3083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51" name="AutoShape 51"/>
            <p:cNvSpPr/>
            <p:nvPr/>
          </p:nvSpPr>
          <p:spPr>
            <a:xfrm>
              <a:off x="635000" y="0"/>
              <a:ext cx="0" cy="1512665"/>
            </a:xfrm>
            <a:prstGeom prst="line">
              <a:avLst/>
            </a:prstGeom>
            <a:ln w="1270000" cap="flat">
              <a:solidFill>
                <a:srgbClr val="EF44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02387" y="194450"/>
              <a:ext cx="2772776" cy="1140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FFFFFF"/>
                  </a:solidFill>
                  <a:latin typeface="Paperlogy Medium"/>
                  <a:ea typeface="Paperlogy Medium"/>
                  <a:cs typeface="Paperlogy Medium"/>
                  <a:sym typeface="Paperlogy Medium"/>
                </a:rPr>
                <a:t>L.REMETTRE Core Ethos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982087" y="8989995"/>
            <a:ext cx="10984469" cy="490008"/>
            <a:chOff x="0" y="0"/>
            <a:chExt cx="14645959" cy="653344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4645959" cy="653343"/>
            </a:xfrm>
            <a:custGeom>
              <a:avLst/>
              <a:gdLst/>
              <a:ahLst/>
              <a:cxnLst/>
              <a:rect l="l" t="t" r="r" b="b"/>
              <a:pathLst>
                <a:path w="14645959" h="653343">
                  <a:moveTo>
                    <a:pt x="0" y="0"/>
                  </a:moveTo>
                  <a:lnTo>
                    <a:pt x="14645959" y="0"/>
                  </a:lnTo>
                  <a:lnTo>
                    <a:pt x="14645959" y="653343"/>
                  </a:lnTo>
                  <a:lnTo>
                    <a:pt x="0" y="6533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53886" r="13192" b="-304457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14645959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499" b="1">
                  <a:solidFill>
                    <a:srgbClr val="FFFFFF"/>
                  </a:solidFill>
                  <a:latin typeface="Paperlogy Medium"/>
                  <a:ea typeface="Paperlogy Medium"/>
                  <a:cs typeface="Paperlogy Medium"/>
                  <a:sym typeface="Paperlogy Medium"/>
                </a:rPr>
                <a:t>"모든 결과의 원인을 나에게로 돌리는 100% 자기 책임의 자태가 리더십의 근간입니다."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707" y="761695"/>
            <a:ext cx="16573500" cy="19202"/>
            <a:chOff x="0" y="0"/>
            <a:chExt cx="22098000" cy="25603"/>
          </a:xfrm>
        </p:grpSpPr>
        <p:sp>
          <p:nvSpPr>
            <p:cNvPr id="3" name="Freeform 3" descr="gen-dedup-8e155934e3e6c9b01e275e9a352dafea.png"/>
            <p:cNvSpPr/>
            <p:nvPr/>
          </p:nvSpPr>
          <p:spPr>
            <a:xfrm>
              <a:off x="0" y="0"/>
              <a:ext cx="22098000" cy="25654"/>
            </a:xfrm>
            <a:custGeom>
              <a:avLst/>
              <a:gdLst/>
              <a:ahLst/>
              <a:cxnLst/>
              <a:rect l="l" t="t" r="r" b="b"/>
              <a:pathLst>
                <a:path w="22098000" h="25654">
                  <a:moveTo>
                    <a:pt x="0" y="0"/>
                  </a:moveTo>
                  <a:lnTo>
                    <a:pt x="22098000" y="0"/>
                  </a:lnTo>
                  <a:lnTo>
                    <a:pt x="22098000" y="25654"/>
                  </a:lnTo>
                  <a:lnTo>
                    <a:pt x="0" y="2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396" r="-10342" b="59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707" y="952500"/>
            <a:ext cx="16573500" cy="399627"/>
            <a:chOff x="0" y="0"/>
            <a:chExt cx="22098000" cy="53283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098000" cy="532835"/>
            </a:xfrm>
            <a:custGeom>
              <a:avLst/>
              <a:gdLst/>
              <a:ahLst/>
              <a:cxnLst/>
              <a:rect l="l" t="t" r="r" b="b"/>
              <a:pathLst>
                <a:path w="22098000" h="532835">
                  <a:moveTo>
                    <a:pt x="0" y="0"/>
                  </a:moveTo>
                  <a:lnTo>
                    <a:pt x="22098000" y="0"/>
                  </a:lnTo>
                  <a:lnTo>
                    <a:pt x="22098000" y="532835"/>
                  </a:lnTo>
                  <a:lnTo>
                    <a:pt x="0" y="5328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77089" b="-739097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22098000" cy="5423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346">
                  <a:solidFill>
                    <a:srgbClr val="C5A880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DEFINITION &amp; ETYMOLOGY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57707" y="1428750"/>
            <a:ext cx="16573500" cy="1389168"/>
            <a:chOff x="0" y="0"/>
            <a:chExt cx="22098000" cy="185222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098000" cy="1852225"/>
            </a:xfrm>
            <a:custGeom>
              <a:avLst/>
              <a:gdLst/>
              <a:ahLst/>
              <a:cxnLst/>
              <a:rect l="l" t="t" r="r" b="b"/>
              <a:pathLst>
                <a:path w="22098000" h="1852225">
                  <a:moveTo>
                    <a:pt x="0" y="0"/>
                  </a:moveTo>
                  <a:lnTo>
                    <a:pt x="22098000" y="0"/>
                  </a:lnTo>
                  <a:lnTo>
                    <a:pt x="22098000" y="1852225"/>
                  </a:lnTo>
                  <a:lnTo>
                    <a:pt x="0" y="18522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0514" b="-154418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22098000" cy="18617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399"/>
                </a:lnSpc>
              </a:pPr>
              <a:r>
                <a:rPr lang="en-US" sz="6999" b="1">
                  <a:solidFill>
                    <a:srgbClr val="F3F4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방향을 가리키는 자: 리더십의 어원적 본질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57707" y="2857500"/>
            <a:ext cx="16573500" cy="399627"/>
            <a:chOff x="0" y="0"/>
            <a:chExt cx="22098000" cy="5328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98000" cy="532836"/>
            </a:xfrm>
            <a:custGeom>
              <a:avLst/>
              <a:gdLst/>
              <a:ahLst/>
              <a:cxnLst/>
              <a:rect l="l" t="t" r="r" b="b"/>
              <a:pathLst>
                <a:path w="22098000" h="532836">
                  <a:moveTo>
                    <a:pt x="0" y="0"/>
                  </a:moveTo>
                  <a:lnTo>
                    <a:pt x="22098000" y="0"/>
                  </a:lnTo>
                  <a:lnTo>
                    <a:pt x="22098000" y="532836"/>
                  </a:lnTo>
                  <a:lnTo>
                    <a:pt x="0" y="5328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66333" b="-74985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22098000" cy="5423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완만한 계단길을 두고 굳지 밧줄을 잡아 위험한 암벽을 오르는 파트너를 올바르게 안내하는 힘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98414" y="3497042"/>
            <a:ext cx="7905750" cy="4491584"/>
            <a:chOff x="0" y="0"/>
            <a:chExt cx="10541000" cy="5988779"/>
          </a:xfrm>
        </p:grpSpPr>
        <p:sp>
          <p:nvSpPr>
            <p:cNvPr id="14" name="Freeform 14" descr="gen-dedup-4cc0b267fcf057a68787bb8faeafcb52.png"/>
            <p:cNvSpPr/>
            <p:nvPr/>
          </p:nvSpPr>
          <p:spPr>
            <a:xfrm>
              <a:off x="0" y="0"/>
              <a:ext cx="10540950" cy="5988804"/>
            </a:xfrm>
            <a:custGeom>
              <a:avLst/>
              <a:gdLst/>
              <a:ahLst/>
              <a:cxnLst/>
              <a:rect l="l" t="t" r="r" b="b"/>
              <a:pathLst>
                <a:path w="10540950" h="5988804">
                  <a:moveTo>
                    <a:pt x="192112" y="0"/>
                  </a:moveTo>
                  <a:lnTo>
                    <a:pt x="10348837" y="0"/>
                  </a:lnTo>
                  <a:cubicBezTo>
                    <a:pt x="10454938" y="0"/>
                    <a:pt x="10540950" y="86012"/>
                    <a:pt x="10540950" y="192112"/>
                  </a:cubicBezTo>
                  <a:lnTo>
                    <a:pt x="10540950" y="5796692"/>
                  </a:lnTo>
                  <a:cubicBezTo>
                    <a:pt x="10540950" y="5902792"/>
                    <a:pt x="10454938" y="5988804"/>
                    <a:pt x="10348837" y="5988804"/>
                  </a:cubicBezTo>
                  <a:lnTo>
                    <a:pt x="192112" y="5988804"/>
                  </a:lnTo>
                  <a:cubicBezTo>
                    <a:pt x="86012" y="5988804"/>
                    <a:pt x="0" y="5902792"/>
                    <a:pt x="0" y="5796692"/>
                  </a:cubicBezTo>
                  <a:lnTo>
                    <a:pt x="0" y="192112"/>
                  </a:lnTo>
                  <a:cubicBezTo>
                    <a:pt x="0" y="86012"/>
                    <a:pt x="86012" y="0"/>
                    <a:pt x="192112" y="0"/>
                  </a:cubicBezTo>
                  <a:close/>
                </a:path>
              </a:pathLst>
            </a:custGeom>
            <a:blipFill>
              <a:blip r:embed="rId5"/>
              <a:stretch>
                <a:fillRect t="-11193" b="-11194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276610" y="4923870"/>
            <a:ext cx="6954012" cy="490008"/>
            <a:chOff x="0" y="0"/>
            <a:chExt cx="9272016" cy="6533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272016" cy="653344"/>
            </a:xfrm>
            <a:custGeom>
              <a:avLst/>
              <a:gdLst/>
              <a:ahLst/>
              <a:cxnLst/>
              <a:rect l="l" t="t" r="r" b="b"/>
              <a:pathLst>
                <a:path w="9272016" h="653344">
                  <a:moveTo>
                    <a:pt x="0" y="0"/>
                  </a:moveTo>
                  <a:lnTo>
                    <a:pt x="9272016" y="0"/>
                  </a:lnTo>
                  <a:lnTo>
                    <a:pt x="9272016" y="653344"/>
                  </a:lnTo>
                  <a:lnTo>
                    <a:pt x="0" y="6533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1738" b="-22131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9272016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3F4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Leader: "방향을 가리키다"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76610" y="5706080"/>
            <a:ext cx="6954012" cy="1467612"/>
            <a:chOff x="0" y="0"/>
            <a:chExt cx="9272016" cy="195681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272016" cy="1956816"/>
            </a:xfrm>
            <a:custGeom>
              <a:avLst/>
              <a:gdLst/>
              <a:ahLst/>
              <a:cxnLst/>
              <a:rect l="l" t="t" r="r" b="b"/>
              <a:pathLst>
                <a:path w="9272016" h="1956816">
                  <a:moveTo>
                    <a:pt x="0" y="0"/>
                  </a:moveTo>
                  <a:lnTo>
                    <a:pt x="9272016" y="0"/>
                  </a:lnTo>
                  <a:lnTo>
                    <a:pt x="9272016" y="1956816"/>
                  </a:lnTo>
                  <a:lnTo>
                    <a:pt x="0" y="19568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2326" b="-42326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9272016" cy="19663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진정한 리더란 지위와 권한으로 사람을 무작정 억누르는 독재자가 아닙니다. 구성원의 가슴 속 깊은 곳에서 자발적인 지지와 강력한 동참을 자아내는 사람이죠. 실제로 '리더'라는 단어의 어원을 파고들어 가면 </a:t>
              </a:r>
              <a:r>
                <a:rPr lang="en-US" sz="1800" b="1">
                  <a:solidFill>
                    <a:srgbClr val="FFFFFF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'방향을 가리키다'</a:t>
              </a: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라는 강력한 본질이 담겨 있습니다.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76610" y="4072667"/>
            <a:ext cx="1905000" cy="514350"/>
            <a:chOff x="0" y="0"/>
            <a:chExt cx="2540000" cy="685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540013" cy="685644"/>
            </a:xfrm>
            <a:custGeom>
              <a:avLst/>
              <a:gdLst/>
              <a:ahLst/>
              <a:cxnLst/>
              <a:rect l="l" t="t" r="r" b="b"/>
              <a:pathLst>
                <a:path w="2540013" h="685644">
                  <a:moveTo>
                    <a:pt x="0" y="72677"/>
                  </a:moveTo>
                  <a:cubicBezTo>
                    <a:pt x="0" y="32592"/>
                    <a:pt x="32026" y="0"/>
                    <a:pt x="71417" y="0"/>
                  </a:cubicBezTo>
                  <a:lnTo>
                    <a:pt x="2468600" y="0"/>
                  </a:lnTo>
                  <a:cubicBezTo>
                    <a:pt x="2507991" y="0"/>
                    <a:pt x="2540013" y="32592"/>
                    <a:pt x="2540013" y="72677"/>
                  </a:cubicBezTo>
                  <a:lnTo>
                    <a:pt x="2540013" y="612966"/>
                  </a:lnTo>
                  <a:cubicBezTo>
                    <a:pt x="2540013" y="653052"/>
                    <a:pt x="2507991" y="685643"/>
                    <a:pt x="2468600" y="685643"/>
                  </a:cubicBezTo>
                  <a:lnTo>
                    <a:pt x="71417" y="685643"/>
                  </a:lnTo>
                  <a:cubicBezTo>
                    <a:pt x="32026" y="685813"/>
                    <a:pt x="0" y="653226"/>
                    <a:pt x="0" y="613140"/>
                  </a:cubicBezTo>
                  <a:close/>
                </a:path>
              </a:pathLst>
            </a:custGeom>
            <a:solidFill>
              <a:srgbClr val="C5A880">
                <a:alpha val="784"/>
              </a:srgbClr>
            </a:solidFill>
            <a:ln w="12700" cap="sq">
              <a:solidFill>
                <a:srgbClr val="C5A880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464983" y="4148791"/>
            <a:ext cx="1528255" cy="362102"/>
            <a:chOff x="0" y="0"/>
            <a:chExt cx="2037673" cy="48280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037673" cy="482802"/>
            </a:xfrm>
            <a:custGeom>
              <a:avLst/>
              <a:gdLst/>
              <a:ahLst/>
              <a:cxnLst/>
              <a:rect l="l" t="t" r="r" b="b"/>
              <a:pathLst>
                <a:path w="2037673" h="482802">
                  <a:moveTo>
                    <a:pt x="0" y="0"/>
                  </a:moveTo>
                  <a:lnTo>
                    <a:pt x="2037673" y="0"/>
                  </a:lnTo>
                  <a:lnTo>
                    <a:pt x="2037673" y="482802"/>
                  </a:lnTo>
                  <a:lnTo>
                    <a:pt x="0" y="4828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381" r="8335" b="-25381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2037673" cy="4923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C5A880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어원에서 찾은 답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484750" y="3497042"/>
            <a:ext cx="7905750" cy="4491584"/>
            <a:chOff x="0" y="0"/>
            <a:chExt cx="1224808" cy="69586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24808" cy="695864"/>
            </a:xfrm>
            <a:custGeom>
              <a:avLst/>
              <a:gdLst/>
              <a:ahLst/>
              <a:cxnLst/>
              <a:rect l="l" t="t" r="r" b="b"/>
              <a:pathLst>
                <a:path w="1224808" h="695864">
                  <a:moveTo>
                    <a:pt x="27420" y="0"/>
                  </a:moveTo>
                  <a:lnTo>
                    <a:pt x="1197388" y="0"/>
                  </a:lnTo>
                  <a:cubicBezTo>
                    <a:pt x="1204660" y="0"/>
                    <a:pt x="1211634" y="2889"/>
                    <a:pt x="1216776" y="8031"/>
                  </a:cubicBezTo>
                  <a:cubicBezTo>
                    <a:pt x="1221919" y="13173"/>
                    <a:pt x="1224808" y="20148"/>
                    <a:pt x="1224808" y="27420"/>
                  </a:cubicBezTo>
                  <a:lnTo>
                    <a:pt x="1224808" y="668444"/>
                  </a:lnTo>
                  <a:cubicBezTo>
                    <a:pt x="1224808" y="675716"/>
                    <a:pt x="1221919" y="682691"/>
                    <a:pt x="1216776" y="687833"/>
                  </a:cubicBezTo>
                  <a:cubicBezTo>
                    <a:pt x="1211634" y="692975"/>
                    <a:pt x="1204660" y="695864"/>
                    <a:pt x="1197388" y="695864"/>
                  </a:cubicBezTo>
                  <a:lnTo>
                    <a:pt x="27420" y="695864"/>
                  </a:lnTo>
                  <a:cubicBezTo>
                    <a:pt x="20148" y="695864"/>
                    <a:pt x="13173" y="692975"/>
                    <a:pt x="8031" y="687833"/>
                  </a:cubicBezTo>
                  <a:cubicBezTo>
                    <a:pt x="2889" y="682691"/>
                    <a:pt x="0" y="675716"/>
                    <a:pt x="0" y="668444"/>
                  </a:cubicBezTo>
                  <a:lnTo>
                    <a:pt x="0" y="27420"/>
                  </a:lnTo>
                  <a:cubicBezTo>
                    <a:pt x="0" y="20148"/>
                    <a:pt x="2889" y="13173"/>
                    <a:pt x="8031" y="8031"/>
                  </a:cubicBezTo>
                  <a:cubicBezTo>
                    <a:pt x="13173" y="2889"/>
                    <a:pt x="20148" y="0"/>
                    <a:pt x="27420" y="0"/>
                  </a:cubicBezTo>
                  <a:close/>
                </a:path>
              </a:pathLst>
            </a:custGeom>
            <a:blipFill>
              <a:blip r:embed="rId6"/>
              <a:stretch>
                <a:fillRect l="-402" t="-6676" r="-5552" b="-8605"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9945122" y="4923870"/>
            <a:ext cx="6954012" cy="490008"/>
            <a:chOff x="0" y="0"/>
            <a:chExt cx="9272016" cy="65334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272016" cy="653344"/>
            </a:xfrm>
            <a:custGeom>
              <a:avLst/>
              <a:gdLst/>
              <a:ahLst/>
              <a:cxnLst/>
              <a:rect l="l" t="t" r="r" b="b"/>
              <a:pathLst>
                <a:path w="9272016" h="653344">
                  <a:moveTo>
                    <a:pt x="0" y="0"/>
                  </a:moveTo>
                  <a:lnTo>
                    <a:pt x="9272016" y="0"/>
                  </a:lnTo>
                  <a:lnTo>
                    <a:pt x="9272016" y="653344"/>
                  </a:lnTo>
                  <a:lnTo>
                    <a:pt x="0" y="6533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1738" b="-221310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9272016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3F4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완만한 계단길을 두고 암벽을 타는 고집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960619" y="5501286"/>
            <a:ext cx="6954012" cy="1467612"/>
            <a:chOff x="0" y="0"/>
            <a:chExt cx="9272016" cy="195681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272016" cy="1956816"/>
            </a:xfrm>
            <a:custGeom>
              <a:avLst/>
              <a:gdLst/>
              <a:ahLst/>
              <a:cxnLst/>
              <a:rect l="l" t="t" r="r" b="b"/>
              <a:pathLst>
                <a:path w="9272016" h="1956816">
                  <a:moveTo>
                    <a:pt x="0" y="0"/>
                  </a:moveTo>
                  <a:lnTo>
                    <a:pt x="9272016" y="0"/>
                  </a:lnTo>
                  <a:lnTo>
                    <a:pt x="9272016" y="1956816"/>
                  </a:lnTo>
                  <a:lnTo>
                    <a:pt x="0" y="19568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2326" b="-42326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9272016" cy="19663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등산로에 누구나 쉽고 안전하게 갈 수 있는 계단길이 빤히 열려 있음에도, 굳이 밧줄을 붙잡고 가파른 암벽을 오르겠다고 우기는 이들이 있습니다. 입산 금지 구역에서 상처를 입고 헤맨 뒤 "이 사업은 너무 어렵다"며 스스로 포기합니다.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951475" y="7056306"/>
            <a:ext cx="6953098" cy="9144"/>
            <a:chOff x="0" y="0"/>
            <a:chExt cx="9270797" cy="12192"/>
          </a:xfrm>
        </p:grpSpPr>
        <p:sp>
          <p:nvSpPr>
            <p:cNvPr id="35" name="Freeform 35" descr="gen-dedup-5bb726e4d507407fe6afe1dd31057ef2.png"/>
            <p:cNvSpPr/>
            <p:nvPr/>
          </p:nvSpPr>
          <p:spPr>
            <a:xfrm>
              <a:off x="0" y="0"/>
              <a:ext cx="9270746" cy="12192"/>
            </a:xfrm>
            <a:custGeom>
              <a:avLst/>
              <a:gdLst/>
              <a:ahLst/>
              <a:cxnLst/>
              <a:rect l="l" t="t" r="r" b="b"/>
              <a:pathLst>
                <a:path w="9270746" h="12192">
                  <a:moveTo>
                    <a:pt x="0" y="0"/>
                  </a:moveTo>
                  <a:lnTo>
                    <a:pt x="9270746" y="0"/>
                  </a:lnTo>
                  <a:lnTo>
                    <a:pt x="9270746" y="12192"/>
                  </a:lnTo>
                  <a:lnTo>
                    <a:pt x="0" y="12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1999" r="1997"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>
            <a:off x="9960619" y="7173692"/>
            <a:ext cx="6954012" cy="629107"/>
            <a:chOff x="0" y="0"/>
            <a:chExt cx="9272016" cy="83880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272016" cy="838809"/>
            </a:xfrm>
            <a:custGeom>
              <a:avLst/>
              <a:gdLst/>
              <a:ahLst/>
              <a:cxnLst/>
              <a:rect l="l" t="t" r="r" b="b"/>
              <a:pathLst>
                <a:path w="9272016" h="838809">
                  <a:moveTo>
                    <a:pt x="0" y="0"/>
                  </a:moveTo>
                  <a:lnTo>
                    <a:pt x="9272016" y="0"/>
                  </a:lnTo>
                  <a:lnTo>
                    <a:pt x="9272016" y="838809"/>
                  </a:lnTo>
                  <a:lnTo>
                    <a:pt x="0" y="83880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5383" b="-165383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9272016" cy="8483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22C55E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🌱</a:t>
              </a:r>
              <a:r>
                <a:rPr lang="en-US" sz="1800" b="1">
                  <a:solidFill>
                    <a:srgbClr val="EF4444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 리더의 임무: "사장님, 위험하게 암벽 타지 말고 검증된 고속도로로 함께 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EF4444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       갑시다"라고 따뜻하게 일깨우는 방향 안내입니다.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945122" y="4072667"/>
            <a:ext cx="3429000" cy="514350"/>
            <a:chOff x="0" y="0"/>
            <a:chExt cx="4572000" cy="685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571839" cy="685644"/>
            </a:xfrm>
            <a:custGeom>
              <a:avLst/>
              <a:gdLst/>
              <a:ahLst/>
              <a:cxnLst/>
              <a:rect l="l" t="t" r="r" b="b"/>
              <a:pathLst>
                <a:path w="4571839" h="685644">
                  <a:moveTo>
                    <a:pt x="0" y="72677"/>
                  </a:moveTo>
                  <a:cubicBezTo>
                    <a:pt x="0" y="32592"/>
                    <a:pt x="33482" y="0"/>
                    <a:pt x="74663" y="0"/>
                  </a:cubicBezTo>
                  <a:lnTo>
                    <a:pt x="4497175" y="0"/>
                  </a:lnTo>
                  <a:cubicBezTo>
                    <a:pt x="4538357" y="0"/>
                    <a:pt x="4571839" y="32592"/>
                    <a:pt x="4571839" y="72677"/>
                  </a:cubicBezTo>
                  <a:lnTo>
                    <a:pt x="4571839" y="612966"/>
                  </a:lnTo>
                  <a:cubicBezTo>
                    <a:pt x="4571839" y="653052"/>
                    <a:pt x="4538357" y="685643"/>
                    <a:pt x="4497175" y="685643"/>
                  </a:cubicBezTo>
                  <a:lnTo>
                    <a:pt x="74663" y="685643"/>
                  </a:lnTo>
                  <a:cubicBezTo>
                    <a:pt x="33482" y="685813"/>
                    <a:pt x="0" y="653226"/>
                    <a:pt x="0" y="613140"/>
                  </a:cubicBezTo>
                  <a:close/>
                </a:path>
              </a:pathLst>
            </a:custGeom>
            <a:solidFill>
              <a:srgbClr val="EF4444">
                <a:alpha val="784"/>
              </a:srgbClr>
            </a:solidFill>
            <a:ln w="1270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10171197" y="4148791"/>
            <a:ext cx="2976851" cy="362102"/>
            <a:chOff x="0" y="0"/>
            <a:chExt cx="3969135" cy="48280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969134" cy="482802"/>
            </a:xfrm>
            <a:custGeom>
              <a:avLst/>
              <a:gdLst/>
              <a:ahLst/>
              <a:cxnLst/>
              <a:rect l="l" t="t" r="r" b="b"/>
              <a:pathLst>
                <a:path w="3969134" h="482802">
                  <a:moveTo>
                    <a:pt x="0" y="0"/>
                  </a:moveTo>
                  <a:lnTo>
                    <a:pt x="3969134" y="0"/>
                  </a:lnTo>
                  <a:lnTo>
                    <a:pt x="3969134" y="482802"/>
                  </a:lnTo>
                  <a:lnTo>
                    <a:pt x="0" y="4828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0195" r="18722" b="-80195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3969135" cy="4923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EF4444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시스템 지름길을 이탈하는 악순환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57250" y="8667750"/>
            <a:ext cx="16954195" cy="1134499"/>
            <a:chOff x="0" y="0"/>
            <a:chExt cx="22605594" cy="1512665"/>
          </a:xfrm>
        </p:grpSpPr>
        <p:grpSp>
          <p:nvGrpSpPr>
            <p:cNvPr id="45" name="Group 45"/>
            <p:cNvGrpSpPr/>
            <p:nvPr/>
          </p:nvGrpSpPr>
          <p:grpSpPr>
            <a:xfrm>
              <a:off x="533197" y="0"/>
              <a:ext cx="22072397" cy="1512665"/>
              <a:chOff x="0" y="0"/>
              <a:chExt cx="4359980" cy="298798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4359980" cy="298798"/>
              </a:xfrm>
              <a:custGeom>
                <a:avLst/>
                <a:gdLst/>
                <a:ahLst/>
                <a:cxnLst/>
                <a:rect l="l" t="t" r="r" b="b"/>
                <a:pathLst>
                  <a:path w="4359980" h="298798">
                    <a:moveTo>
                      <a:pt x="0" y="0"/>
                    </a:moveTo>
                    <a:lnTo>
                      <a:pt x="4359980" y="0"/>
                    </a:lnTo>
                    <a:lnTo>
                      <a:pt x="4359980" y="298798"/>
                    </a:lnTo>
                    <a:lnTo>
                      <a:pt x="0" y="298798"/>
                    </a:lnTo>
                    <a:close/>
                  </a:path>
                </a:pathLst>
              </a:custGeom>
              <a:solidFill>
                <a:srgbClr val="3B3B3B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0" y="-9525"/>
                <a:ext cx="4359980" cy="3083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48" name="AutoShape 48"/>
            <p:cNvSpPr/>
            <p:nvPr/>
          </p:nvSpPr>
          <p:spPr>
            <a:xfrm>
              <a:off x="635000" y="0"/>
              <a:ext cx="0" cy="1512665"/>
            </a:xfrm>
            <a:prstGeom prst="line">
              <a:avLst/>
            </a:prstGeom>
            <a:ln w="1270000" cap="flat">
              <a:solidFill>
                <a:srgbClr val="EF44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02387" y="194450"/>
              <a:ext cx="2772776" cy="1140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FFFFFF"/>
                  </a:solidFill>
                  <a:latin typeface="Paperlogy Medium"/>
                  <a:ea typeface="Paperlogy Medium"/>
                  <a:cs typeface="Paperlogy Medium"/>
                  <a:sym typeface="Paperlogy Medium"/>
                </a:rPr>
                <a:t>L.REMETTRE Core Ethos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173116" y="8989995"/>
            <a:ext cx="13086184" cy="490008"/>
            <a:chOff x="0" y="0"/>
            <a:chExt cx="17448245" cy="653344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7448245" cy="653343"/>
            </a:xfrm>
            <a:custGeom>
              <a:avLst/>
              <a:gdLst/>
              <a:ahLst/>
              <a:cxnLst/>
              <a:rect l="l" t="t" r="r" b="b"/>
              <a:pathLst>
                <a:path w="17448245" h="653343">
                  <a:moveTo>
                    <a:pt x="0" y="0"/>
                  </a:moveTo>
                  <a:lnTo>
                    <a:pt x="17448245" y="0"/>
                  </a:lnTo>
                  <a:lnTo>
                    <a:pt x="17448245" y="653343"/>
                  </a:lnTo>
                  <a:lnTo>
                    <a:pt x="0" y="6533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92501" r="19713" b="-343072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9525"/>
              <a:ext cx="17448245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499" b="1">
                  <a:solidFill>
                    <a:srgbClr val="FFFFFF"/>
                  </a:solidFill>
                  <a:latin typeface="Paperlogy Medium"/>
                  <a:ea typeface="Paperlogy Medium"/>
                  <a:cs typeface="Paperlogy Medium"/>
                  <a:sym typeface="Paperlogy Medium"/>
                </a:rPr>
                <a:t> "위험을 자처하며 길을 잃은 파트너를 검증된 고속도로로 돌아오게 만드는 것이 리더의 진짜 사랑입니다."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707" y="761695"/>
            <a:ext cx="16573500" cy="19202"/>
            <a:chOff x="0" y="0"/>
            <a:chExt cx="22098000" cy="25603"/>
          </a:xfrm>
        </p:grpSpPr>
        <p:sp>
          <p:nvSpPr>
            <p:cNvPr id="3" name="Freeform 3" descr="gen-dedup-8e155934e3e6c9b01e275e9a352dafea.png"/>
            <p:cNvSpPr/>
            <p:nvPr/>
          </p:nvSpPr>
          <p:spPr>
            <a:xfrm>
              <a:off x="0" y="0"/>
              <a:ext cx="22098000" cy="25654"/>
            </a:xfrm>
            <a:custGeom>
              <a:avLst/>
              <a:gdLst/>
              <a:ahLst/>
              <a:cxnLst/>
              <a:rect l="l" t="t" r="r" b="b"/>
              <a:pathLst>
                <a:path w="22098000" h="25654">
                  <a:moveTo>
                    <a:pt x="0" y="0"/>
                  </a:moveTo>
                  <a:lnTo>
                    <a:pt x="22098000" y="0"/>
                  </a:lnTo>
                  <a:lnTo>
                    <a:pt x="22098000" y="25654"/>
                  </a:lnTo>
                  <a:lnTo>
                    <a:pt x="0" y="2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396" r="-10342" b="59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707" y="952500"/>
            <a:ext cx="16573500" cy="399627"/>
            <a:chOff x="0" y="0"/>
            <a:chExt cx="22098000" cy="53283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098000" cy="532835"/>
            </a:xfrm>
            <a:custGeom>
              <a:avLst/>
              <a:gdLst/>
              <a:ahLst/>
              <a:cxnLst/>
              <a:rect l="l" t="t" r="r" b="b"/>
              <a:pathLst>
                <a:path w="22098000" h="532835">
                  <a:moveTo>
                    <a:pt x="0" y="0"/>
                  </a:moveTo>
                  <a:lnTo>
                    <a:pt x="22098000" y="0"/>
                  </a:lnTo>
                  <a:lnTo>
                    <a:pt x="22098000" y="532835"/>
                  </a:lnTo>
                  <a:lnTo>
                    <a:pt x="0" y="5328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77089" b="-739097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22098000" cy="5423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346">
                  <a:solidFill>
                    <a:srgbClr val="C5A880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VISION &amp; REPETITIVE TRAINING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57707" y="1428750"/>
            <a:ext cx="16573500" cy="1389168"/>
            <a:chOff x="0" y="0"/>
            <a:chExt cx="22098000" cy="185222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098000" cy="1852225"/>
            </a:xfrm>
            <a:custGeom>
              <a:avLst/>
              <a:gdLst/>
              <a:ahLst/>
              <a:cxnLst/>
              <a:rect l="l" t="t" r="r" b="b"/>
              <a:pathLst>
                <a:path w="22098000" h="1852225">
                  <a:moveTo>
                    <a:pt x="0" y="0"/>
                  </a:moveTo>
                  <a:lnTo>
                    <a:pt x="22098000" y="0"/>
                  </a:lnTo>
                  <a:lnTo>
                    <a:pt x="22098000" y="1852225"/>
                  </a:lnTo>
                  <a:lnTo>
                    <a:pt x="0" y="18522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0514" b="-154418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22098000" cy="18617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399"/>
                </a:lnSpc>
              </a:pPr>
              <a:r>
                <a:rPr lang="en-US" sz="6999" b="1">
                  <a:solidFill>
                    <a:srgbClr val="F3F4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비전의 확실한 보상과 반복적 단련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57707" y="2857500"/>
            <a:ext cx="16573500" cy="390101"/>
            <a:chOff x="0" y="0"/>
            <a:chExt cx="22098000" cy="52013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98000" cy="520135"/>
            </a:xfrm>
            <a:custGeom>
              <a:avLst/>
              <a:gdLst/>
              <a:ahLst/>
              <a:cxnLst/>
              <a:rect l="l" t="t" r="r" b="b"/>
              <a:pathLst>
                <a:path w="22098000" h="520135">
                  <a:moveTo>
                    <a:pt x="0" y="0"/>
                  </a:moveTo>
                  <a:lnTo>
                    <a:pt x="22098000" y="0"/>
                  </a:lnTo>
                  <a:lnTo>
                    <a:pt x="22098000" y="520135"/>
                  </a:lnTo>
                  <a:lnTo>
                    <a:pt x="0" y="5201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85045" b="-77060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22098000" cy="529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목표만 강요하는 다그침 대신, 지옥 같은 훈련 뒤에 올 달콤한 대가를 온전히 신뢰하게 만드는 법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75825" y="3497042"/>
            <a:ext cx="7905750" cy="4491584"/>
            <a:chOff x="0" y="0"/>
            <a:chExt cx="1224808" cy="69586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24808" cy="695864"/>
            </a:xfrm>
            <a:custGeom>
              <a:avLst/>
              <a:gdLst/>
              <a:ahLst/>
              <a:cxnLst/>
              <a:rect l="l" t="t" r="r" b="b"/>
              <a:pathLst>
                <a:path w="1224808" h="695864">
                  <a:moveTo>
                    <a:pt x="14689" y="0"/>
                  </a:moveTo>
                  <a:lnTo>
                    <a:pt x="1210118" y="0"/>
                  </a:lnTo>
                  <a:cubicBezTo>
                    <a:pt x="1218231" y="0"/>
                    <a:pt x="1224808" y="6577"/>
                    <a:pt x="1224808" y="14689"/>
                  </a:cubicBezTo>
                  <a:lnTo>
                    <a:pt x="1224808" y="681175"/>
                  </a:lnTo>
                  <a:cubicBezTo>
                    <a:pt x="1224808" y="689287"/>
                    <a:pt x="1218231" y="695864"/>
                    <a:pt x="1210118" y="695864"/>
                  </a:cubicBezTo>
                  <a:lnTo>
                    <a:pt x="14689" y="695864"/>
                  </a:lnTo>
                  <a:cubicBezTo>
                    <a:pt x="6577" y="695864"/>
                    <a:pt x="0" y="689287"/>
                    <a:pt x="0" y="681175"/>
                  </a:cubicBezTo>
                  <a:lnTo>
                    <a:pt x="0" y="14689"/>
                  </a:lnTo>
                  <a:cubicBezTo>
                    <a:pt x="0" y="6577"/>
                    <a:pt x="6577" y="0"/>
                    <a:pt x="14689" y="0"/>
                  </a:cubicBezTo>
                  <a:close/>
                </a:path>
              </a:pathLst>
            </a:custGeom>
            <a:blipFill>
              <a:blip r:embed="rId5"/>
              <a:stretch>
                <a:fillRect l="-681" t="-5160" b="-4254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358047" y="4598380"/>
            <a:ext cx="6954012" cy="490008"/>
            <a:chOff x="0" y="0"/>
            <a:chExt cx="9272016" cy="6533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272016" cy="653344"/>
            </a:xfrm>
            <a:custGeom>
              <a:avLst/>
              <a:gdLst/>
              <a:ahLst/>
              <a:cxnLst/>
              <a:rect l="l" t="t" r="r" b="b"/>
              <a:pathLst>
                <a:path w="9272016" h="653344">
                  <a:moveTo>
                    <a:pt x="0" y="0"/>
                  </a:moveTo>
                  <a:lnTo>
                    <a:pt x="9272016" y="0"/>
                  </a:lnTo>
                  <a:lnTo>
                    <a:pt x="9272016" y="653344"/>
                  </a:lnTo>
                  <a:lnTo>
                    <a:pt x="0" y="6533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1738" b="-22131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9272016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3F4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단순 동작을 완벽해질 때까지 반복함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51694" y="5401534"/>
            <a:ext cx="6954012" cy="1467612"/>
            <a:chOff x="0" y="0"/>
            <a:chExt cx="9272016" cy="195681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272016" cy="1956816"/>
            </a:xfrm>
            <a:custGeom>
              <a:avLst/>
              <a:gdLst/>
              <a:ahLst/>
              <a:cxnLst/>
              <a:rect l="l" t="t" r="r" b="b"/>
              <a:pathLst>
                <a:path w="9272016" h="1956816">
                  <a:moveTo>
                    <a:pt x="0" y="0"/>
                  </a:moveTo>
                  <a:lnTo>
                    <a:pt x="9272016" y="0"/>
                  </a:lnTo>
                  <a:lnTo>
                    <a:pt x="9272016" y="1956816"/>
                  </a:lnTo>
                  <a:lnTo>
                    <a:pt x="0" y="19568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2326" b="-42326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9272016" cy="19663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축구 천재 </a:t>
              </a:r>
              <a:r>
                <a:rPr lang="en-US" sz="1800" b="1">
                  <a:solidFill>
                    <a:srgbClr val="9CA3AF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엘링 홀란드</a:t>
              </a: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의 폭발적 성적과 152cm의 단신으로 올림픽 100m 금메달을 거머쥔 육상 전설 </a:t>
              </a:r>
              <a:r>
                <a:rPr lang="en-US" sz="1800" b="1">
                  <a:solidFill>
                    <a:srgbClr val="9CA3AF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셸리앤 프레이저프라이스</a:t>
              </a: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. 그들의 어마어마한 성과 뿌리에는 지루하고 뼈를 깎는 지옥 같은 단순 반복 훈련 끝에 반드시 완벽한 대가가 찾아온다는 굳건한 믿음이 있었습니다.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58047" y="6864574"/>
            <a:ext cx="6953098" cy="9144"/>
            <a:chOff x="0" y="0"/>
            <a:chExt cx="9270797" cy="12192"/>
          </a:xfrm>
        </p:grpSpPr>
        <p:sp>
          <p:nvSpPr>
            <p:cNvPr id="22" name="Freeform 22" descr="gen-dedup-5bb726e4d507407fe6afe1dd31057ef2.png"/>
            <p:cNvSpPr/>
            <p:nvPr/>
          </p:nvSpPr>
          <p:spPr>
            <a:xfrm>
              <a:off x="0" y="0"/>
              <a:ext cx="9270746" cy="12192"/>
            </a:xfrm>
            <a:custGeom>
              <a:avLst/>
              <a:gdLst/>
              <a:ahLst/>
              <a:cxnLst/>
              <a:rect l="l" t="t" r="r" b="b"/>
              <a:pathLst>
                <a:path w="9270746" h="12192">
                  <a:moveTo>
                    <a:pt x="0" y="0"/>
                  </a:moveTo>
                  <a:lnTo>
                    <a:pt x="9270746" y="0"/>
                  </a:lnTo>
                  <a:lnTo>
                    <a:pt x="9270746" y="12192"/>
                  </a:lnTo>
                  <a:lnTo>
                    <a:pt x="0" y="12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1999" r="1997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1358047" y="7064828"/>
            <a:ext cx="6954012" cy="618744"/>
            <a:chOff x="0" y="0"/>
            <a:chExt cx="9272016" cy="82499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272016" cy="824992"/>
            </a:xfrm>
            <a:custGeom>
              <a:avLst/>
              <a:gdLst/>
              <a:ahLst/>
              <a:cxnLst/>
              <a:rect l="l" t="t" r="r" b="b"/>
              <a:pathLst>
                <a:path w="9272016" h="824992">
                  <a:moveTo>
                    <a:pt x="0" y="0"/>
                  </a:moveTo>
                  <a:lnTo>
                    <a:pt x="9272016" y="0"/>
                  </a:lnTo>
                  <a:lnTo>
                    <a:pt x="9272016" y="824992"/>
                  </a:lnTo>
                  <a:lnTo>
                    <a:pt x="0" y="824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9704" b="-168276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9272016" cy="8345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3B82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매주 시스템 미팅과 교육 강의에 꾸준히 참석해 반복해서 듣는 태도 역시 이 단련과 정확히 똑같은 이치입니다.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51694" y="3791733"/>
            <a:ext cx="4000500" cy="514350"/>
            <a:chOff x="0" y="0"/>
            <a:chExt cx="5334000" cy="685800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5334000" cy="685800"/>
              <a:chOff x="0" y="0"/>
              <a:chExt cx="5334000" cy="685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5333940" cy="685644"/>
              </a:xfrm>
              <a:custGeom>
                <a:avLst/>
                <a:gdLst/>
                <a:ahLst/>
                <a:cxnLst/>
                <a:rect l="l" t="t" r="r" b="b"/>
                <a:pathLst>
                  <a:path w="5333940" h="685644">
                    <a:moveTo>
                      <a:pt x="0" y="72677"/>
                    </a:moveTo>
                    <a:cubicBezTo>
                      <a:pt x="0" y="32592"/>
                      <a:pt x="37457" y="0"/>
                      <a:pt x="83527" y="0"/>
                    </a:cubicBezTo>
                    <a:lnTo>
                      <a:pt x="5250412" y="0"/>
                    </a:lnTo>
                    <a:cubicBezTo>
                      <a:pt x="5296483" y="0"/>
                      <a:pt x="5333940" y="32592"/>
                      <a:pt x="5333940" y="72677"/>
                    </a:cubicBezTo>
                    <a:lnTo>
                      <a:pt x="5333940" y="612966"/>
                    </a:lnTo>
                    <a:cubicBezTo>
                      <a:pt x="5333940" y="653052"/>
                      <a:pt x="5296483" y="685643"/>
                      <a:pt x="5250412" y="685643"/>
                    </a:cubicBezTo>
                    <a:lnTo>
                      <a:pt x="83527" y="685643"/>
                    </a:lnTo>
                    <a:cubicBezTo>
                      <a:pt x="37457" y="685813"/>
                      <a:pt x="0" y="653226"/>
                      <a:pt x="0" y="613140"/>
                    </a:cubicBezTo>
                    <a:close/>
                  </a:path>
                </a:pathLst>
              </a:custGeom>
              <a:solidFill>
                <a:srgbClr val="3B82F6">
                  <a:alpha val="784"/>
                </a:srgbClr>
              </a:solidFill>
              <a:ln w="12700" cap="sq">
                <a:solidFill>
                  <a:srgbClr val="3B82F6"/>
                </a:solidFill>
                <a:prstDash val="solid"/>
                <a:miter/>
              </a:ln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8471" y="101499"/>
              <a:ext cx="4918170" cy="482803"/>
              <a:chOff x="0" y="0"/>
              <a:chExt cx="4918170" cy="48280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4918169" cy="482802"/>
              </a:xfrm>
              <a:custGeom>
                <a:avLst/>
                <a:gdLst/>
                <a:ahLst/>
                <a:cxnLst/>
                <a:rect l="l" t="t" r="r" b="b"/>
                <a:pathLst>
                  <a:path w="4918169" h="482802">
                    <a:moveTo>
                      <a:pt x="0" y="0"/>
                    </a:moveTo>
                    <a:lnTo>
                      <a:pt x="4918169" y="0"/>
                    </a:lnTo>
                    <a:lnTo>
                      <a:pt x="4918169" y="482802"/>
                    </a:lnTo>
                    <a:lnTo>
                      <a:pt x="0" y="482802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85854" r="31555" b="-85854"/>
                </a:stretch>
              </a:blip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9525"/>
                <a:ext cx="4918170" cy="49232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 b="1">
                    <a:solidFill>
                      <a:srgbClr val="3B82F6"/>
                    </a:solidFill>
                    <a:latin typeface="Paperlogy Bold"/>
                    <a:ea typeface="Paperlogy Bold"/>
                    <a:cs typeface="Paperlogy Bold"/>
                    <a:sym typeface="Paperlogy Bold"/>
                  </a:rPr>
                  <a:t>SPORTS CHAMPION MINDSET</a:t>
                </a:r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9506425" y="3497042"/>
            <a:ext cx="7905750" cy="4491584"/>
            <a:chOff x="0" y="0"/>
            <a:chExt cx="1224808" cy="69586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24808" cy="695864"/>
            </a:xfrm>
            <a:custGeom>
              <a:avLst/>
              <a:gdLst/>
              <a:ahLst/>
              <a:cxnLst/>
              <a:rect l="l" t="t" r="r" b="b"/>
              <a:pathLst>
                <a:path w="1224808" h="695864">
                  <a:moveTo>
                    <a:pt x="27420" y="0"/>
                  </a:moveTo>
                  <a:lnTo>
                    <a:pt x="1197388" y="0"/>
                  </a:lnTo>
                  <a:cubicBezTo>
                    <a:pt x="1204660" y="0"/>
                    <a:pt x="1211634" y="2889"/>
                    <a:pt x="1216776" y="8031"/>
                  </a:cubicBezTo>
                  <a:cubicBezTo>
                    <a:pt x="1221919" y="13173"/>
                    <a:pt x="1224808" y="20148"/>
                    <a:pt x="1224808" y="27420"/>
                  </a:cubicBezTo>
                  <a:lnTo>
                    <a:pt x="1224808" y="668444"/>
                  </a:lnTo>
                  <a:cubicBezTo>
                    <a:pt x="1224808" y="675716"/>
                    <a:pt x="1221919" y="682691"/>
                    <a:pt x="1216776" y="687833"/>
                  </a:cubicBezTo>
                  <a:cubicBezTo>
                    <a:pt x="1211634" y="692975"/>
                    <a:pt x="1204660" y="695864"/>
                    <a:pt x="1197388" y="695864"/>
                  </a:cubicBezTo>
                  <a:lnTo>
                    <a:pt x="27420" y="695864"/>
                  </a:lnTo>
                  <a:cubicBezTo>
                    <a:pt x="20148" y="695864"/>
                    <a:pt x="13173" y="692975"/>
                    <a:pt x="8031" y="687833"/>
                  </a:cubicBezTo>
                  <a:cubicBezTo>
                    <a:pt x="2889" y="682691"/>
                    <a:pt x="0" y="675716"/>
                    <a:pt x="0" y="668444"/>
                  </a:cubicBezTo>
                  <a:lnTo>
                    <a:pt x="0" y="27420"/>
                  </a:lnTo>
                  <a:cubicBezTo>
                    <a:pt x="0" y="20148"/>
                    <a:pt x="2889" y="13173"/>
                    <a:pt x="8031" y="8031"/>
                  </a:cubicBezTo>
                  <a:cubicBezTo>
                    <a:pt x="13173" y="2889"/>
                    <a:pt x="20148" y="0"/>
                    <a:pt x="27420" y="0"/>
                  </a:cubicBezTo>
                  <a:close/>
                </a:path>
              </a:pathLst>
            </a:custGeom>
            <a:blipFill>
              <a:blip r:embed="rId7"/>
              <a:stretch>
                <a:fillRect l="-402" t="-6676" r="-5552" b="-8605"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>
            <a:off x="10026559" y="4598380"/>
            <a:ext cx="6954012" cy="490008"/>
            <a:chOff x="0" y="0"/>
            <a:chExt cx="9272016" cy="65334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272016" cy="653344"/>
            </a:xfrm>
            <a:custGeom>
              <a:avLst/>
              <a:gdLst/>
              <a:ahLst/>
              <a:cxnLst/>
              <a:rect l="l" t="t" r="r" b="b"/>
              <a:pathLst>
                <a:path w="9272016" h="653344">
                  <a:moveTo>
                    <a:pt x="0" y="0"/>
                  </a:moveTo>
                  <a:lnTo>
                    <a:pt x="9272016" y="0"/>
                  </a:lnTo>
                  <a:lnTo>
                    <a:pt x="9272016" y="653344"/>
                  </a:lnTo>
                  <a:lnTo>
                    <a:pt x="0" y="6533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1738" b="-221310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9272016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3F4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"어차피 다 아는 내용인데 굳이 또?"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020206" y="5401534"/>
            <a:ext cx="6954012" cy="1467612"/>
            <a:chOff x="0" y="0"/>
            <a:chExt cx="9272016" cy="195681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272016" cy="1956816"/>
            </a:xfrm>
            <a:custGeom>
              <a:avLst/>
              <a:gdLst/>
              <a:ahLst/>
              <a:cxnLst/>
              <a:rect l="l" t="t" r="r" b="b"/>
              <a:pathLst>
                <a:path w="9272016" h="1956816">
                  <a:moveTo>
                    <a:pt x="0" y="0"/>
                  </a:moveTo>
                  <a:lnTo>
                    <a:pt x="9272016" y="0"/>
                  </a:lnTo>
                  <a:lnTo>
                    <a:pt x="9272016" y="1956816"/>
                  </a:lnTo>
                  <a:lnTo>
                    <a:pt x="0" y="19568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2326" b="-42326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9272016" cy="19663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"이미 다 배웠던 기초적 내용인데 내가 왜 이 교육에 또 가야 하지?" 이런 오만하고 게으른 생각이 마음과 무의식 속에 스며드는 바로 그 처참한 순간, 리더로서 당신의 성장 동력 엔진은 그 즉시 삐걱거리며 멈춰 서게 됩니다.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026559" y="6912123"/>
            <a:ext cx="6953098" cy="9144"/>
            <a:chOff x="0" y="0"/>
            <a:chExt cx="9270797" cy="12192"/>
          </a:xfrm>
        </p:grpSpPr>
        <p:sp>
          <p:nvSpPr>
            <p:cNvPr id="41" name="Freeform 41" descr="gen-dedup-5bb726e4d507407fe6afe1dd31057ef2.png"/>
            <p:cNvSpPr/>
            <p:nvPr/>
          </p:nvSpPr>
          <p:spPr>
            <a:xfrm>
              <a:off x="0" y="0"/>
              <a:ext cx="9270746" cy="12192"/>
            </a:xfrm>
            <a:custGeom>
              <a:avLst/>
              <a:gdLst/>
              <a:ahLst/>
              <a:cxnLst/>
              <a:rect l="l" t="t" r="r" b="b"/>
              <a:pathLst>
                <a:path w="9270746" h="12192">
                  <a:moveTo>
                    <a:pt x="0" y="0"/>
                  </a:moveTo>
                  <a:lnTo>
                    <a:pt x="9270746" y="0"/>
                  </a:lnTo>
                  <a:lnTo>
                    <a:pt x="9270746" y="12192"/>
                  </a:lnTo>
                  <a:lnTo>
                    <a:pt x="0" y="12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1999" r="1997"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10026559" y="7064828"/>
            <a:ext cx="6954012" cy="629107"/>
            <a:chOff x="0" y="0"/>
            <a:chExt cx="9272016" cy="838809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9272016" cy="838809"/>
            </a:xfrm>
            <a:custGeom>
              <a:avLst/>
              <a:gdLst/>
              <a:ahLst/>
              <a:cxnLst/>
              <a:rect l="l" t="t" r="r" b="b"/>
              <a:pathLst>
                <a:path w="9272016" h="838809">
                  <a:moveTo>
                    <a:pt x="0" y="0"/>
                  </a:moveTo>
                  <a:lnTo>
                    <a:pt x="9272016" y="0"/>
                  </a:lnTo>
                  <a:lnTo>
                    <a:pt x="9272016" y="838809"/>
                  </a:lnTo>
                  <a:lnTo>
                    <a:pt x="0" y="83880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5383" b="-165383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9525"/>
              <a:ext cx="9272016" cy="8483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EF4444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❌ 경고: 아는 단계에 머물러 실천의 자태를 보이지 않으면, 아래 파트너로의 건강한 시스템 복제는 완전히 불가능해집니다.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0020206" y="3791733"/>
            <a:ext cx="1905000" cy="514350"/>
            <a:chOff x="0" y="0"/>
            <a:chExt cx="2540000" cy="685800"/>
          </a:xfrm>
        </p:grpSpPr>
        <p:grpSp>
          <p:nvGrpSpPr>
            <p:cNvPr id="46" name="Group 46"/>
            <p:cNvGrpSpPr/>
            <p:nvPr/>
          </p:nvGrpSpPr>
          <p:grpSpPr>
            <a:xfrm>
              <a:off x="0" y="0"/>
              <a:ext cx="2540000" cy="685800"/>
              <a:chOff x="0" y="0"/>
              <a:chExt cx="2540000" cy="6858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2539943" cy="685644"/>
              </a:xfrm>
              <a:custGeom>
                <a:avLst/>
                <a:gdLst/>
                <a:ahLst/>
                <a:cxnLst/>
                <a:rect l="l" t="t" r="r" b="b"/>
                <a:pathLst>
                  <a:path w="2539943" h="685644">
                    <a:moveTo>
                      <a:pt x="0" y="72677"/>
                    </a:moveTo>
                    <a:cubicBezTo>
                      <a:pt x="0" y="32592"/>
                      <a:pt x="35624" y="0"/>
                      <a:pt x="79439" y="0"/>
                    </a:cubicBezTo>
                    <a:lnTo>
                      <a:pt x="2460504" y="0"/>
                    </a:lnTo>
                    <a:cubicBezTo>
                      <a:pt x="2504319" y="0"/>
                      <a:pt x="2539943" y="32592"/>
                      <a:pt x="2539943" y="72677"/>
                    </a:cubicBezTo>
                    <a:lnTo>
                      <a:pt x="2539943" y="612966"/>
                    </a:lnTo>
                    <a:cubicBezTo>
                      <a:pt x="2539943" y="653052"/>
                      <a:pt x="2504319" y="685643"/>
                      <a:pt x="2460504" y="685643"/>
                    </a:cubicBezTo>
                    <a:lnTo>
                      <a:pt x="79439" y="685643"/>
                    </a:lnTo>
                    <a:cubicBezTo>
                      <a:pt x="35624" y="685813"/>
                      <a:pt x="0" y="653226"/>
                      <a:pt x="0" y="613140"/>
                    </a:cubicBezTo>
                    <a:close/>
                  </a:path>
                </a:pathLst>
              </a:custGeom>
              <a:solidFill>
                <a:srgbClr val="EF4444">
                  <a:alpha val="784"/>
                </a:srgbClr>
              </a:solidFill>
              <a:ln w="12700" cap="sq">
                <a:solidFill>
                  <a:srgbClr val="EF4444"/>
                </a:solidFill>
                <a:prstDash val="solid"/>
                <a:miter/>
              </a:ln>
            </p:spPr>
          </p:sp>
        </p:grpSp>
        <p:grpSp>
          <p:nvGrpSpPr>
            <p:cNvPr id="48" name="Group 48"/>
            <p:cNvGrpSpPr/>
            <p:nvPr/>
          </p:nvGrpSpPr>
          <p:grpSpPr>
            <a:xfrm>
              <a:off x="325638" y="101499"/>
              <a:ext cx="1888723" cy="482803"/>
              <a:chOff x="0" y="0"/>
              <a:chExt cx="1888723" cy="48280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1888723" cy="482802"/>
              </a:xfrm>
              <a:custGeom>
                <a:avLst/>
                <a:gdLst/>
                <a:ahLst/>
                <a:cxnLst/>
                <a:rect l="l" t="t" r="r" b="b"/>
                <a:pathLst>
                  <a:path w="1888723" h="482802">
                    <a:moveTo>
                      <a:pt x="0" y="0"/>
                    </a:moveTo>
                    <a:lnTo>
                      <a:pt x="1888723" y="0"/>
                    </a:lnTo>
                    <a:lnTo>
                      <a:pt x="1888723" y="482802"/>
                    </a:lnTo>
                    <a:lnTo>
                      <a:pt x="0" y="482802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17656" r="11241" b="-17656"/>
                </a:stretch>
              </a:blip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0" y="-9525"/>
                <a:ext cx="1888723" cy="49232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 b="1">
                    <a:solidFill>
                      <a:srgbClr val="EF4444"/>
                    </a:solidFill>
                    <a:latin typeface="Paperlogy Bold"/>
                    <a:ea typeface="Paperlogy Bold"/>
                    <a:cs typeface="Paperlogy Bold"/>
                    <a:sym typeface="Paperlogy Bold"/>
                  </a:rPr>
                  <a:t>성장 마비 경보</a:t>
                </a: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857250" y="8667750"/>
            <a:ext cx="16954195" cy="1134499"/>
            <a:chOff x="0" y="0"/>
            <a:chExt cx="22605594" cy="1512665"/>
          </a:xfrm>
        </p:grpSpPr>
        <p:grpSp>
          <p:nvGrpSpPr>
            <p:cNvPr id="52" name="Group 52"/>
            <p:cNvGrpSpPr/>
            <p:nvPr/>
          </p:nvGrpSpPr>
          <p:grpSpPr>
            <a:xfrm>
              <a:off x="533197" y="0"/>
              <a:ext cx="22072397" cy="1512665"/>
              <a:chOff x="0" y="0"/>
              <a:chExt cx="4359980" cy="298798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4359980" cy="298798"/>
              </a:xfrm>
              <a:custGeom>
                <a:avLst/>
                <a:gdLst/>
                <a:ahLst/>
                <a:cxnLst/>
                <a:rect l="l" t="t" r="r" b="b"/>
                <a:pathLst>
                  <a:path w="4359980" h="298798">
                    <a:moveTo>
                      <a:pt x="0" y="0"/>
                    </a:moveTo>
                    <a:lnTo>
                      <a:pt x="4359980" y="0"/>
                    </a:lnTo>
                    <a:lnTo>
                      <a:pt x="4359980" y="298798"/>
                    </a:lnTo>
                    <a:lnTo>
                      <a:pt x="0" y="298798"/>
                    </a:lnTo>
                    <a:close/>
                  </a:path>
                </a:pathLst>
              </a:custGeom>
              <a:solidFill>
                <a:srgbClr val="3B3B3B"/>
              </a:solidFill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0" y="-9525"/>
                <a:ext cx="4359980" cy="3083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55" name="AutoShape 55"/>
            <p:cNvSpPr/>
            <p:nvPr/>
          </p:nvSpPr>
          <p:spPr>
            <a:xfrm>
              <a:off x="635000" y="0"/>
              <a:ext cx="0" cy="1512665"/>
            </a:xfrm>
            <a:prstGeom prst="line">
              <a:avLst/>
            </a:prstGeom>
            <a:ln w="1270000" cap="flat">
              <a:solidFill>
                <a:srgbClr val="EF44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02387" y="194450"/>
              <a:ext cx="2772776" cy="1140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FFFFFF"/>
                  </a:solidFill>
                  <a:latin typeface="Paperlogy Medium"/>
                  <a:ea typeface="Paperlogy Medium"/>
                  <a:cs typeface="Paperlogy Medium"/>
                  <a:sym typeface="Paperlogy Medium"/>
                </a:rPr>
                <a:t>L.REMETTRE Core Ethos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3915162" y="8989995"/>
            <a:ext cx="13243389" cy="490008"/>
            <a:chOff x="0" y="0"/>
            <a:chExt cx="17657852" cy="65334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7657854" cy="653343"/>
            </a:xfrm>
            <a:custGeom>
              <a:avLst/>
              <a:gdLst/>
              <a:ahLst/>
              <a:cxnLst/>
              <a:rect l="l" t="t" r="r" b="b"/>
              <a:pathLst>
                <a:path w="17657854" h="653343">
                  <a:moveTo>
                    <a:pt x="0" y="0"/>
                  </a:moveTo>
                  <a:lnTo>
                    <a:pt x="17657854" y="0"/>
                  </a:lnTo>
                  <a:lnTo>
                    <a:pt x="17657854" y="653343"/>
                  </a:lnTo>
                  <a:lnTo>
                    <a:pt x="0" y="6533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35552" r="12491" b="-386123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9525"/>
              <a:ext cx="17657852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FFFFF"/>
                  </a:solidFill>
                  <a:latin typeface="Paperlogy Medium"/>
                  <a:ea typeface="Paperlogy Medium"/>
                  <a:cs typeface="Paperlogy Medium"/>
                  <a:sym typeface="Paperlogy Medium"/>
                </a:rPr>
                <a:t>"훈련이란 특별한 기교를 배우는 요행이 아닙니다. 단순한 기본기를 끊임없이 무섭게 반복하는 과정입니다."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707" y="761695"/>
            <a:ext cx="16573500" cy="19202"/>
            <a:chOff x="0" y="0"/>
            <a:chExt cx="22098000" cy="25603"/>
          </a:xfrm>
        </p:grpSpPr>
        <p:sp>
          <p:nvSpPr>
            <p:cNvPr id="3" name="Freeform 3" descr="gen-dedup-8e155934e3e6c9b01e275e9a352dafea.png"/>
            <p:cNvSpPr/>
            <p:nvPr/>
          </p:nvSpPr>
          <p:spPr>
            <a:xfrm>
              <a:off x="0" y="0"/>
              <a:ext cx="22098000" cy="25654"/>
            </a:xfrm>
            <a:custGeom>
              <a:avLst/>
              <a:gdLst/>
              <a:ahLst/>
              <a:cxnLst/>
              <a:rect l="l" t="t" r="r" b="b"/>
              <a:pathLst>
                <a:path w="22098000" h="25654">
                  <a:moveTo>
                    <a:pt x="0" y="0"/>
                  </a:moveTo>
                  <a:lnTo>
                    <a:pt x="22098000" y="0"/>
                  </a:lnTo>
                  <a:lnTo>
                    <a:pt x="22098000" y="25654"/>
                  </a:lnTo>
                  <a:lnTo>
                    <a:pt x="0" y="2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396" r="-10342" b="59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707" y="952500"/>
            <a:ext cx="16573500" cy="399627"/>
            <a:chOff x="0" y="0"/>
            <a:chExt cx="22098000" cy="53283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098000" cy="532835"/>
            </a:xfrm>
            <a:custGeom>
              <a:avLst/>
              <a:gdLst/>
              <a:ahLst/>
              <a:cxnLst/>
              <a:rect l="l" t="t" r="r" b="b"/>
              <a:pathLst>
                <a:path w="22098000" h="532835">
                  <a:moveTo>
                    <a:pt x="0" y="0"/>
                  </a:moveTo>
                  <a:lnTo>
                    <a:pt x="22098000" y="0"/>
                  </a:lnTo>
                  <a:lnTo>
                    <a:pt x="22098000" y="532835"/>
                  </a:lnTo>
                  <a:lnTo>
                    <a:pt x="0" y="5328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77089" b="-739097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22098000" cy="5423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346">
                  <a:solidFill>
                    <a:srgbClr val="C5A880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THE ULTIMATE VISION FOR LEADERS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57707" y="1428750"/>
            <a:ext cx="16573500" cy="1389168"/>
            <a:chOff x="0" y="0"/>
            <a:chExt cx="22098000" cy="185222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098000" cy="1852225"/>
            </a:xfrm>
            <a:custGeom>
              <a:avLst/>
              <a:gdLst/>
              <a:ahLst/>
              <a:cxnLst/>
              <a:rect l="l" t="t" r="r" b="b"/>
              <a:pathLst>
                <a:path w="22098000" h="1852225">
                  <a:moveTo>
                    <a:pt x="0" y="0"/>
                  </a:moveTo>
                  <a:lnTo>
                    <a:pt x="22098000" y="0"/>
                  </a:lnTo>
                  <a:lnTo>
                    <a:pt x="22098000" y="1852225"/>
                  </a:lnTo>
                  <a:lnTo>
                    <a:pt x="0" y="18522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0514" b="-154418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22098000" cy="18617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399"/>
                </a:lnSpc>
              </a:pPr>
              <a:r>
                <a:rPr lang="en-US" sz="6999" b="1">
                  <a:solidFill>
                    <a:srgbClr val="F3F4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승리의 훈장: 전세기 프로모션의 전율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57707" y="2857500"/>
            <a:ext cx="16573500" cy="390101"/>
            <a:chOff x="0" y="0"/>
            <a:chExt cx="22098000" cy="52013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98000" cy="520135"/>
            </a:xfrm>
            <a:custGeom>
              <a:avLst/>
              <a:gdLst/>
              <a:ahLst/>
              <a:cxnLst/>
              <a:rect l="l" t="t" r="r" b="b"/>
              <a:pathLst>
                <a:path w="22098000" h="520135">
                  <a:moveTo>
                    <a:pt x="0" y="0"/>
                  </a:moveTo>
                  <a:lnTo>
                    <a:pt x="22098000" y="0"/>
                  </a:lnTo>
                  <a:lnTo>
                    <a:pt x="22098000" y="520135"/>
                  </a:lnTo>
                  <a:lnTo>
                    <a:pt x="0" y="5201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85045" b="-77060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22098000" cy="529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나의 한계를 넘어 땀 흘려 얻어내는 품격이 다른 보상, 비즈니스를 움직이는 진짜 평생의 에너지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68438" y="3536853"/>
            <a:ext cx="7905750" cy="4411963"/>
            <a:chOff x="0" y="0"/>
            <a:chExt cx="10541000" cy="5882617"/>
          </a:xfrm>
        </p:grpSpPr>
        <p:sp>
          <p:nvSpPr>
            <p:cNvPr id="14" name="Freeform 14" descr="gen-dedup-4cc0b267fcf057a68787bb8faeafcb52.png"/>
            <p:cNvSpPr/>
            <p:nvPr/>
          </p:nvSpPr>
          <p:spPr>
            <a:xfrm>
              <a:off x="0" y="0"/>
              <a:ext cx="10540950" cy="5882642"/>
            </a:xfrm>
            <a:custGeom>
              <a:avLst/>
              <a:gdLst/>
              <a:ahLst/>
              <a:cxnLst/>
              <a:rect l="l" t="t" r="r" b="b"/>
              <a:pathLst>
                <a:path w="10540950" h="5882642">
                  <a:moveTo>
                    <a:pt x="192112" y="0"/>
                  </a:moveTo>
                  <a:lnTo>
                    <a:pt x="10348837" y="0"/>
                  </a:lnTo>
                  <a:cubicBezTo>
                    <a:pt x="10454938" y="0"/>
                    <a:pt x="10540950" y="86012"/>
                    <a:pt x="10540950" y="192112"/>
                  </a:cubicBezTo>
                  <a:lnTo>
                    <a:pt x="10540950" y="5690530"/>
                  </a:lnTo>
                  <a:cubicBezTo>
                    <a:pt x="10540950" y="5796631"/>
                    <a:pt x="10454938" y="5882642"/>
                    <a:pt x="10348837" y="5882642"/>
                  </a:cubicBezTo>
                  <a:lnTo>
                    <a:pt x="192112" y="5882642"/>
                  </a:lnTo>
                  <a:cubicBezTo>
                    <a:pt x="86012" y="5882642"/>
                    <a:pt x="0" y="5796631"/>
                    <a:pt x="0" y="5690530"/>
                  </a:cubicBezTo>
                  <a:lnTo>
                    <a:pt x="0" y="192112"/>
                  </a:lnTo>
                  <a:cubicBezTo>
                    <a:pt x="0" y="86012"/>
                    <a:pt x="86012" y="0"/>
                    <a:pt x="192112" y="0"/>
                  </a:cubicBezTo>
                  <a:close/>
                </a:path>
              </a:pathLst>
            </a:custGeom>
            <a:blipFill>
              <a:blip r:embed="rId5"/>
              <a:stretch>
                <a:fillRect t="-12298" b="-12298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 rot="-5400000">
            <a:off x="11264520" y="1793773"/>
            <a:ext cx="4404335" cy="7905750"/>
            <a:chOff x="0" y="0"/>
            <a:chExt cx="5872446" cy="10541000"/>
          </a:xfrm>
        </p:grpSpPr>
        <p:sp>
          <p:nvSpPr>
            <p:cNvPr id="16" name="Freeform 16" descr="gen-dedup-235dea340c86b80c5369b82d182baed0.png"/>
            <p:cNvSpPr/>
            <p:nvPr/>
          </p:nvSpPr>
          <p:spPr>
            <a:xfrm>
              <a:off x="0" y="0"/>
              <a:ext cx="5872432" cy="10540999"/>
            </a:xfrm>
            <a:custGeom>
              <a:avLst/>
              <a:gdLst/>
              <a:ahLst/>
              <a:cxnLst/>
              <a:rect l="l" t="t" r="r" b="b"/>
              <a:pathLst>
                <a:path w="5872432" h="10540999">
                  <a:moveTo>
                    <a:pt x="457044" y="0"/>
                  </a:moveTo>
                  <a:lnTo>
                    <a:pt x="5415388" y="0"/>
                  </a:lnTo>
                  <a:cubicBezTo>
                    <a:pt x="5667806" y="0"/>
                    <a:pt x="5872432" y="204626"/>
                    <a:pt x="5872432" y="457044"/>
                  </a:cubicBezTo>
                  <a:lnTo>
                    <a:pt x="5872432" y="10083955"/>
                  </a:lnTo>
                  <a:cubicBezTo>
                    <a:pt x="5872432" y="10205171"/>
                    <a:pt x="5824279" y="10321422"/>
                    <a:pt x="5738567" y="10407134"/>
                  </a:cubicBezTo>
                  <a:cubicBezTo>
                    <a:pt x="5652855" y="10492846"/>
                    <a:pt x="5536604" y="10540999"/>
                    <a:pt x="5415388" y="10540999"/>
                  </a:cubicBezTo>
                  <a:lnTo>
                    <a:pt x="457044" y="10540999"/>
                  </a:lnTo>
                  <a:cubicBezTo>
                    <a:pt x="335829" y="10540999"/>
                    <a:pt x="219578" y="10492846"/>
                    <a:pt x="133865" y="10407134"/>
                  </a:cubicBezTo>
                  <a:cubicBezTo>
                    <a:pt x="48153" y="10321422"/>
                    <a:pt x="0" y="10205171"/>
                    <a:pt x="0" y="10083955"/>
                  </a:cubicBezTo>
                  <a:lnTo>
                    <a:pt x="0" y="457044"/>
                  </a:lnTo>
                  <a:cubicBezTo>
                    <a:pt x="0" y="335829"/>
                    <a:pt x="48153" y="219578"/>
                    <a:pt x="133865" y="133865"/>
                  </a:cubicBezTo>
                  <a:cubicBezTo>
                    <a:pt x="219578" y="48153"/>
                    <a:pt x="335829" y="0"/>
                    <a:pt x="457044" y="0"/>
                  </a:cubicBezTo>
                  <a:close/>
                </a:path>
              </a:pathLst>
            </a:custGeom>
            <a:blipFill>
              <a:blip r:embed="rId6"/>
              <a:stretch>
                <a:fillRect l="-77207" r="-77210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271599" y="4798487"/>
            <a:ext cx="6954012" cy="490008"/>
            <a:chOff x="0" y="0"/>
            <a:chExt cx="9272016" cy="65334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272016" cy="653344"/>
            </a:xfrm>
            <a:custGeom>
              <a:avLst/>
              <a:gdLst/>
              <a:ahLst/>
              <a:cxnLst/>
              <a:rect l="l" t="t" r="r" b="b"/>
              <a:pathLst>
                <a:path w="9272016" h="653344">
                  <a:moveTo>
                    <a:pt x="0" y="0"/>
                  </a:moveTo>
                  <a:lnTo>
                    <a:pt x="9272016" y="0"/>
                  </a:lnTo>
                  <a:lnTo>
                    <a:pt x="9272016" y="653344"/>
                  </a:lnTo>
                  <a:lnTo>
                    <a:pt x="0" y="6533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1738" b="-22131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9272016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3F4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"그냥 내 돈 내고 조용히 다녀오지 뭐"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71599" y="5640920"/>
            <a:ext cx="6954012" cy="1467612"/>
            <a:chOff x="0" y="0"/>
            <a:chExt cx="9272016" cy="195681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272016" cy="1956816"/>
            </a:xfrm>
            <a:custGeom>
              <a:avLst/>
              <a:gdLst/>
              <a:ahLst/>
              <a:cxnLst/>
              <a:rect l="l" t="t" r="r" b="b"/>
              <a:pathLst>
                <a:path w="9272016" h="1956816">
                  <a:moveTo>
                    <a:pt x="0" y="0"/>
                  </a:moveTo>
                  <a:lnTo>
                    <a:pt x="9272016" y="0"/>
                  </a:lnTo>
                  <a:lnTo>
                    <a:pt x="9272016" y="1956816"/>
                  </a:lnTo>
                  <a:lnTo>
                    <a:pt x="0" y="19568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2326" b="-42326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9272016" cy="19663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삐딱하게 바라보는 사람들도 분명히 있습니다. 하지만 공로를 인정받아 그룹 프로모션 달성으로 떠나는 여행은 본질적 품격과 감격이 완전히 다릅니다. 이는 리더 자신의 한계를 깨부수고 온 힘을 다해 흘려낸 땀방울 끝에 얻어낸 </a:t>
              </a:r>
              <a:r>
                <a:rPr lang="en-US" sz="1800" b="1">
                  <a:solidFill>
                    <a:srgbClr val="9CA3AF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가장 값진 승리의 훈장</a:t>
              </a: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이기 때문입니다.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71599" y="3935112"/>
            <a:ext cx="3048000" cy="514350"/>
            <a:chOff x="0" y="0"/>
            <a:chExt cx="4064000" cy="685800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4064000" cy="685800"/>
              <a:chOff x="0" y="0"/>
              <a:chExt cx="4064000" cy="685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4063943" cy="685644"/>
              </a:xfrm>
              <a:custGeom>
                <a:avLst/>
                <a:gdLst/>
                <a:ahLst/>
                <a:cxnLst/>
                <a:rect l="l" t="t" r="r" b="b"/>
                <a:pathLst>
                  <a:path w="4063943" h="685644">
                    <a:moveTo>
                      <a:pt x="0" y="72677"/>
                    </a:moveTo>
                    <a:cubicBezTo>
                      <a:pt x="0" y="32592"/>
                      <a:pt x="35123" y="0"/>
                      <a:pt x="78323" y="0"/>
                    </a:cubicBezTo>
                    <a:lnTo>
                      <a:pt x="3985621" y="0"/>
                    </a:lnTo>
                    <a:cubicBezTo>
                      <a:pt x="4028821" y="0"/>
                      <a:pt x="4063943" y="32592"/>
                      <a:pt x="4063943" y="72677"/>
                    </a:cubicBezTo>
                    <a:lnTo>
                      <a:pt x="4063943" y="612966"/>
                    </a:lnTo>
                    <a:cubicBezTo>
                      <a:pt x="4063943" y="653052"/>
                      <a:pt x="4028821" y="685643"/>
                      <a:pt x="3985621" y="685643"/>
                    </a:cubicBezTo>
                    <a:lnTo>
                      <a:pt x="78323" y="685643"/>
                    </a:lnTo>
                    <a:cubicBezTo>
                      <a:pt x="35123" y="685813"/>
                      <a:pt x="0" y="653226"/>
                      <a:pt x="0" y="613140"/>
                    </a:cubicBezTo>
                    <a:close/>
                  </a:path>
                </a:pathLst>
              </a:custGeom>
              <a:solidFill>
                <a:srgbClr val="C5A880">
                  <a:alpha val="784"/>
                </a:srgbClr>
              </a:solidFill>
              <a:ln w="12700" cap="sq">
                <a:solidFill>
                  <a:srgbClr val="C5A880"/>
                </a:solidFill>
                <a:prstDash val="solid"/>
                <a:miter/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379860" y="101499"/>
              <a:ext cx="3304281" cy="482803"/>
              <a:chOff x="0" y="0"/>
              <a:chExt cx="3304281" cy="482803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3304281" cy="482802"/>
              </a:xfrm>
              <a:custGeom>
                <a:avLst/>
                <a:gdLst/>
                <a:ahLst/>
                <a:cxnLst/>
                <a:rect l="l" t="t" r="r" b="b"/>
                <a:pathLst>
                  <a:path w="3304281" h="482802">
                    <a:moveTo>
                      <a:pt x="0" y="0"/>
                    </a:moveTo>
                    <a:lnTo>
                      <a:pt x="3304281" y="0"/>
                    </a:lnTo>
                    <a:lnTo>
                      <a:pt x="3304281" y="482802"/>
                    </a:lnTo>
                    <a:lnTo>
                      <a:pt x="0" y="482802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60218" r="17349" b="-60218"/>
                </a:stretch>
              </a:blip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9525"/>
                <a:ext cx="3304281" cy="49232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 b="1">
                    <a:solidFill>
                      <a:srgbClr val="C5A880"/>
                    </a:solidFill>
                    <a:latin typeface="Paperlogy Bold"/>
                    <a:ea typeface="Paperlogy Bold"/>
                    <a:cs typeface="Paperlogy Bold"/>
                    <a:sym typeface="Paperlogy Bold"/>
                  </a:rPr>
                  <a:t>내돈내산 vs 명예로운 보상</a:t>
                </a:r>
              </a:p>
            </p:txBody>
          </p:sp>
        </p:grpSp>
      </p:grpSp>
      <p:grpSp>
        <p:nvGrpSpPr>
          <p:cNvPr id="29" name="Group 29"/>
          <p:cNvGrpSpPr/>
          <p:nvPr/>
        </p:nvGrpSpPr>
        <p:grpSpPr>
          <a:xfrm>
            <a:off x="9940111" y="4798487"/>
            <a:ext cx="6954012" cy="490008"/>
            <a:chOff x="0" y="0"/>
            <a:chExt cx="9272016" cy="65334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272016" cy="653344"/>
            </a:xfrm>
            <a:custGeom>
              <a:avLst/>
              <a:gdLst/>
              <a:ahLst/>
              <a:cxnLst/>
              <a:rect l="l" t="t" r="r" b="b"/>
              <a:pathLst>
                <a:path w="9272016" h="653344">
                  <a:moveTo>
                    <a:pt x="0" y="0"/>
                  </a:moveTo>
                  <a:lnTo>
                    <a:pt x="9272016" y="0"/>
                  </a:lnTo>
                  <a:lnTo>
                    <a:pt x="9272016" y="653344"/>
                  </a:lnTo>
                  <a:lnTo>
                    <a:pt x="0" y="6533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1738" b="-221310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9525"/>
              <a:ext cx="9272016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3F4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전세기를 타고 공항을 들어서던 순간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940111" y="5666655"/>
            <a:ext cx="6954012" cy="1105510"/>
            <a:chOff x="0" y="0"/>
            <a:chExt cx="9272016" cy="147401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272016" cy="1474014"/>
            </a:xfrm>
            <a:custGeom>
              <a:avLst/>
              <a:gdLst/>
              <a:ahLst/>
              <a:cxnLst/>
              <a:rect l="l" t="t" r="r" b="b"/>
              <a:pathLst>
                <a:path w="9272016" h="1474014">
                  <a:moveTo>
                    <a:pt x="0" y="0"/>
                  </a:moveTo>
                  <a:lnTo>
                    <a:pt x="9272016" y="0"/>
                  </a:lnTo>
                  <a:lnTo>
                    <a:pt x="9272016" y="1474014"/>
                  </a:lnTo>
                  <a:lnTo>
                    <a:pt x="0" y="14740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2567" b="-72567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9272016" cy="14835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한 탑 리더는 과거 파트너들과 함께 전세기를 띄워 당당히 공항에 들어서 출국했던 그 압도적인 전율과 감격이 자신을 평생 지치지 않고 움직이게 한 원초적 에너지가 되었다고 증언합니다.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974451" y="7059005"/>
            <a:ext cx="6953098" cy="9144"/>
            <a:chOff x="0" y="0"/>
            <a:chExt cx="9270797" cy="12192"/>
          </a:xfrm>
        </p:grpSpPr>
        <p:sp>
          <p:nvSpPr>
            <p:cNvPr id="36" name="Freeform 36" descr="gen-dedup-5bb726e4d507407fe6afe1dd31057ef2.png"/>
            <p:cNvSpPr/>
            <p:nvPr/>
          </p:nvSpPr>
          <p:spPr>
            <a:xfrm>
              <a:off x="0" y="0"/>
              <a:ext cx="9270746" cy="12192"/>
            </a:xfrm>
            <a:custGeom>
              <a:avLst/>
              <a:gdLst/>
              <a:ahLst/>
              <a:cxnLst/>
              <a:rect l="l" t="t" r="r" b="b"/>
              <a:pathLst>
                <a:path w="9270746" h="12192">
                  <a:moveTo>
                    <a:pt x="0" y="0"/>
                  </a:moveTo>
                  <a:lnTo>
                    <a:pt x="9270746" y="0"/>
                  </a:lnTo>
                  <a:lnTo>
                    <a:pt x="9270746" y="12192"/>
                  </a:lnTo>
                  <a:lnTo>
                    <a:pt x="0" y="12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1999" r="1997"/>
              </a:stretch>
            </a:blipFill>
          </p:spPr>
        </p:sp>
      </p:grpSp>
      <p:grpSp>
        <p:nvGrpSpPr>
          <p:cNvPr id="37" name="Group 37"/>
          <p:cNvGrpSpPr/>
          <p:nvPr/>
        </p:nvGrpSpPr>
        <p:grpSpPr>
          <a:xfrm>
            <a:off x="9704050" y="6943615"/>
            <a:ext cx="7525274" cy="629107"/>
            <a:chOff x="0" y="0"/>
            <a:chExt cx="10033699" cy="83880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033699" cy="838809"/>
            </a:xfrm>
            <a:custGeom>
              <a:avLst/>
              <a:gdLst/>
              <a:ahLst/>
              <a:cxnLst/>
              <a:rect l="l" t="t" r="r" b="b"/>
              <a:pathLst>
                <a:path w="10033699" h="838809">
                  <a:moveTo>
                    <a:pt x="0" y="0"/>
                  </a:moveTo>
                  <a:lnTo>
                    <a:pt x="10033699" y="0"/>
                  </a:lnTo>
                  <a:lnTo>
                    <a:pt x="10033699" y="838809"/>
                  </a:lnTo>
                  <a:lnTo>
                    <a:pt x="0" y="83880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5383" r="7591" b="-165383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10033699" cy="8483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22C55E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🌱 실천: 비즈니스를 주도해 멋진 삶을 성취하고 당당히 SNS에 자랑하십시오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22C55E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       영감이 필요한 누군가가 당신의 리더십 자태를 보고 먼저 문을 두드릴 것입니다.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940111" y="3935112"/>
            <a:ext cx="2857500" cy="514350"/>
            <a:chOff x="0" y="0"/>
            <a:chExt cx="3810000" cy="685800"/>
          </a:xfrm>
        </p:grpSpPr>
        <p:grpSp>
          <p:nvGrpSpPr>
            <p:cNvPr id="41" name="Group 41"/>
            <p:cNvGrpSpPr/>
            <p:nvPr/>
          </p:nvGrpSpPr>
          <p:grpSpPr>
            <a:xfrm>
              <a:off x="0" y="0"/>
              <a:ext cx="3810000" cy="685800"/>
              <a:chOff x="0" y="0"/>
              <a:chExt cx="3810000" cy="6858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3810013" cy="685644"/>
              </a:xfrm>
              <a:custGeom>
                <a:avLst/>
                <a:gdLst/>
                <a:ahLst/>
                <a:cxnLst/>
                <a:rect l="l" t="t" r="r" b="b"/>
                <a:pathLst>
                  <a:path w="3810013" h="685644">
                    <a:moveTo>
                      <a:pt x="0" y="72677"/>
                    </a:moveTo>
                    <a:cubicBezTo>
                      <a:pt x="0" y="32592"/>
                      <a:pt x="38656" y="0"/>
                      <a:pt x="86201" y="0"/>
                    </a:cubicBezTo>
                    <a:lnTo>
                      <a:pt x="3723819" y="0"/>
                    </a:lnTo>
                    <a:cubicBezTo>
                      <a:pt x="3771364" y="0"/>
                      <a:pt x="3810013" y="32592"/>
                      <a:pt x="3810013" y="72677"/>
                    </a:cubicBezTo>
                    <a:lnTo>
                      <a:pt x="3810013" y="612966"/>
                    </a:lnTo>
                    <a:cubicBezTo>
                      <a:pt x="3810013" y="653052"/>
                      <a:pt x="3771364" y="685643"/>
                      <a:pt x="3723819" y="685643"/>
                    </a:cubicBezTo>
                    <a:lnTo>
                      <a:pt x="86201" y="685643"/>
                    </a:lnTo>
                    <a:cubicBezTo>
                      <a:pt x="38656" y="685813"/>
                      <a:pt x="0" y="653226"/>
                      <a:pt x="0" y="613140"/>
                    </a:cubicBezTo>
                    <a:close/>
                  </a:path>
                </a:pathLst>
              </a:custGeom>
              <a:solidFill>
                <a:srgbClr val="22C55E">
                  <a:alpha val="784"/>
                </a:srgbClr>
              </a:solidFill>
              <a:ln w="12700" cap="sq">
                <a:solidFill>
                  <a:srgbClr val="22C55E"/>
                </a:solidFill>
                <a:prstDash val="solid"/>
                <a:miter/>
              </a:ln>
            </p:spPr>
          </p:sp>
        </p:grpSp>
        <p:grpSp>
          <p:nvGrpSpPr>
            <p:cNvPr id="43" name="Group 43"/>
            <p:cNvGrpSpPr/>
            <p:nvPr/>
          </p:nvGrpSpPr>
          <p:grpSpPr>
            <a:xfrm>
              <a:off x="382664" y="101499"/>
              <a:ext cx="3046914" cy="482803"/>
              <a:chOff x="0" y="0"/>
              <a:chExt cx="3046914" cy="48280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3046914" cy="482802"/>
              </a:xfrm>
              <a:custGeom>
                <a:avLst/>
                <a:gdLst/>
                <a:ahLst/>
                <a:cxnLst/>
                <a:rect l="l" t="t" r="r" b="b"/>
                <a:pathLst>
                  <a:path w="3046914" h="482802">
                    <a:moveTo>
                      <a:pt x="0" y="0"/>
                    </a:moveTo>
                    <a:lnTo>
                      <a:pt x="3046914" y="0"/>
                    </a:lnTo>
                    <a:lnTo>
                      <a:pt x="3046914" y="482802"/>
                    </a:lnTo>
                    <a:lnTo>
                      <a:pt x="0" y="482802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43833" r="23692" b="-43833"/>
                </a:stretch>
              </a:blipFill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0" y="-9525"/>
                <a:ext cx="3046914" cy="49232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 b="1">
                    <a:solidFill>
                      <a:srgbClr val="22C55E"/>
                    </a:solidFill>
                    <a:latin typeface="Paperlogy Bold"/>
                    <a:ea typeface="Paperlogy Bold"/>
                    <a:cs typeface="Paperlogy Bold"/>
                    <a:sym typeface="Paperlogy Bold"/>
                  </a:rPr>
                  <a:t>THE EPIC MOMENT</a:t>
                </a: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857250" y="8667750"/>
            <a:ext cx="16954195" cy="1134499"/>
            <a:chOff x="0" y="0"/>
            <a:chExt cx="22605594" cy="1512665"/>
          </a:xfrm>
        </p:grpSpPr>
        <p:grpSp>
          <p:nvGrpSpPr>
            <p:cNvPr id="47" name="Group 47"/>
            <p:cNvGrpSpPr/>
            <p:nvPr/>
          </p:nvGrpSpPr>
          <p:grpSpPr>
            <a:xfrm>
              <a:off x="533197" y="0"/>
              <a:ext cx="22072397" cy="1512665"/>
              <a:chOff x="0" y="0"/>
              <a:chExt cx="4359980" cy="298798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4359980" cy="298798"/>
              </a:xfrm>
              <a:custGeom>
                <a:avLst/>
                <a:gdLst/>
                <a:ahLst/>
                <a:cxnLst/>
                <a:rect l="l" t="t" r="r" b="b"/>
                <a:pathLst>
                  <a:path w="4359980" h="298798">
                    <a:moveTo>
                      <a:pt x="0" y="0"/>
                    </a:moveTo>
                    <a:lnTo>
                      <a:pt x="4359980" y="0"/>
                    </a:lnTo>
                    <a:lnTo>
                      <a:pt x="4359980" y="298798"/>
                    </a:lnTo>
                    <a:lnTo>
                      <a:pt x="0" y="298798"/>
                    </a:lnTo>
                    <a:close/>
                  </a:path>
                </a:pathLst>
              </a:custGeom>
              <a:solidFill>
                <a:srgbClr val="3B3B3B"/>
              </a:solidFill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0" y="-9525"/>
                <a:ext cx="4359980" cy="3083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50" name="AutoShape 50"/>
            <p:cNvSpPr/>
            <p:nvPr/>
          </p:nvSpPr>
          <p:spPr>
            <a:xfrm>
              <a:off x="635000" y="0"/>
              <a:ext cx="0" cy="1512665"/>
            </a:xfrm>
            <a:prstGeom prst="line">
              <a:avLst/>
            </a:prstGeom>
            <a:ln w="1270000" cap="flat">
              <a:solidFill>
                <a:srgbClr val="EF44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02387" y="194450"/>
              <a:ext cx="2772776" cy="1140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FFFFFF"/>
                  </a:solidFill>
                  <a:latin typeface="Paperlogy Medium"/>
                  <a:ea typeface="Paperlogy Medium"/>
                  <a:cs typeface="Paperlogy Medium"/>
                  <a:sym typeface="Paperlogy Medium"/>
                </a:rPr>
                <a:t>L.REMETTRE Core Ethos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552960" y="8989995"/>
            <a:ext cx="13878247" cy="490008"/>
            <a:chOff x="0" y="0"/>
            <a:chExt cx="18504329" cy="65334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8504329" cy="653343"/>
            </a:xfrm>
            <a:custGeom>
              <a:avLst/>
              <a:gdLst/>
              <a:ahLst/>
              <a:cxnLst/>
              <a:rect l="l" t="t" r="r" b="b"/>
              <a:pathLst>
                <a:path w="18504329" h="653343">
                  <a:moveTo>
                    <a:pt x="0" y="0"/>
                  </a:moveTo>
                  <a:lnTo>
                    <a:pt x="18504329" y="0"/>
                  </a:lnTo>
                  <a:lnTo>
                    <a:pt x="18504329" y="653343"/>
                  </a:lnTo>
                  <a:lnTo>
                    <a:pt x="0" y="6533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40461" r="15604" b="-391032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9525"/>
              <a:ext cx="18504329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499" b="1">
                  <a:solidFill>
                    <a:srgbClr val="FFFFFF"/>
                  </a:solidFill>
                  <a:latin typeface="Paperlogy Medium"/>
                  <a:ea typeface="Paperlogy Medium"/>
                  <a:cs typeface="Paperlogy Medium"/>
                  <a:sym typeface="Paperlogy Medium"/>
                </a:rPr>
                <a:t>"당신을 깎아내리는 사람들을 과감히 정리하고, 영광스러운 승리의 에너지를 조직 전체에 온전히 전파하십시오."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707" y="761695"/>
            <a:ext cx="16573500" cy="19202"/>
            <a:chOff x="0" y="0"/>
            <a:chExt cx="22098000" cy="25603"/>
          </a:xfrm>
        </p:grpSpPr>
        <p:sp>
          <p:nvSpPr>
            <p:cNvPr id="3" name="Freeform 3" descr="gen-dedup-8e155934e3e6c9b01e275e9a352dafea.png"/>
            <p:cNvSpPr/>
            <p:nvPr/>
          </p:nvSpPr>
          <p:spPr>
            <a:xfrm>
              <a:off x="0" y="0"/>
              <a:ext cx="22098000" cy="25654"/>
            </a:xfrm>
            <a:custGeom>
              <a:avLst/>
              <a:gdLst/>
              <a:ahLst/>
              <a:cxnLst/>
              <a:rect l="l" t="t" r="r" b="b"/>
              <a:pathLst>
                <a:path w="22098000" h="25654">
                  <a:moveTo>
                    <a:pt x="0" y="0"/>
                  </a:moveTo>
                  <a:lnTo>
                    <a:pt x="22098000" y="0"/>
                  </a:lnTo>
                  <a:lnTo>
                    <a:pt x="22098000" y="25654"/>
                  </a:lnTo>
                  <a:lnTo>
                    <a:pt x="0" y="2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396" r="-10342" b="59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707" y="952500"/>
            <a:ext cx="16573500" cy="399627"/>
            <a:chOff x="0" y="0"/>
            <a:chExt cx="22098000" cy="53283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098000" cy="532835"/>
            </a:xfrm>
            <a:custGeom>
              <a:avLst/>
              <a:gdLst/>
              <a:ahLst/>
              <a:cxnLst/>
              <a:rect l="l" t="t" r="r" b="b"/>
              <a:pathLst>
                <a:path w="22098000" h="532835">
                  <a:moveTo>
                    <a:pt x="0" y="0"/>
                  </a:moveTo>
                  <a:lnTo>
                    <a:pt x="22098000" y="0"/>
                  </a:lnTo>
                  <a:lnTo>
                    <a:pt x="22098000" y="532835"/>
                  </a:lnTo>
                  <a:lnTo>
                    <a:pt x="0" y="5328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77089" b="-739097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22098000" cy="5423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346">
                  <a:solidFill>
                    <a:srgbClr val="C5A880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KEY 1: SUSTAINABLE RELATIONSHIP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57707" y="1428750"/>
            <a:ext cx="16573500" cy="1389168"/>
            <a:chOff x="0" y="0"/>
            <a:chExt cx="22098000" cy="185222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098000" cy="1852225"/>
            </a:xfrm>
            <a:custGeom>
              <a:avLst/>
              <a:gdLst/>
              <a:ahLst/>
              <a:cxnLst/>
              <a:rect l="l" t="t" r="r" b="b"/>
              <a:pathLst>
                <a:path w="22098000" h="1852225">
                  <a:moveTo>
                    <a:pt x="0" y="0"/>
                  </a:moveTo>
                  <a:lnTo>
                    <a:pt x="22098000" y="0"/>
                  </a:lnTo>
                  <a:lnTo>
                    <a:pt x="22098000" y="1852225"/>
                  </a:lnTo>
                  <a:lnTo>
                    <a:pt x="0" y="18522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0514" b="-154418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22098000" cy="18617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399"/>
                </a:lnSpc>
              </a:pPr>
              <a:r>
                <a:rPr lang="en-US" sz="6999" b="1">
                  <a:solidFill>
                    <a:srgbClr val="F3F4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첫 번째 열쇠: 신뢰 관계와 마케팅의 정직성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57707" y="2857500"/>
            <a:ext cx="16573500" cy="352044"/>
            <a:chOff x="0" y="0"/>
            <a:chExt cx="22098000" cy="46939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98000" cy="469392"/>
            </a:xfrm>
            <a:custGeom>
              <a:avLst/>
              <a:gdLst/>
              <a:ahLst/>
              <a:cxnLst/>
              <a:rect l="l" t="t" r="r" b="b"/>
              <a:pathLst>
                <a:path w="22098000" h="469392">
                  <a:moveTo>
                    <a:pt x="0" y="0"/>
                  </a:moveTo>
                  <a:lnTo>
                    <a:pt x="22098000" y="0"/>
                  </a:lnTo>
                  <a:lnTo>
                    <a:pt x="22098000" y="469392"/>
                  </a:lnTo>
                  <a:lnTo>
                    <a:pt x="0" y="4693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69912" b="-864717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22098000" cy="4789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사소한 반응에도 단숨에 무너질 불안 대신, 정직한 원칙을 전파하여 건강하고 단단한 뿌리를 내리는 법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2805" y="3380994"/>
            <a:ext cx="7905750" cy="4924344"/>
            <a:chOff x="0" y="0"/>
            <a:chExt cx="1224808" cy="76291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24808" cy="762910"/>
            </a:xfrm>
            <a:custGeom>
              <a:avLst/>
              <a:gdLst/>
              <a:ahLst/>
              <a:cxnLst/>
              <a:rect l="l" t="t" r="r" b="b"/>
              <a:pathLst>
                <a:path w="1224808" h="762910">
                  <a:moveTo>
                    <a:pt x="27420" y="0"/>
                  </a:moveTo>
                  <a:lnTo>
                    <a:pt x="1197388" y="0"/>
                  </a:lnTo>
                  <a:cubicBezTo>
                    <a:pt x="1204660" y="0"/>
                    <a:pt x="1211634" y="2889"/>
                    <a:pt x="1216776" y="8031"/>
                  </a:cubicBezTo>
                  <a:cubicBezTo>
                    <a:pt x="1221919" y="13173"/>
                    <a:pt x="1224808" y="20148"/>
                    <a:pt x="1224808" y="27420"/>
                  </a:cubicBezTo>
                  <a:lnTo>
                    <a:pt x="1224808" y="735490"/>
                  </a:lnTo>
                  <a:cubicBezTo>
                    <a:pt x="1224808" y="742762"/>
                    <a:pt x="1221919" y="749737"/>
                    <a:pt x="1216776" y="754879"/>
                  </a:cubicBezTo>
                  <a:cubicBezTo>
                    <a:pt x="1211634" y="760021"/>
                    <a:pt x="1204660" y="762910"/>
                    <a:pt x="1197388" y="762910"/>
                  </a:cubicBezTo>
                  <a:lnTo>
                    <a:pt x="27420" y="762910"/>
                  </a:lnTo>
                  <a:cubicBezTo>
                    <a:pt x="20148" y="762910"/>
                    <a:pt x="13173" y="760021"/>
                    <a:pt x="8031" y="754879"/>
                  </a:cubicBezTo>
                  <a:cubicBezTo>
                    <a:pt x="2889" y="749737"/>
                    <a:pt x="0" y="742762"/>
                    <a:pt x="0" y="735490"/>
                  </a:cubicBezTo>
                  <a:lnTo>
                    <a:pt x="0" y="27420"/>
                  </a:lnTo>
                  <a:cubicBezTo>
                    <a:pt x="0" y="20148"/>
                    <a:pt x="2889" y="13173"/>
                    <a:pt x="8031" y="8031"/>
                  </a:cubicBezTo>
                  <a:cubicBezTo>
                    <a:pt x="13173" y="2889"/>
                    <a:pt x="20148" y="0"/>
                    <a:pt x="27420" y="0"/>
                  </a:cubicBezTo>
                  <a:close/>
                </a:path>
              </a:pathLst>
            </a:custGeom>
            <a:blipFill>
              <a:blip r:embed="rId5"/>
              <a:stretch>
                <a:fillRect t="-3629" r="-7236" b="-2791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462126" y="4830860"/>
            <a:ext cx="6954012" cy="490008"/>
            <a:chOff x="0" y="0"/>
            <a:chExt cx="9272016" cy="6533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272016" cy="653344"/>
            </a:xfrm>
            <a:custGeom>
              <a:avLst/>
              <a:gdLst/>
              <a:ahLst/>
              <a:cxnLst/>
              <a:rect l="l" t="t" r="r" b="b"/>
              <a:pathLst>
                <a:path w="9272016" h="653344">
                  <a:moveTo>
                    <a:pt x="0" y="0"/>
                  </a:moveTo>
                  <a:lnTo>
                    <a:pt x="9272016" y="0"/>
                  </a:lnTo>
                  <a:lnTo>
                    <a:pt x="9272016" y="653344"/>
                  </a:lnTo>
                  <a:lnTo>
                    <a:pt x="0" y="6533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1738" b="-22131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9272016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3F4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"환자 마케팅" 집착을 금지해야 하는 이유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28293" y="5403804"/>
            <a:ext cx="6954012" cy="1467612"/>
            <a:chOff x="0" y="0"/>
            <a:chExt cx="9272016" cy="195681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272016" cy="1956816"/>
            </a:xfrm>
            <a:custGeom>
              <a:avLst/>
              <a:gdLst/>
              <a:ahLst/>
              <a:cxnLst/>
              <a:rect l="l" t="t" r="r" b="b"/>
              <a:pathLst>
                <a:path w="9272016" h="1956816">
                  <a:moveTo>
                    <a:pt x="0" y="0"/>
                  </a:moveTo>
                  <a:lnTo>
                    <a:pt x="9272016" y="0"/>
                  </a:lnTo>
                  <a:lnTo>
                    <a:pt x="9272016" y="1956816"/>
                  </a:lnTo>
                  <a:lnTo>
                    <a:pt x="0" y="19568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2326" b="-42326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9272016" cy="19663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비즈니스를 전개할 때, 몸이 극도로 아프거나 예민한 환자 계층을 핵심 타겟 삼아 접근하는 행동은 위험합니다. 사소한 호전 반응이나 일시적 변화에도 "오히려 더 안 좋아진 것 같다"며 쉽게 신뢰가 불신으로 왜곡될 여지가 농후하기 때문입니다.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428293" y="6871416"/>
            <a:ext cx="6953098" cy="9144"/>
            <a:chOff x="0" y="0"/>
            <a:chExt cx="9270797" cy="12192"/>
          </a:xfrm>
        </p:grpSpPr>
        <p:sp>
          <p:nvSpPr>
            <p:cNvPr id="22" name="Freeform 22" descr="gen-dedup-5bb726e4d507407fe6afe1dd31057ef2.png"/>
            <p:cNvSpPr/>
            <p:nvPr/>
          </p:nvSpPr>
          <p:spPr>
            <a:xfrm>
              <a:off x="0" y="0"/>
              <a:ext cx="9270746" cy="12192"/>
            </a:xfrm>
            <a:custGeom>
              <a:avLst/>
              <a:gdLst/>
              <a:ahLst/>
              <a:cxnLst/>
              <a:rect l="l" t="t" r="r" b="b"/>
              <a:pathLst>
                <a:path w="9270746" h="12192">
                  <a:moveTo>
                    <a:pt x="0" y="0"/>
                  </a:moveTo>
                  <a:lnTo>
                    <a:pt x="9270746" y="0"/>
                  </a:lnTo>
                  <a:lnTo>
                    <a:pt x="9270746" y="12192"/>
                  </a:lnTo>
                  <a:lnTo>
                    <a:pt x="0" y="12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1999" r="1997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1428293" y="7070755"/>
            <a:ext cx="6954012" cy="618744"/>
            <a:chOff x="0" y="0"/>
            <a:chExt cx="9272016" cy="82499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272016" cy="824992"/>
            </a:xfrm>
            <a:custGeom>
              <a:avLst/>
              <a:gdLst/>
              <a:ahLst/>
              <a:cxnLst/>
              <a:rect l="l" t="t" r="r" b="b"/>
              <a:pathLst>
                <a:path w="9272016" h="824992">
                  <a:moveTo>
                    <a:pt x="0" y="0"/>
                  </a:moveTo>
                  <a:lnTo>
                    <a:pt x="9272016" y="0"/>
                  </a:lnTo>
                  <a:lnTo>
                    <a:pt x="9272016" y="824992"/>
                  </a:lnTo>
                  <a:lnTo>
                    <a:pt x="0" y="824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9704" b="-168276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9272016" cy="8345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EF4444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⚠️ 대안: 우리는 건강하고 긍정적인 생각의 일반인들을 중심으로 가치를 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EF4444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       확장해야 안전하고 단단한 확장이 가능합니다.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21940" y="3935325"/>
            <a:ext cx="2857500" cy="514350"/>
            <a:chOff x="0" y="0"/>
            <a:chExt cx="3810000" cy="685800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3810000" cy="685800"/>
              <a:chOff x="0" y="0"/>
              <a:chExt cx="3810000" cy="685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3809979" cy="685644"/>
              </a:xfrm>
              <a:custGeom>
                <a:avLst/>
                <a:gdLst/>
                <a:ahLst/>
                <a:cxnLst/>
                <a:rect l="l" t="t" r="r" b="b"/>
                <a:pathLst>
                  <a:path w="3809979" h="685644">
                    <a:moveTo>
                      <a:pt x="0" y="72677"/>
                    </a:moveTo>
                    <a:cubicBezTo>
                      <a:pt x="0" y="32592"/>
                      <a:pt x="40184" y="0"/>
                      <a:pt x="89609" y="0"/>
                    </a:cubicBezTo>
                    <a:lnTo>
                      <a:pt x="3720370" y="0"/>
                    </a:lnTo>
                    <a:cubicBezTo>
                      <a:pt x="3769794" y="0"/>
                      <a:pt x="3809979" y="32592"/>
                      <a:pt x="3809979" y="72677"/>
                    </a:cubicBezTo>
                    <a:lnTo>
                      <a:pt x="3809979" y="612966"/>
                    </a:lnTo>
                    <a:cubicBezTo>
                      <a:pt x="3809979" y="653052"/>
                      <a:pt x="3769794" y="685643"/>
                      <a:pt x="3720370" y="685643"/>
                    </a:cubicBezTo>
                    <a:lnTo>
                      <a:pt x="89609" y="685643"/>
                    </a:lnTo>
                    <a:cubicBezTo>
                      <a:pt x="40184" y="685813"/>
                      <a:pt x="0" y="653226"/>
                      <a:pt x="0" y="613140"/>
                    </a:cubicBezTo>
                    <a:close/>
                  </a:path>
                </a:pathLst>
              </a:custGeom>
              <a:solidFill>
                <a:srgbClr val="EF4444">
                  <a:alpha val="784"/>
                </a:srgbClr>
              </a:solidFill>
              <a:ln w="12700" cap="sq">
                <a:solidFill>
                  <a:srgbClr val="EF4444"/>
                </a:solidFill>
                <a:prstDash val="solid"/>
                <a:miter/>
              </a:ln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553141" y="101499"/>
              <a:ext cx="2703718" cy="482803"/>
              <a:chOff x="0" y="0"/>
              <a:chExt cx="2703718" cy="48280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2703719" cy="482802"/>
              </a:xfrm>
              <a:custGeom>
                <a:avLst/>
                <a:gdLst/>
                <a:ahLst/>
                <a:cxnLst/>
                <a:rect l="l" t="t" r="r" b="b"/>
                <a:pathLst>
                  <a:path w="2703719" h="482802">
                    <a:moveTo>
                      <a:pt x="0" y="0"/>
                    </a:moveTo>
                    <a:lnTo>
                      <a:pt x="2703719" y="0"/>
                    </a:lnTo>
                    <a:lnTo>
                      <a:pt x="2703719" y="482802"/>
                    </a:lnTo>
                    <a:lnTo>
                      <a:pt x="0" y="482802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40241" r="17298" b="-40241"/>
                </a:stretch>
              </a:blip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9525"/>
                <a:ext cx="2703718" cy="49232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 b="1">
                    <a:solidFill>
                      <a:srgbClr val="EF4444"/>
                    </a:solidFill>
                    <a:latin typeface="Paperlogy Bold"/>
                    <a:ea typeface="Paperlogy Bold"/>
                    <a:cs typeface="Paperlogy Bold"/>
                    <a:sym typeface="Paperlogy Bold"/>
                  </a:rPr>
                  <a:t>불필요한 리스크 예방</a:t>
                </a:r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 rot="-5400000">
            <a:off x="10920148" y="1890291"/>
            <a:ext cx="4924344" cy="7905750"/>
            <a:chOff x="0" y="0"/>
            <a:chExt cx="6565792" cy="10541000"/>
          </a:xfrm>
        </p:grpSpPr>
        <p:sp>
          <p:nvSpPr>
            <p:cNvPr id="33" name="Freeform 33" descr="gen-dedup-235dea340c86b80c5369b82d182baed0.png"/>
            <p:cNvSpPr/>
            <p:nvPr/>
          </p:nvSpPr>
          <p:spPr>
            <a:xfrm>
              <a:off x="0" y="0"/>
              <a:ext cx="6565777" cy="10540999"/>
            </a:xfrm>
            <a:custGeom>
              <a:avLst/>
              <a:gdLst/>
              <a:ahLst/>
              <a:cxnLst/>
              <a:rect l="l" t="t" r="r" b="b"/>
              <a:pathLst>
                <a:path w="6565777" h="10540999">
                  <a:moveTo>
                    <a:pt x="408781" y="0"/>
                  </a:moveTo>
                  <a:lnTo>
                    <a:pt x="6156996" y="0"/>
                  </a:lnTo>
                  <a:cubicBezTo>
                    <a:pt x="6265411" y="0"/>
                    <a:pt x="6369386" y="43068"/>
                    <a:pt x="6446048" y="119729"/>
                  </a:cubicBezTo>
                  <a:cubicBezTo>
                    <a:pt x="6522709" y="196390"/>
                    <a:pt x="6565777" y="300365"/>
                    <a:pt x="6565777" y="408781"/>
                  </a:cubicBezTo>
                  <a:lnTo>
                    <a:pt x="6565777" y="10132219"/>
                  </a:lnTo>
                  <a:cubicBezTo>
                    <a:pt x="6565777" y="10357982"/>
                    <a:pt x="6382759" y="10540999"/>
                    <a:pt x="6156996" y="10540999"/>
                  </a:cubicBezTo>
                  <a:lnTo>
                    <a:pt x="408781" y="10540999"/>
                  </a:lnTo>
                  <a:cubicBezTo>
                    <a:pt x="300365" y="10540999"/>
                    <a:pt x="196390" y="10497931"/>
                    <a:pt x="119729" y="10421270"/>
                  </a:cubicBezTo>
                  <a:cubicBezTo>
                    <a:pt x="43068" y="10344609"/>
                    <a:pt x="0" y="10240634"/>
                    <a:pt x="0" y="10132219"/>
                  </a:cubicBezTo>
                  <a:lnTo>
                    <a:pt x="0" y="408781"/>
                  </a:lnTo>
                  <a:cubicBezTo>
                    <a:pt x="0" y="300365"/>
                    <a:pt x="43068" y="196390"/>
                    <a:pt x="119729" y="119729"/>
                  </a:cubicBezTo>
                  <a:cubicBezTo>
                    <a:pt x="196390" y="43068"/>
                    <a:pt x="300365" y="0"/>
                    <a:pt x="408781" y="0"/>
                  </a:cubicBezTo>
                  <a:close/>
                </a:path>
              </a:pathLst>
            </a:custGeom>
            <a:blipFill>
              <a:blip r:embed="rId7"/>
              <a:stretch>
                <a:fillRect l="-63774" r="-63777"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>
            <a:off x="10233770" y="4830860"/>
            <a:ext cx="6954012" cy="490008"/>
            <a:chOff x="0" y="0"/>
            <a:chExt cx="9272016" cy="65334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272016" cy="653344"/>
            </a:xfrm>
            <a:custGeom>
              <a:avLst/>
              <a:gdLst/>
              <a:ahLst/>
              <a:cxnLst/>
              <a:rect l="l" t="t" r="r" b="b"/>
              <a:pathLst>
                <a:path w="9272016" h="653344">
                  <a:moveTo>
                    <a:pt x="0" y="0"/>
                  </a:moveTo>
                  <a:lnTo>
                    <a:pt x="9272016" y="0"/>
                  </a:lnTo>
                  <a:lnTo>
                    <a:pt x="9272016" y="653344"/>
                  </a:lnTo>
                  <a:lnTo>
                    <a:pt x="0" y="6533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1738" b="-221310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9272016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3F4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권유와 경험을 의심 없이 따르는 동반자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233770" y="5397068"/>
            <a:ext cx="6954012" cy="1467612"/>
            <a:chOff x="0" y="0"/>
            <a:chExt cx="9272016" cy="195681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272016" cy="1956816"/>
            </a:xfrm>
            <a:custGeom>
              <a:avLst/>
              <a:gdLst/>
              <a:ahLst/>
              <a:cxnLst/>
              <a:rect l="l" t="t" r="r" b="b"/>
              <a:pathLst>
                <a:path w="9272016" h="1956816">
                  <a:moveTo>
                    <a:pt x="0" y="0"/>
                  </a:moveTo>
                  <a:lnTo>
                    <a:pt x="9272016" y="0"/>
                  </a:lnTo>
                  <a:lnTo>
                    <a:pt x="9272016" y="1956816"/>
                  </a:lnTo>
                  <a:lnTo>
                    <a:pt x="0" y="19568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2326" b="-42326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9272016" cy="19663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한 유능한 그룹 리더는 자신의 스폰서가 건넨 정직한 권유를 있는 그대로 전격 수용하고, 아무런 의심 없이 완전히 집중하여 복제해 냈습니다. 결국 스폰서와 파트너 간에 가로놓인 단단한 </a:t>
              </a:r>
              <a:r>
                <a:rPr lang="en-US" sz="1800" b="1">
                  <a:solidFill>
                    <a:srgbClr val="9CA3AF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상호 신뢰와 온전한 유대 관계</a:t>
              </a: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만이 흔들리지 않는 그룹을 창조하는 가장 강력한 영양분입니다.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096805" y="6871416"/>
            <a:ext cx="6953098" cy="9144"/>
            <a:chOff x="0" y="0"/>
            <a:chExt cx="9270797" cy="12192"/>
          </a:xfrm>
        </p:grpSpPr>
        <p:sp>
          <p:nvSpPr>
            <p:cNvPr id="41" name="Freeform 41" descr="gen-dedup-5bb726e4d507407fe6afe1dd31057ef2.png"/>
            <p:cNvSpPr/>
            <p:nvPr/>
          </p:nvSpPr>
          <p:spPr>
            <a:xfrm>
              <a:off x="0" y="0"/>
              <a:ext cx="9270746" cy="12192"/>
            </a:xfrm>
            <a:custGeom>
              <a:avLst/>
              <a:gdLst/>
              <a:ahLst/>
              <a:cxnLst/>
              <a:rect l="l" t="t" r="r" b="b"/>
              <a:pathLst>
                <a:path w="9270746" h="12192">
                  <a:moveTo>
                    <a:pt x="0" y="0"/>
                  </a:moveTo>
                  <a:lnTo>
                    <a:pt x="9270746" y="0"/>
                  </a:lnTo>
                  <a:lnTo>
                    <a:pt x="9270746" y="12192"/>
                  </a:lnTo>
                  <a:lnTo>
                    <a:pt x="0" y="12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1999" r="1997"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10096805" y="7071669"/>
            <a:ext cx="6954012" cy="629107"/>
            <a:chOff x="0" y="0"/>
            <a:chExt cx="9272016" cy="838809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9272016" cy="838809"/>
            </a:xfrm>
            <a:custGeom>
              <a:avLst/>
              <a:gdLst/>
              <a:ahLst/>
              <a:cxnLst/>
              <a:rect l="l" t="t" r="r" b="b"/>
              <a:pathLst>
                <a:path w="9272016" h="838809">
                  <a:moveTo>
                    <a:pt x="0" y="0"/>
                  </a:moveTo>
                  <a:lnTo>
                    <a:pt x="9272016" y="0"/>
                  </a:lnTo>
                  <a:lnTo>
                    <a:pt x="9272016" y="838809"/>
                  </a:lnTo>
                  <a:lnTo>
                    <a:pt x="0" y="83880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5383" b="-165383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9525"/>
              <a:ext cx="9272016" cy="8483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22C55E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🌱 실천: 비즈니스의 성장판은 기적을 약속하는 가짜 마케팅이 아니라, 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22C55E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       원칙과 신뢰 관계의 단단한 결합에서 열립니다.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0090452" y="3935325"/>
            <a:ext cx="2857500" cy="514350"/>
            <a:chOff x="0" y="0"/>
            <a:chExt cx="3810000" cy="685800"/>
          </a:xfrm>
        </p:grpSpPr>
        <p:grpSp>
          <p:nvGrpSpPr>
            <p:cNvPr id="46" name="Group 46"/>
            <p:cNvGrpSpPr/>
            <p:nvPr/>
          </p:nvGrpSpPr>
          <p:grpSpPr>
            <a:xfrm>
              <a:off x="0" y="0"/>
              <a:ext cx="3810000" cy="685800"/>
              <a:chOff x="0" y="0"/>
              <a:chExt cx="3810000" cy="6858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3809940" cy="685644"/>
              </a:xfrm>
              <a:custGeom>
                <a:avLst/>
                <a:gdLst/>
                <a:ahLst/>
                <a:cxnLst/>
                <a:rect l="l" t="t" r="r" b="b"/>
                <a:pathLst>
                  <a:path w="3809940" h="685644">
                    <a:moveTo>
                      <a:pt x="0" y="72677"/>
                    </a:moveTo>
                    <a:cubicBezTo>
                      <a:pt x="0" y="32592"/>
                      <a:pt x="37036" y="0"/>
                      <a:pt x="82588" y="0"/>
                    </a:cubicBezTo>
                    <a:lnTo>
                      <a:pt x="3727353" y="0"/>
                    </a:lnTo>
                    <a:cubicBezTo>
                      <a:pt x="3772905" y="0"/>
                      <a:pt x="3809940" y="32592"/>
                      <a:pt x="3809940" y="72677"/>
                    </a:cubicBezTo>
                    <a:lnTo>
                      <a:pt x="3809940" y="612966"/>
                    </a:lnTo>
                    <a:cubicBezTo>
                      <a:pt x="3809940" y="653052"/>
                      <a:pt x="3772905" y="685643"/>
                      <a:pt x="3727353" y="685643"/>
                    </a:cubicBezTo>
                    <a:lnTo>
                      <a:pt x="82588" y="685643"/>
                    </a:lnTo>
                    <a:cubicBezTo>
                      <a:pt x="37036" y="685813"/>
                      <a:pt x="0" y="653226"/>
                      <a:pt x="0" y="613140"/>
                    </a:cubicBezTo>
                    <a:close/>
                  </a:path>
                </a:pathLst>
              </a:custGeom>
              <a:solidFill>
                <a:srgbClr val="22C55E">
                  <a:alpha val="784"/>
                </a:srgbClr>
              </a:solidFill>
              <a:ln w="12700" cap="sq">
                <a:solidFill>
                  <a:srgbClr val="22C55E"/>
                </a:solidFill>
                <a:prstDash val="solid"/>
                <a:miter/>
              </a:ln>
            </p:spPr>
          </p:sp>
        </p:grpSp>
        <p:grpSp>
          <p:nvGrpSpPr>
            <p:cNvPr id="48" name="Group 48"/>
            <p:cNvGrpSpPr/>
            <p:nvPr/>
          </p:nvGrpSpPr>
          <p:grpSpPr>
            <a:xfrm>
              <a:off x="438152" y="101499"/>
              <a:ext cx="2933697" cy="482803"/>
              <a:chOff x="0" y="0"/>
              <a:chExt cx="2933697" cy="48280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2933697" cy="482802"/>
              </a:xfrm>
              <a:custGeom>
                <a:avLst/>
                <a:gdLst/>
                <a:ahLst/>
                <a:cxnLst/>
                <a:rect l="l" t="t" r="r" b="b"/>
                <a:pathLst>
                  <a:path w="2933697" h="482802">
                    <a:moveTo>
                      <a:pt x="0" y="0"/>
                    </a:moveTo>
                    <a:lnTo>
                      <a:pt x="2933697" y="0"/>
                    </a:lnTo>
                    <a:lnTo>
                      <a:pt x="2933697" y="482802"/>
                    </a:lnTo>
                    <a:lnTo>
                      <a:pt x="0" y="482802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47917" r="17298" b="-47917"/>
                </a:stretch>
              </a:blip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0" y="-9525"/>
                <a:ext cx="2933697" cy="49232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 b="1">
                    <a:solidFill>
                      <a:srgbClr val="22C55E"/>
                    </a:solidFill>
                    <a:latin typeface="Paperlogy Bold"/>
                    <a:ea typeface="Paperlogy Bold"/>
                    <a:cs typeface="Paperlogy Bold"/>
                    <a:sym typeface="Paperlogy Bold"/>
                  </a:rPr>
                  <a:t>스폰서와 파트너의 연결</a:t>
                </a: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857250" y="8667750"/>
            <a:ext cx="16954195" cy="1134499"/>
            <a:chOff x="0" y="0"/>
            <a:chExt cx="22605594" cy="1512665"/>
          </a:xfrm>
        </p:grpSpPr>
        <p:grpSp>
          <p:nvGrpSpPr>
            <p:cNvPr id="52" name="Group 52"/>
            <p:cNvGrpSpPr/>
            <p:nvPr/>
          </p:nvGrpSpPr>
          <p:grpSpPr>
            <a:xfrm>
              <a:off x="533197" y="0"/>
              <a:ext cx="22072397" cy="1512665"/>
              <a:chOff x="0" y="0"/>
              <a:chExt cx="4359980" cy="298798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4359980" cy="298798"/>
              </a:xfrm>
              <a:custGeom>
                <a:avLst/>
                <a:gdLst/>
                <a:ahLst/>
                <a:cxnLst/>
                <a:rect l="l" t="t" r="r" b="b"/>
                <a:pathLst>
                  <a:path w="4359980" h="298798">
                    <a:moveTo>
                      <a:pt x="0" y="0"/>
                    </a:moveTo>
                    <a:lnTo>
                      <a:pt x="4359980" y="0"/>
                    </a:lnTo>
                    <a:lnTo>
                      <a:pt x="4359980" y="298798"/>
                    </a:lnTo>
                    <a:lnTo>
                      <a:pt x="0" y="298798"/>
                    </a:lnTo>
                    <a:close/>
                  </a:path>
                </a:pathLst>
              </a:custGeom>
              <a:solidFill>
                <a:srgbClr val="3B3B3B"/>
              </a:solidFill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0" y="-9525"/>
                <a:ext cx="4359980" cy="3083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55" name="AutoShape 55"/>
            <p:cNvSpPr/>
            <p:nvPr/>
          </p:nvSpPr>
          <p:spPr>
            <a:xfrm>
              <a:off x="635000" y="0"/>
              <a:ext cx="0" cy="1512665"/>
            </a:xfrm>
            <a:prstGeom prst="line">
              <a:avLst/>
            </a:prstGeom>
            <a:ln w="1270000" cap="flat">
              <a:solidFill>
                <a:srgbClr val="EF44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02387" y="194450"/>
              <a:ext cx="2772776" cy="1140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FFFFFF"/>
                  </a:solidFill>
                  <a:latin typeface="Paperlogy Medium"/>
                  <a:ea typeface="Paperlogy Medium"/>
                  <a:cs typeface="Paperlogy Medium"/>
                  <a:sym typeface="Paperlogy Medium"/>
                </a:rPr>
                <a:t>L.REMETTRE Core Ethos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695450" y="8989995"/>
            <a:ext cx="11754270" cy="490008"/>
            <a:chOff x="0" y="0"/>
            <a:chExt cx="15672360" cy="65334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5672360" cy="653343"/>
            </a:xfrm>
            <a:custGeom>
              <a:avLst/>
              <a:gdLst/>
              <a:ahLst/>
              <a:cxnLst/>
              <a:rect l="l" t="t" r="r" b="b"/>
              <a:pathLst>
                <a:path w="15672360" h="653343">
                  <a:moveTo>
                    <a:pt x="0" y="0"/>
                  </a:moveTo>
                  <a:lnTo>
                    <a:pt x="15672360" y="0"/>
                  </a:lnTo>
                  <a:lnTo>
                    <a:pt x="15672360" y="653343"/>
                  </a:lnTo>
                  <a:lnTo>
                    <a:pt x="0" y="6533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64867" r="16528" b="-315438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9525"/>
              <a:ext cx="15672360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499" b="1">
                  <a:solidFill>
                    <a:srgbClr val="FFFFFF"/>
                  </a:solidFill>
                  <a:latin typeface="Paperlogy Medium"/>
                  <a:ea typeface="Paperlogy Medium"/>
                  <a:cs typeface="Paperlogy Medium"/>
                  <a:sym typeface="Paperlogy Medium"/>
                </a:rPr>
                <a:t>"제품 본연의 가치와 몸의 원리를 원칙대로 바르게 공유하는 행동이 최고의 신뢰 마케팅입니다."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707" y="761695"/>
            <a:ext cx="16573500" cy="19202"/>
            <a:chOff x="0" y="0"/>
            <a:chExt cx="22098000" cy="25603"/>
          </a:xfrm>
        </p:grpSpPr>
        <p:sp>
          <p:nvSpPr>
            <p:cNvPr id="3" name="Freeform 3" descr="gen-dedup-8e155934e3e6c9b01e275e9a352dafea.png"/>
            <p:cNvSpPr/>
            <p:nvPr/>
          </p:nvSpPr>
          <p:spPr>
            <a:xfrm>
              <a:off x="0" y="0"/>
              <a:ext cx="22098000" cy="25654"/>
            </a:xfrm>
            <a:custGeom>
              <a:avLst/>
              <a:gdLst/>
              <a:ahLst/>
              <a:cxnLst/>
              <a:rect l="l" t="t" r="r" b="b"/>
              <a:pathLst>
                <a:path w="22098000" h="25654">
                  <a:moveTo>
                    <a:pt x="0" y="0"/>
                  </a:moveTo>
                  <a:lnTo>
                    <a:pt x="22098000" y="0"/>
                  </a:lnTo>
                  <a:lnTo>
                    <a:pt x="22098000" y="25654"/>
                  </a:lnTo>
                  <a:lnTo>
                    <a:pt x="0" y="2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396" r="-10342" b="59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707" y="3419051"/>
            <a:ext cx="7972654" cy="4752503"/>
            <a:chOff x="0" y="0"/>
            <a:chExt cx="10630205" cy="6336671"/>
          </a:xfrm>
        </p:grpSpPr>
        <p:sp>
          <p:nvSpPr>
            <p:cNvPr id="5" name="Freeform 5" descr="gen-dedup-4cc0b267fcf057a68787bb8faeafcb52.png"/>
            <p:cNvSpPr/>
            <p:nvPr/>
          </p:nvSpPr>
          <p:spPr>
            <a:xfrm>
              <a:off x="0" y="0"/>
              <a:ext cx="10630154" cy="6336696"/>
            </a:xfrm>
            <a:custGeom>
              <a:avLst/>
              <a:gdLst/>
              <a:ahLst/>
              <a:cxnLst/>
              <a:rect l="l" t="t" r="r" b="b"/>
              <a:pathLst>
                <a:path w="10630154" h="6336696">
                  <a:moveTo>
                    <a:pt x="254000" y="0"/>
                  </a:moveTo>
                  <a:lnTo>
                    <a:pt x="10376154" y="0"/>
                  </a:lnTo>
                  <a:cubicBezTo>
                    <a:pt x="10516435" y="0"/>
                    <a:pt x="10630154" y="113720"/>
                    <a:pt x="10630154" y="254000"/>
                  </a:cubicBezTo>
                  <a:lnTo>
                    <a:pt x="10630154" y="6082696"/>
                  </a:lnTo>
                  <a:cubicBezTo>
                    <a:pt x="10630154" y="6222976"/>
                    <a:pt x="10516435" y="6336696"/>
                    <a:pt x="10376154" y="6336696"/>
                  </a:cubicBezTo>
                  <a:lnTo>
                    <a:pt x="254000" y="6336696"/>
                  </a:lnTo>
                  <a:cubicBezTo>
                    <a:pt x="186635" y="6336696"/>
                    <a:pt x="122029" y="6309935"/>
                    <a:pt x="74395" y="6262301"/>
                  </a:cubicBezTo>
                  <a:cubicBezTo>
                    <a:pt x="26761" y="6214667"/>
                    <a:pt x="0" y="6150061"/>
                    <a:pt x="0" y="6082696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blipFill>
              <a:blip r:embed="rId4"/>
              <a:stretch>
                <a:fillRect t="-7988" b="-8659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-5400000">
            <a:off x="10999300" y="1739648"/>
            <a:ext cx="4723352" cy="8140462"/>
            <a:chOff x="0" y="0"/>
            <a:chExt cx="6297803" cy="10853949"/>
          </a:xfrm>
        </p:grpSpPr>
        <p:sp>
          <p:nvSpPr>
            <p:cNvPr id="7" name="Freeform 7" descr="gen-dedup-235dea340c86b80c5369b82d182baed0.png"/>
            <p:cNvSpPr/>
            <p:nvPr/>
          </p:nvSpPr>
          <p:spPr>
            <a:xfrm>
              <a:off x="0" y="0"/>
              <a:ext cx="6297788" cy="10853948"/>
            </a:xfrm>
            <a:custGeom>
              <a:avLst/>
              <a:gdLst/>
              <a:ahLst/>
              <a:cxnLst/>
              <a:rect l="l" t="t" r="r" b="b"/>
              <a:pathLst>
                <a:path w="6297788" h="10853948">
                  <a:moveTo>
                    <a:pt x="426175" y="0"/>
                  </a:moveTo>
                  <a:lnTo>
                    <a:pt x="5871613" y="0"/>
                  </a:lnTo>
                  <a:cubicBezTo>
                    <a:pt x="6106983" y="0"/>
                    <a:pt x="6297788" y="190805"/>
                    <a:pt x="6297788" y="426175"/>
                  </a:cubicBezTo>
                  <a:lnTo>
                    <a:pt x="6297788" y="10427773"/>
                  </a:lnTo>
                  <a:cubicBezTo>
                    <a:pt x="6297788" y="10540802"/>
                    <a:pt x="6252888" y="10649201"/>
                    <a:pt x="6172964" y="10729124"/>
                  </a:cubicBezTo>
                  <a:cubicBezTo>
                    <a:pt x="6093041" y="10809048"/>
                    <a:pt x="5984641" y="10853948"/>
                    <a:pt x="5871613" y="10853948"/>
                  </a:cubicBezTo>
                  <a:lnTo>
                    <a:pt x="426175" y="10853948"/>
                  </a:lnTo>
                  <a:cubicBezTo>
                    <a:pt x="313147" y="10853948"/>
                    <a:pt x="204747" y="10809048"/>
                    <a:pt x="124824" y="10729124"/>
                  </a:cubicBezTo>
                  <a:cubicBezTo>
                    <a:pt x="44900" y="10649201"/>
                    <a:pt x="0" y="10540802"/>
                    <a:pt x="0" y="10427773"/>
                  </a:cubicBezTo>
                  <a:lnTo>
                    <a:pt x="0" y="426175"/>
                  </a:lnTo>
                  <a:cubicBezTo>
                    <a:pt x="0" y="313147"/>
                    <a:pt x="44900" y="204747"/>
                    <a:pt x="124824" y="124824"/>
                  </a:cubicBezTo>
                  <a:cubicBezTo>
                    <a:pt x="204747" y="44900"/>
                    <a:pt x="313147" y="0"/>
                    <a:pt x="426175" y="0"/>
                  </a:cubicBezTo>
                  <a:close/>
                </a:path>
              </a:pathLst>
            </a:custGeom>
            <a:blipFill>
              <a:blip r:embed="rId5"/>
              <a:stretch>
                <a:fillRect l="-72137" r="-72140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857707" y="952500"/>
            <a:ext cx="16573500" cy="399627"/>
            <a:chOff x="0" y="0"/>
            <a:chExt cx="22098000" cy="53283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098000" cy="532835"/>
            </a:xfrm>
            <a:custGeom>
              <a:avLst/>
              <a:gdLst/>
              <a:ahLst/>
              <a:cxnLst/>
              <a:rect l="l" t="t" r="r" b="b"/>
              <a:pathLst>
                <a:path w="22098000" h="532835">
                  <a:moveTo>
                    <a:pt x="0" y="0"/>
                  </a:moveTo>
                  <a:lnTo>
                    <a:pt x="22098000" y="0"/>
                  </a:lnTo>
                  <a:lnTo>
                    <a:pt x="22098000" y="532835"/>
                  </a:lnTo>
                  <a:lnTo>
                    <a:pt x="0" y="53283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777089" b="-739097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22098000" cy="5423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346">
                  <a:solidFill>
                    <a:srgbClr val="C5A880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KEY 2: LEVERAGING UNIQUE STRENGTHS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57707" y="1428750"/>
            <a:ext cx="16573500" cy="1389168"/>
            <a:chOff x="0" y="0"/>
            <a:chExt cx="22098000" cy="185222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098000" cy="1852225"/>
            </a:xfrm>
            <a:custGeom>
              <a:avLst/>
              <a:gdLst/>
              <a:ahLst/>
              <a:cxnLst/>
              <a:rect l="l" t="t" r="r" b="b"/>
              <a:pathLst>
                <a:path w="22098000" h="1852225">
                  <a:moveTo>
                    <a:pt x="0" y="0"/>
                  </a:moveTo>
                  <a:lnTo>
                    <a:pt x="22098000" y="0"/>
                  </a:lnTo>
                  <a:lnTo>
                    <a:pt x="22098000" y="1852225"/>
                  </a:lnTo>
                  <a:lnTo>
                    <a:pt x="0" y="185222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10514" b="-154418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22098000" cy="18617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399"/>
                </a:lnSpc>
              </a:pPr>
              <a:r>
                <a:rPr lang="en-US" sz="6999" b="1">
                  <a:solidFill>
                    <a:srgbClr val="F3F4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두 번째 열쇠: 약점을 보완하고 강점을 위임하기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57707" y="2857500"/>
            <a:ext cx="16573500" cy="390101"/>
            <a:chOff x="0" y="0"/>
            <a:chExt cx="22098000" cy="52013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098000" cy="520135"/>
            </a:xfrm>
            <a:custGeom>
              <a:avLst/>
              <a:gdLst/>
              <a:ahLst/>
              <a:cxnLst/>
              <a:rect l="l" t="t" r="r" b="b"/>
              <a:pathLst>
                <a:path w="22098000" h="520135">
                  <a:moveTo>
                    <a:pt x="0" y="0"/>
                  </a:moveTo>
                  <a:lnTo>
                    <a:pt x="22098000" y="0"/>
                  </a:lnTo>
                  <a:lnTo>
                    <a:pt x="22098000" y="520135"/>
                  </a:lnTo>
                  <a:lnTo>
                    <a:pt x="0" y="52013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785045" b="-770601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22098000" cy="529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모든 것을 스스로 해내려 애쓰는 슈퍼맨 대신, 적재적소에 파트너의 장점을 배치하여 폭발적 시너지를 내는 법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33195" y="4464348"/>
            <a:ext cx="6954012" cy="490008"/>
            <a:chOff x="0" y="0"/>
            <a:chExt cx="9272016" cy="65334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272016" cy="653344"/>
            </a:xfrm>
            <a:custGeom>
              <a:avLst/>
              <a:gdLst/>
              <a:ahLst/>
              <a:cxnLst/>
              <a:rect l="l" t="t" r="r" b="b"/>
              <a:pathLst>
                <a:path w="9272016" h="653344">
                  <a:moveTo>
                    <a:pt x="0" y="0"/>
                  </a:moveTo>
                  <a:lnTo>
                    <a:pt x="9272016" y="0"/>
                  </a:lnTo>
                  <a:lnTo>
                    <a:pt x="9272016" y="653344"/>
                  </a:lnTo>
                  <a:lnTo>
                    <a:pt x="0" y="65334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31738" b="-22131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9272016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3F4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스티브 잡스는 프로그래밍을 할 줄 몰랐다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33195" y="5093456"/>
            <a:ext cx="6954012" cy="1467612"/>
            <a:chOff x="0" y="0"/>
            <a:chExt cx="9272016" cy="195681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272016" cy="1956816"/>
            </a:xfrm>
            <a:custGeom>
              <a:avLst/>
              <a:gdLst/>
              <a:ahLst/>
              <a:cxnLst/>
              <a:rect l="l" t="t" r="r" b="b"/>
              <a:pathLst>
                <a:path w="9272016" h="1956816">
                  <a:moveTo>
                    <a:pt x="0" y="0"/>
                  </a:moveTo>
                  <a:lnTo>
                    <a:pt x="9272016" y="0"/>
                  </a:lnTo>
                  <a:lnTo>
                    <a:pt x="9272016" y="1956816"/>
                  </a:lnTo>
                  <a:lnTo>
                    <a:pt x="0" y="195681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42326" b="-42326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9272016" cy="19663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놀랍게도 </a:t>
              </a:r>
              <a:r>
                <a:rPr lang="en-US" sz="1800" b="1">
                  <a:solidFill>
                    <a:srgbClr val="9CA3AF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스티브 잡스</a:t>
              </a: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는 정교한 프로그래밍 코드를 직접 짜거나, 복잡한 회로 설계를 담당하지 않았습니다. 그것은 잡스의 영역이 아니었습니다. 하지만 잡스는 자신이 그러한 핵심 기술 부문에 약하다는 사실을 정직하게 직시하고 인정했습니다.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33195" y="6703943"/>
            <a:ext cx="6954012" cy="1467612"/>
            <a:chOff x="0" y="0"/>
            <a:chExt cx="9272016" cy="195681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272016" cy="1956816"/>
            </a:xfrm>
            <a:custGeom>
              <a:avLst/>
              <a:gdLst/>
              <a:ahLst/>
              <a:cxnLst/>
              <a:rect l="l" t="t" r="r" b="b"/>
              <a:pathLst>
                <a:path w="9272016" h="1956816">
                  <a:moveTo>
                    <a:pt x="0" y="0"/>
                  </a:moveTo>
                  <a:lnTo>
                    <a:pt x="9272016" y="0"/>
                  </a:lnTo>
                  <a:lnTo>
                    <a:pt x="9272016" y="1956816"/>
                  </a:lnTo>
                  <a:lnTo>
                    <a:pt x="0" y="195681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42326" b="-42326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9272016" cy="19663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대신 그의 곁에는 완벽한 기술 설계를 담당할 천재 파트너 </a:t>
              </a:r>
              <a:r>
                <a:rPr lang="en-US" sz="1800" b="1">
                  <a:solidFill>
                    <a:srgbClr val="9CA3AF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스티브 워즈니악</a:t>
              </a: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이 있었습니다. 잡스는 기술적 난제가 생길 때마다 혼자 밤새 앓는 대신, 워즈니악을 당당히 내세워 시너지를 이뤄내고 본인은 프레젠테이션과 비전 제시에 완벽히 몰입했습니다.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33195" y="3727447"/>
            <a:ext cx="3810000" cy="514350"/>
            <a:chOff x="0" y="0"/>
            <a:chExt cx="5080000" cy="685800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5080000" cy="685800"/>
              <a:chOff x="0" y="0"/>
              <a:chExt cx="5080000" cy="685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5079979" cy="685644"/>
              </a:xfrm>
              <a:custGeom>
                <a:avLst/>
                <a:gdLst/>
                <a:ahLst/>
                <a:cxnLst/>
                <a:rect l="l" t="t" r="r" b="b"/>
                <a:pathLst>
                  <a:path w="5079979" h="685644">
                    <a:moveTo>
                      <a:pt x="0" y="72677"/>
                    </a:moveTo>
                    <a:cubicBezTo>
                      <a:pt x="0" y="32592"/>
                      <a:pt x="38252" y="0"/>
                      <a:pt x="85300" y="0"/>
                    </a:cubicBezTo>
                    <a:lnTo>
                      <a:pt x="4994679" y="0"/>
                    </a:lnTo>
                    <a:cubicBezTo>
                      <a:pt x="5041727" y="0"/>
                      <a:pt x="5079979" y="32592"/>
                      <a:pt x="5079979" y="72677"/>
                    </a:cubicBezTo>
                    <a:lnTo>
                      <a:pt x="5079979" y="612966"/>
                    </a:lnTo>
                    <a:cubicBezTo>
                      <a:pt x="5079979" y="653052"/>
                      <a:pt x="5041727" y="685643"/>
                      <a:pt x="4994679" y="685643"/>
                    </a:cubicBezTo>
                    <a:lnTo>
                      <a:pt x="85300" y="685643"/>
                    </a:lnTo>
                    <a:cubicBezTo>
                      <a:pt x="38252" y="685813"/>
                      <a:pt x="0" y="653226"/>
                      <a:pt x="0" y="613140"/>
                    </a:cubicBezTo>
                    <a:close/>
                  </a:path>
                </a:pathLst>
              </a:custGeom>
              <a:solidFill>
                <a:srgbClr val="C5A880">
                  <a:alpha val="784"/>
                </a:srgbClr>
              </a:solidFill>
              <a:ln w="12700" cap="sq">
                <a:solidFill>
                  <a:srgbClr val="C5A880"/>
                </a:solidFill>
                <a:prstDash val="solid"/>
                <a:miter/>
              </a:ln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239548" y="101499"/>
              <a:ext cx="4600904" cy="482803"/>
              <a:chOff x="0" y="0"/>
              <a:chExt cx="4600904" cy="48280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4600904" cy="482802"/>
              </a:xfrm>
              <a:custGeom>
                <a:avLst/>
                <a:gdLst/>
                <a:ahLst/>
                <a:cxnLst/>
                <a:rect l="l" t="t" r="r" b="b"/>
                <a:pathLst>
                  <a:path w="4600904" h="482802">
                    <a:moveTo>
                      <a:pt x="0" y="0"/>
                    </a:moveTo>
                    <a:lnTo>
                      <a:pt x="4600904" y="0"/>
                    </a:lnTo>
                    <a:lnTo>
                      <a:pt x="4600904" y="482802"/>
                    </a:lnTo>
                    <a:lnTo>
                      <a:pt x="0" y="482802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t="-76603" r="31817" b="-76603"/>
                </a:stretch>
              </a:blip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9525"/>
                <a:ext cx="4600904" cy="49232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 b="1">
                    <a:solidFill>
                      <a:srgbClr val="C5A880"/>
                    </a:solidFill>
                    <a:latin typeface="Paperlogy Bold"/>
                    <a:ea typeface="Paperlogy Bold"/>
                    <a:cs typeface="Paperlogy Bold"/>
                    <a:sym typeface="Paperlogy Bold"/>
                  </a:rPr>
                  <a:t>HISTORICAL MASTERCLASS</a:t>
                </a:r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9995354" y="4521077"/>
            <a:ext cx="6954012" cy="490008"/>
            <a:chOff x="0" y="0"/>
            <a:chExt cx="9272016" cy="65334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272016" cy="653344"/>
            </a:xfrm>
            <a:custGeom>
              <a:avLst/>
              <a:gdLst/>
              <a:ahLst/>
              <a:cxnLst/>
              <a:rect l="l" t="t" r="r" b="b"/>
              <a:pathLst>
                <a:path w="9272016" h="653344">
                  <a:moveTo>
                    <a:pt x="0" y="0"/>
                  </a:moveTo>
                  <a:lnTo>
                    <a:pt x="9272016" y="0"/>
                  </a:lnTo>
                  <a:lnTo>
                    <a:pt x="9272016" y="653344"/>
                  </a:lnTo>
                  <a:lnTo>
                    <a:pt x="0" y="65334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31738" b="-221310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9272016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3F4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부족함을 직시하고 적재적소에 배치하기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995354" y="5333334"/>
            <a:ext cx="6954012" cy="1467612"/>
            <a:chOff x="0" y="0"/>
            <a:chExt cx="9272016" cy="195681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272016" cy="1956816"/>
            </a:xfrm>
            <a:custGeom>
              <a:avLst/>
              <a:gdLst/>
              <a:ahLst/>
              <a:cxnLst/>
              <a:rect l="l" t="t" r="r" b="b"/>
              <a:pathLst>
                <a:path w="9272016" h="1956816">
                  <a:moveTo>
                    <a:pt x="0" y="0"/>
                  </a:moveTo>
                  <a:lnTo>
                    <a:pt x="9272016" y="0"/>
                  </a:lnTo>
                  <a:lnTo>
                    <a:pt x="9272016" y="1956816"/>
                  </a:lnTo>
                  <a:lnTo>
                    <a:pt x="0" y="195681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42326" b="-42326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9525"/>
              <a:ext cx="9272016" cy="19663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나 혼자 모든 것을 도맡아 해결하려는 억지스러움을 버려야 합니다. 진짜 리더십이란 자신의 지적/체력적 빈틈을 당당하게 시인하고, 그 결핍의 공간을 뛰어난 역량을 가진 동료와 파트너들의 독보적인 강점으로 빈틈없이 채워나가는 행동입니다.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001707" y="6425489"/>
            <a:ext cx="6953098" cy="9144"/>
            <a:chOff x="0" y="0"/>
            <a:chExt cx="9270797" cy="12192"/>
          </a:xfrm>
        </p:grpSpPr>
        <p:sp>
          <p:nvSpPr>
            <p:cNvPr id="39" name="Freeform 39" descr="gen-dedup-5bb726e4d507407fe6afe1dd31057ef2.png"/>
            <p:cNvSpPr/>
            <p:nvPr/>
          </p:nvSpPr>
          <p:spPr>
            <a:xfrm>
              <a:off x="0" y="0"/>
              <a:ext cx="9270746" cy="12192"/>
            </a:xfrm>
            <a:custGeom>
              <a:avLst/>
              <a:gdLst/>
              <a:ahLst/>
              <a:cxnLst/>
              <a:rect l="l" t="t" r="r" b="b"/>
              <a:pathLst>
                <a:path w="9270746" h="12192">
                  <a:moveTo>
                    <a:pt x="0" y="0"/>
                  </a:moveTo>
                  <a:lnTo>
                    <a:pt x="9270746" y="0"/>
                  </a:lnTo>
                  <a:lnTo>
                    <a:pt x="9270746" y="12192"/>
                  </a:lnTo>
                  <a:lnTo>
                    <a:pt x="0" y="12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1999" r="1997"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>
            <a:off x="9829800" y="7077171"/>
            <a:ext cx="7429500" cy="629107"/>
            <a:chOff x="0" y="0"/>
            <a:chExt cx="9906000" cy="83880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906000" cy="838809"/>
            </a:xfrm>
            <a:custGeom>
              <a:avLst/>
              <a:gdLst/>
              <a:ahLst/>
              <a:cxnLst/>
              <a:rect l="l" t="t" r="r" b="b"/>
              <a:pathLst>
                <a:path w="9906000" h="838809">
                  <a:moveTo>
                    <a:pt x="0" y="0"/>
                  </a:moveTo>
                  <a:lnTo>
                    <a:pt x="9906000" y="0"/>
                  </a:lnTo>
                  <a:lnTo>
                    <a:pt x="9906000" y="838809"/>
                  </a:lnTo>
                  <a:lnTo>
                    <a:pt x="0" y="83880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65383" r="6399" b="-165383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9906000" cy="8483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22C55E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🌱 르메뜨레 교훈: 동료의 탁월함을 깎아내려 억제하지 않고, 그가 장기를 극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22C55E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       대화하여 무대에 설 수 있도록 과감히 위임하는 적재적소의 자태가 필요합니다.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0001707" y="3727447"/>
            <a:ext cx="4191000" cy="514350"/>
            <a:chOff x="0" y="0"/>
            <a:chExt cx="5588000" cy="6858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5588000" cy="685800"/>
              <a:chOff x="0" y="0"/>
              <a:chExt cx="5588000" cy="6858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5587827" cy="685644"/>
              </a:xfrm>
              <a:custGeom>
                <a:avLst/>
                <a:gdLst/>
                <a:ahLst/>
                <a:cxnLst/>
                <a:rect l="l" t="t" r="r" b="b"/>
                <a:pathLst>
                  <a:path w="5587827" h="685644">
                    <a:moveTo>
                      <a:pt x="0" y="72677"/>
                    </a:moveTo>
                    <a:cubicBezTo>
                      <a:pt x="0" y="32592"/>
                      <a:pt x="35866" y="0"/>
                      <a:pt x="79980" y="0"/>
                    </a:cubicBezTo>
                    <a:lnTo>
                      <a:pt x="5507848" y="0"/>
                    </a:lnTo>
                    <a:cubicBezTo>
                      <a:pt x="5551961" y="0"/>
                      <a:pt x="5587827" y="32592"/>
                      <a:pt x="5587827" y="72677"/>
                    </a:cubicBezTo>
                    <a:lnTo>
                      <a:pt x="5587827" y="612966"/>
                    </a:lnTo>
                    <a:cubicBezTo>
                      <a:pt x="5587827" y="653052"/>
                      <a:pt x="5551961" y="685643"/>
                      <a:pt x="5507848" y="685643"/>
                    </a:cubicBezTo>
                    <a:lnTo>
                      <a:pt x="79980" y="685643"/>
                    </a:lnTo>
                    <a:cubicBezTo>
                      <a:pt x="35866" y="685813"/>
                      <a:pt x="0" y="653226"/>
                      <a:pt x="0" y="613140"/>
                    </a:cubicBezTo>
                    <a:close/>
                  </a:path>
                </a:pathLst>
              </a:custGeom>
              <a:solidFill>
                <a:srgbClr val="22C55E">
                  <a:alpha val="784"/>
                </a:srgbClr>
              </a:solidFill>
              <a:ln w="12700" cap="sq">
                <a:solidFill>
                  <a:srgbClr val="22C55E"/>
                </a:solidFill>
                <a:prstDash val="solid"/>
                <a:miter/>
              </a:ln>
            </p:spPr>
          </p:sp>
        </p:grpSp>
        <p:grpSp>
          <p:nvGrpSpPr>
            <p:cNvPr id="46" name="Group 46"/>
            <p:cNvGrpSpPr/>
            <p:nvPr/>
          </p:nvGrpSpPr>
          <p:grpSpPr>
            <a:xfrm>
              <a:off x="181405" y="101499"/>
              <a:ext cx="5225190" cy="482803"/>
              <a:chOff x="0" y="0"/>
              <a:chExt cx="5225190" cy="482803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5225189" cy="482802"/>
              </a:xfrm>
              <a:custGeom>
                <a:avLst/>
                <a:gdLst/>
                <a:ahLst/>
                <a:cxnLst/>
                <a:rect l="l" t="t" r="r" b="b"/>
                <a:pathLst>
                  <a:path w="5225189" h="482802">
                    <a:moveTo>
                      <a:pt x="0" y="0"/>
                    </a:moveTo>
                    <a:lnTo>
                      <a:pt x="5225189" y="0"/>
                    </a:lnTo>
                    <a:lnTo>
                      <a:pt x="5225189" y="482802"/>
                    </a:lnTo>
                    <a:lnTo>
                      <a:pt x="0" y="482802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t="-98647" r="29510" b="-98647"/>
                </a:stretch>
              </a:blipFill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0" y="-9525"/>
                <a:ext cx="5225190" cy="49232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 b="1">
                    <a:solidFill>
                      <a:srgbClr val="22C55E"/>
                    </a:solidFill>
                    <a:latin typeface="Paperlogy Bold"/>
                    <a:ea typeface="Paperlogy Bold"/>
                    <a:cs typeface="Paperlogy Bold"/>
                    <a:sym typeface="Paperlogy Bold"/>
                  </a:rPr>
                  <a:t>THE LAW OF REQUISITE VARIETY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857250" y="8667750"/>
            <a:ext cx="16954195" cy="1134499"/>
            <a:chOff x="0" y="0"/>
            <a:chExt cx="22605594" cy="1512665"/>
          </a:xfrm>
        </p:grpSpPr>
        <p:grpSp>
          <p:nvGrpSpPr>
            <p:cNvPr id="50" name="Group 50"/>
            <p:cNvGrpSpPr/>
            <p:nvPr/>
          </p:nvGrpSpPr>
          <p:grpSpPr>
            <a:xfrm>
              <a:off x="533197" y="0"/>
              <a:ext cx="22072397" cy="1512665"/>
              <a:chOff x="0" y="0"/>
              <a:chExt cx="4359980" cy="298798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4359980" cy="298798"/>
              </a:xfrm>
              <a:custGeom>
                <a:avLst/>
                <a:gdLst/>
                <a:ahLst/>
                <a:cxnLst/>
                <a:rect l="l" t="t" r="r" b="b"/>
                <a:pathLst>
                  <a:path w="4359980" h="298798">
                    <a:moveTo>
                      <a:pt x="0" y="0"/>
                    </a:moveTo>
                    <a:lnTo>
                      <a:pt x="4359980" y="0"/>
                    </a:lnTo>
                    <a:lnTo>
                      <a:pt x="4359980" y="298798"/>
                    </a:lnTo>
                    <a:lnTo>
                      <a:pt x="0" y="298798"/>
                    </a:lnTo>
                    <a:close/>
                  </a:path>
                </a:pathLst>
              </a:custGeom>
              <a:solidFill>
                <a:srgbClr val="3B3B3B"/>
              </a:solidFill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0" y="-9525"/>
                <a:ext cx="4359980" cy="3083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53" name="AutoShape 53"/>
            <p:cNvSpPr/>
            <p:nvPr/>
          </p:nvSpPr>
          <p:spPr>
            <a:xfrm>
              <a:off x="635000" y="0"/>
              <a:ext cx="0" cy="1512665"/>
            </a:xfrm>
            <a:prstGeom prst="line">
              <a:avLst/>
            </a:prstGeom>
            <a:ln w="1270000" cap="flat">
              <a:solidFill>
                <a:srgbClr val="EF44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02387" y="194450"/>
              <a:ext cx="2772776" cy="1140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FFFFFF"/>
                  </a:solidFill>
                  <a:latin typeface="Paperlogy Medium"/>
                  <a:ea typeface="Paperlogy Medium"/>
                  <a:cs typeface="Paperlogy Medium"/>
                  <a:sym typeface="Paperlogy Medium"/>
                </a:rPr>
                <a:t>L.REMETTRE Core Ethos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3734752" y="8989995"/>
            <a:ext cx="13696455" cy="490008"/>
            <a:chOff x="0" y="0"/>
            <a:chExt cx="18261941" cy="653344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8261941" cy="653343"/>
            </a:xfrm>
            <a:custGeom>
              <a:avLst/>
              <a:gdLst/>
              <a:ahLst/>
              <a:cxnLst/>
              <a:rect l="l" t="t" r="r" b="b"/>
              <a:pathLst>
                <a:path w="18261941" h="653343">
                  <a:moveTo>
                    <a:pt x="0" y="0"/>
                  </a:moveTo>
                  <a:lnTo>
                    <a:pt x="18261941" y="0"/>
                  </a:lnTo>
                  <a:lnTo>
                    <a:pt x="18261941" y="653343"/>
                  </a:lnTo>
                  <a:lnTo>
                    <a:pt x="0" y="65334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442097" r="14184" b="-392668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9525"/>
              <a:ext cx="18261941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499" b="1">
                  <a:solidFill>
                    <a:srgbClr val="FFFFFF"/>
                  </a:solidFill>
                  <a:latin typeface="Paperlogy Medium"/>
                  <a:ea typeface="Paperlogy Medium"/>
                  <a:cs typeface="Paperlogy Medium"/>
                  <a:sym typeface="Paperlogy Medium"/>
                </a:rPr>
                <a:t>"완벽한 만능 슈퍼맨 리더는 없습니다. 상대의 장점을 정직하게 존중하고 위임할 때 위대한 그룹이 탄생합니다."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707" y="761695"/>
            <a:ext cx="16573500" cy="19202"/>
            <a:chOff x="0" y="0"/>
            <a:chExt cx="22098000" cy="25603"/>
          </a:xfrm>
        </p:grpSpPr>
        <p:sp>
          <p:nvSpPr>
            <p:cNvPr id="3" name="Freeform 3" descr="gen-dedup-8e155934e3e6c9b01e275e9a352dafea.png"/>
            <p:cNvSpPr/>
            <p:nvPr/>
          </p:nvSpPr>
          <p:spPr>
            <a:xfrm>
              <a:off x="0" y="0"/>
              <a:ext cx="22098000" cy="25654"/>
            </a:xfrm>
            <a:custGeom>
              <a:avLst/>
              <a:gdLst/>
              <a:ahLst/>
              <a:cxnLst/>
              <a:rect l="l" t="t" r="r" b="b"/>
              <a:pathLst>
                <a:path w="22098000" h="25654">
                  <a:moveTo>
                    <a:pt x="0" y="0"/>
                  </a:moveTo>
                  <a:lnTo>
                    <a:pt x="22098000" y="0"/>
                  </a:lnTo>
                  <a:lnTo>
                    <a:pt x="22098000" y="25654"/>
                  </a:lnTo>
                  <a:lnTo>
                    <a:pt x="0" y="2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396" r="-10342" b="59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707" y="3556161"/>
            <a:ext cx="7972654" cy="4443004"/>
            <a:chOff x="0" y="0"/>
            <a:chExt cx="10630205" cy="5924006"/>
          </a:xfrm>
        </p:grpSpPr>
        <p:sp>
          <p:nvSpPr>
            <p:cNvPr id="5" name="Freeform 5" descr="gen-dedup-4cc0b267fcf057a68787bb8faeafcb52.png"/>
            <p:cNvSpPr/>
            <p:nvPr/>
          </p:nvSpPr>
          <p:spPr>
            <a:xfrm>
              <a:off x="0" y="0"/>
              <a:ext cx="10630154" cy="5924031"/>
            </a:xfrm>
            <a:custGeom>
              <a:avLst/>
              <a:gdLst/>
              <a:ahLst/>
              <a:cxnLst/>
              <a:rect l="l" t="t" r="r" b="b"/>
              <a:pathLst>
                <a:path w="10630154" h="5924031">
                  <a:moveTo>
                    <a:pt x="190500" y="0"/>
                  </a:moveTo>
                  <a:lnTo>
                    <a:pt x="10439654" y="0"/>
                  </a:lnTo>
                  <a:cubicBezTo>
                    <a:pt x="10544865" y="0"/>
                    <a:pt x="10630154" y="85290"/>
                    <a:pt x="10630154" y="190500"/>
                  </a:cubicBezTo>
                  <a:lnTo>
                    <a:pt x="10630154" y="5733531"/>
                  </a:lnTo>
                  <a:cubicBezTo>
                    <a:pt x="10630154" y="5838741"/>
                    <a:pt x="10544865" y="5924031"/>
                    <a:pt x="10439654" y="5924031"/>
                  </a:cubicBezTo>
                  <a:lnTo>
                    <a:pt x="190500" y="5924031"/>
                  </a:lnTo>
                  <a:cubicBezTo>
                    <a:pt x="139976" y="5924031"/>
                    <a:pt x="91522" y="5903961"/>
                    <a:pt x="55796" y="5868235"/>
                  </a:cubicBezTo>
                  <a:cubicBezTo>
                    <a:pt x="20070" y="5832509"/>
                    <a:pt x="0" y="5784055"/>
                    <a:pt x="0" y="5733531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blipFill>
              <a:blip r:embed="rId4"/>
              <a:stretch>
                <a:fillRect t="-12386" b="-12386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-5400000">
            <a:off x="11171323" y="1739281"/>
            <a:ext cx="4443004" cy="8076765"/>
            <a:chOff x="0" y="0"/>
            <a:chExt cx="5924006" cy="10769019"/>
          </a:xfrm>
        </p:grpSpPr>
        <p:sp>
          <p:nvSpPr>
            <p:cNvPr id="7" name="Freeform 7" descr="gen-dedup-235dea340c86b80c5369b82d182baed0.png"/>
            <p:cNvSpPr/>
            <p:nvPr/>
          </p:nvSpPr>
          <p:spPr>
            <a:xfrm>
              <a:off x="0" y="0"/>
              <a:ext cx="5923992" cy="10769019"/>
            </a:xfrm>
            <a:custGeom>
              <a:avLst/>
              <a:gdLst/>
              <a:ahLst/>
              <a:cxnLst/>
              <a:rect l="l" t="t" r="r" b="b"/>
              <a:pathLst>
                <a:path w="5923992" h="10769019">
                  <a:moveTo>
                    <a:pt x="339800" y="0"/>
                  </a:moveTo>
                  <a:lnTo>
                    <a:pt x="5584192" y="0"/>
                  </a:lnTo>
                  <a:cubicBezTo>
                    <a:pt x="5674313" y="0"/>
                    <a:pt x="5760742" y="35800"/>
                    <a:pt x="5824467" y="99525"/>
                  </a:cubicBezTo>
                  <a:cubicBezTo>
                    <a:pt x="5888192" y="163250"/>
                    <a:pt x="5923992" y="249679"/>
                    <a:pt x="5923992" y="339800"/>
                  </a:cubicBezTo>
                  <a:lnTo>
                    <a:pt x="5923992" y="10429218"/>
                  </a:lnTo>
                  <a:cubicBezTo>
                    <a:pt x="5923992" y="10616885"/>
                    <a:pt x="5771858" y="10769019"/>
                    <a:pt x="5584192" y="10769019"/>
                  </a:cubicBezTo>
                  <a:lnTo>
                    <a:pt x="339800" y="10769019"/>
                  </a:lnTo>
                  <a:cubicBezTo>
                    <a:pt x="249679" y="10769019"/>
                    <a:pt x="163250" y="10733218"/>
                    <a:pt x="99525" y="10669494"/>
                  </a:cubicBezTo>
                  <a:cubicBezTo>
                    <a:pt x="35800" y="10605769"/>
                    <a:pt x="0" y="10519339"/>
                    <a:pt x="0" y="10429218"/>
                  </a:cubicBezTo>
                  <a:lnTo>
                    <a:pt x="0" y="339800"/>
                  </a:lnTo>
                  <a:cubicBezTo>
                    <a:pt x="0" y="249679"/>
                    <a:pt x="35800" y="163250"/>
                    <a:pt x="99525" y="99525"/>
                  </a:cubicBezTo>
                  <a:cubicBezTo>
                    <a:pt x="163250" y="35800"/>
                    <a:pt x="249679" y="0"/>
                    <a:pt x="339800" y="0"/>
                  </a:cubicBezTo>
                  <a:close/>
                </a:path>
              </a:pathLst>
            </a:custGeom>
            <a:blipFill>
              <a:blip r:embed="rId5"/>
              <a:stretch>
                <a:fillRect l="-78828" r="-7883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857707" y="952500"/>
            <a:ext cx="16573500" cy="399627"/>
            <a:chOff x="0" y="0"/>
            <a:chExt cx="22098000" cy="53283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098000" cy="532835"/>
            </a:xfrm>
            <a:custGeom>
              <a:avLst/>
              <a:gdLst/>
              <a:ahLst/>
              <a:cxnLst/>
              <a:rect l="l" t="t" r="r" b="b"/>
              <a:pathLst>
                <a:path w="22098000" h="532835">
                  <a:moveTo>
                    <a:pt x="0" y="0"/>
                  </a:moveTo>
                  <a:lnTo>
                    <a:pt x="22098000" y="0"/>
                  </a:lnTo>
                  <a:lnTo>
                    <a:pt x="22098000" y="532835"/>
                  </a:lnTo>
                  <a:lnTo>
                    <a:pt x="0" y="53283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777089" b="-739097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22098000" cy="5423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346">
                  <a:solidFill>
                    <a:srgbClr val="C5A880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KEY 3: DELEGATION &amp; TEE-UP CULTURE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57707" y="1428750"/>
            <a:ext cx="15315485" cy="1389168"/>
            <a:chOff x="0" y="0"/>
            <a:chExt cx="20420646" cy="185222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420647" cy="1852225"/>
            </a:xfrm>
            <a:custGeom>
              <a:avLst/>
              <a:gdLst/>
              <a:ahLst/>
              <a:cxnLst/>
              <a:rect l="l" t="t" r="r" b="b"/>
              <a:pathLst>
                <a:path w="20420647" h="1852225">
                  <a:moveTo>
                    <a:pt x="0" y="0"/>
                  </a:moveTo>
                  <a:lnTo>
                    <a:pt x="20420647" y="0"/>
                  </a:lnTo>
                  <a:lnTo>
                    <a:pt x="20420647" y="1852225"/>
                  </a:lnTo>
                  <a:lnTo>
                    <a:pt x="0" y="185222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10514" r="-8214" b="-154418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20420646" cy="18617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399"/>
                </a:lnSpc>
              </a:pPr>
              <a:r>
                <a:rPr lang="en-US" sz="6999" b="1">
                  <a:solidFill>
                    <a:srgbClr val="F3F4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세 번째 열쇠: 최고의 무대를 까는 마법, 티업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57707" y="2857500"/>
            <a:ext cx="16573500" cy="399627"/>
            <a:chOff x="0" y="0"/>
            <a:chExt cx="22098000" cy="53283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098000" cy="532836"/>
            </a:xfrm>
            <a:custGeom>
              <a:avLst/>
              <a:gdLst/>
              <a:ahLst/>
              <a:cxnLst/>
              <a:rect l="l" t="t" r="r" b="b"/>
              <a:pathLst>
                <a:path w="22098000" h="532836">
                  <a:moveTo>
                    <a:pt x="0" y="0"/>
                  </a:moveTo>
                  <a:lnTo>
                    <a:pt x="22098000" y="0"/>
                  </a:lnTo>
                  <a:lnTo>
                    <a:pt x="22098000" y="532836"/>
                  </a:lnTo>
                  <a:lnTo>
                    <a:pt x="0" y="53283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766333" b="-749850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22098000" cy="5423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골프 티의 준비성에서 빌려온 상대의 존재 가치를 사전에 극대화하는 가장 세련된 비즈니스 예술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33195" y="4423033"/>
            <a:ext cx="6954012" cy="490008"/>
            <a:chOff x="0" y="0"/>
            <a:chExt cx="9272016" cy="65334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272016" cy="653344"/>
            </a:xfrm>
            <a:custGeom>
              <a:avLst/>
              <a:gdLst/>
              <a:ahLst/>
              <a:cxnLst/>
              <a:rect l="l" t="t" r="r" b="b"/>
              <a:pathLst>
                <a:path w="9272016" h="653344">
                  <a:moveTo>
                    <a:pt x="0" y="0"/>
                  </a:moveTo>
                  <a:lnTo>
                    <a:pt x="9272016" y="0"/>
                  </a:lnTo>
                  <a:lnTo>
                    <a:pt x="9272016" y="653344"/>
                  </a:lnTo>
                  <a:lnTo>
                    <a:pt x="0" y="65334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31738" b="-22131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9272016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3F4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공을 가장 치기 좋은 자리에 올려두기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33195" y="4979717"/>
            <a:ext cx="6954012" cy="1105510"/>
            <a:chOff x="0" y="0"/>
            <a:chExt cx="9272016" cy="147401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272016" cy="1474014"/>
            </a:xfrm>
            <a:custGeom>
              <a:avLst/>
              <a:gdLst/>
              <a:ahLst/>
              <a:cxnLst/>
              <a:rect l="l" t="t" r="r" b="b"/>
              <a:pathLst>
                <a:path w="9272016" h="1474014">
                  <a:moveTo>
                    <a:pt x="0" y="0"/>
                  </a:moveTo>
                  <a:lnTo>
                    <a:pt x="9272016" y="0"/>
                  </a:lnTo>
                  <a:lnTo>
                    <a:pt x="9272016" y="1474014"/>
                  </a:lnTo>
                  <a:lnTo>
                    <a:pt x="0" y="147401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72567" b="-72567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9272016" cy="14835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티업(Tee-Up)은 본래 골프에서 유래했습니다. 골퍼가 드라이버 샷을 날리기 전, 공을 투박한 맨땅에 그대로 두지 않고 </a:t>
              </a:r>
              <a:r>
                <a:rPr lang="en-US" sz="1800" b="1">
                  <a:solidFill>
                    <a:srgbClr val="9CA3AF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'티(Tee)'</a:t>
              </a: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라는 작고 정밀한 받침대 위에 가볍게 띄워 올려두는 행위에서 온 말입니다.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33195" y="6398764"/>
            <a:ext cx="6954012" cy="1105510"/>
            <a:chOff x="0" y="0"/>
            <a:chExt cx="9272016" cy="147401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272016" cy="1474014"/>
            </a:xfrm>
            <a:custGeom>
              <a:avLst/>
              <a:gdLst/>
              <a:ahLst/>
              <a:cxnLst/>
              <a:rect l="l" t="t" r="r" b="b"/>
              <a:pathLst>
                <a:path w="9272016" h="1474014">
                  <a:moveTo>
                    <a:pt x="0" y="0"/>
                  </a:moveTo>
                  <a:lnTo>
                    <a:pt x="9272016" y="0"/>
                  </a:lnTo>
                  <a:lnTo>
                    <a:pt x="9272016" y="1474014"/>
                  </a:lnTo>
                  <a:lnTo>
                    <a:pt x="0" y="147401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72567" b="-72567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9272016" cy="14835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이 원리가 마케팅과 비즈니스로 전이되어 </a:t>
              </a:r>
              <a:r>
                <a:rPr lang="en-US" sz="1800" b="1">
                  <a:solidFill>
                    <a:srgbClr val="9CA3AF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'상대가 현장 무대에서 가장 눈부시고 품격 있는 성과를 낼 수 있도록, 동료 리더들이 미리 신뢰의 판을 깔고 환경을 완전히 세팅해 두는 격조 높은 행위'</a:t>
              </a: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를 지칭하게 되었습니다.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15372" y="3818884"/>
            <a:ext cx="2667000" cy="514350"/>
            <a:chOff x="0" y="0"/>
            <a:chExt cx="3556000" cy="685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555941" cy="685644"/>
            </a:xfrm>
            <a:custGeom>
              <a:avLst/>
              <a:gdLst/>
              <a:ahLst/>
              <a:cxnLst/>
              <a:rect l="l" t="t" r="r" b="b"/>
              <a:pathLst>
                <a:path w="3555941" h="685644">
                  <a:moveTo>
                    <a:pt x="0" y="72677"/>
                  </a:moveTo>
                  <a:cubicBezTo>
                    <a:pt x="0" y="32592"/>
                    <a:pt x="36478" y="0"/>
                    <a:pt x="81344" y="0"/>
                  </a:cubicBezTo>
                  <a:lnTo>
                    <a:pt x="3474597" y="0"/>
                  </a:lnTo>
                  <a:cubicBezTo>
                    <a:pt x="3519463" y="0"/>
                    <a:pt x="3555941" y="32592"/>
                    <a:pt x="3555941" y="72677"/>
                  </a:cubicBezTo>
                  <a:lnTo>
                    <a:pt x="3555941" y="612966"/>
                  </a:lnTo>
                  <a:cubicBezTo>
                    <a:pt x="3555941" y="653052"/>
                    <a:pt x="3519463" y="685643"/>
                    <a:pt x="3474597" y="685643"/>
                  </a:cubicBezTo>
                  <a:lnTo>
                    <a:pt x="81344" y="685643"/>
                  </a:lnTo>
                  <a:cubicBezTo>
                    <a:pt x="36478" y="685813"/>
                    <a:pt x="0" y="653226"/>
                    <a:pt x="0" y="613140"/>
                  </a:cubicBezTo>
                  <a:close/>
                </a:path>
              </a:pathLst>
            </a:custGeom>
            <a:solidFill>
              <a:srgbClr val="C5A880">
                <a:alpha val="784"/>
              </a:srgbClr>
            </a:solidFill>
            <a:ln w="12700" cap="sq">
              <a:solidFill>
                <a:srgbClr val="C5A880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1415881" y="3895008"/>
            <a:ext cx="2265983" cy="362102"/>
            <a:chOff x="0" y="0"/>
            <a:chExt cx="3021310" cy="48280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021310" cy="482802"/>
            </a:xfrm>
            <a:custGeom>
              <a:avLst/>
              <a:gdLst/>
              <a:ahLst/>
              <a:cxnLst/>
              <a:rect l="l" t="t" r="r" b="b"/>
              <a:pathLst>
                <a:path w="3021310" h="482802">
                  <a:moveTo>
                    <a:pt x="0" y="0"/>
                  </a:moveTo>
                  <a:lnTo>
                    <a:pt x="3021310" y="0"/>
                  </a:lnTo>
                  <a:lnTo>
                    <a:pt x="3021310" y="482802"/>
                  </a:lnTo>
                  <a:lnTo>
                    <a:pt x="0" y="48280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42800" r="23893" b="-42800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3021310" cy="4923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C5A880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ORIGIN OF TEE-UP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6022017" y="1937269"/>
            <a:ext cx="1789428" cy="589914"/>
            <a:chOff x="0" y="0"/>
            <a:chExt cx="2385904" cy="78655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385903" cy="786551"/>
            </a:xfrm>
            <a:custGeom>
              <a:avLst/>
              <a:gdLst/>
              <a:ahLst/>
              <a:cxnLst/>
              <a:rect l="l" t="t" r="r" b="b"/>
              <a:pathLst>
                <a:path w="2385903" h="786551">
                  <a:moveTo>
                    <a:pt x="0" y="0"/>
                  </a:moveTo>
                  <a:lnTo>
                    <a:pt x="2385903" y="0"/>
                  </a:lnTo>
                  <a:lnTo>
                    <a:pt x="2385903" y="786551"/>
                  </a:lnTo>
                  <a:lnTo>
                    <a:pt x="0" y="78655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6271" r="3625" b="12346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2385904" cy="7960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99"/>
                </a:lnSpc>
              </a:pPr>
              <a:r>
                <a:rPr lang="en-US" sz="2999" b="1">
                  <a:solidFill>
                    <a:srgbClr val="FFFFFF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(TEE-UP)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001707" y="4423033"/>
            <a:ext cx="6954012" cy="490008"/>
            <a:chOff x="0" y="0"/>
            <a:chExt cx="9272016" cy="65334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272016" cy="653344"/>
            </a:xfrm>
            <a:custGeom>
              <a:avLst/>
              <a:gdLst/>
              <a:ahLst/>
              <a:cxnLst/>
              <a:rect l="l" t="t" r="r" b="b"/>
              <a:pathLst>
                <a:path w="9272016" h="653344">
                  <a:moveTo>
                    <a:pt x="0" y="0"/>
                  </a:moveTo>
                  <a:lnTo>
                    <a:pt x="9272016" y="0"/>
                  </a:lnTo>
                  <a:lnTo>
                    <a:pt x="9272016" y="653344"/>
                  </a:lnTo>
                  <a:lnTo>
                    <a:pt x="0" y="65334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31738" b="-221310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9272016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3F4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가수 무대의 사회자와 스폰서 안내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001707" y="4979717"/>
            <a:ext cx="6954012" cy="1105510"/>
            <a:chOff x="0" y="0"/>
            <a:chExt cx="9272016" cy="147401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272016" cy="1474014"/>
            </a:xfrm>
            <a:custGeom>
              <a:avLst/>
              <a:gdLst/>
              <a:ahLst/>
              <a:cxnLst/>
              <a:rect l="l" t="t" r="r" b="b"/>
              <a:pathLst>
                <a:path w="9272016" h="1474014">
                  <a:moveTo>
                    <a:pt x="0" y="0"/>
                  </a:moveTo>
                  <a:lnTo>
                    <a:pt x="9272016" y="0"/>
                  </a:lnTo>
                  <a:lnTo>
                    <a:pt x="9272016" y="1474014"/>
                  </a:lnTo>
                  <a:lnTo>
                    <a:pt x="0" y="147401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72567" b="-72567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9272016" cy="14835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가수가 아무 소개 없이 무대에 오르면 시큰둥하지만, 탁월한 전문 사회자가 가수의 업적을 힘 있게 소개해 흥을 띄워놓으면 등장 전부터 객석은 달아오릅니다.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001707" y="6314741"/>
            <a:ext cx="6953098" cy="9144"/>
            <a:chOff x="0" y="0"/>
            <a:chExt cx="9270797" cy="12192"/>
          </a:xfrm>
        </p:grpSpPr>
        <p:sp>
          <p:nvSpPr>
            <p:cNvPr id="41" name="Freeform 41" descr="gen-dedup-5bb726e4d507407fe6afe1dd31057ef2.png"/>
            <p:cNvSpPr/>
            <p:nvPr/>
          </p:nvSpPr>
          <p:spPr>
            <a:xfrm>
              <a:off x="0" y="0"/>
              <a:ext cx="9270746" cy="12192"/>
            </a:xfrm>
            <a:custGeom>
              <a:avLst/>
              <a:gdLst/>
              <a:ahLst/>
              <a:cxnLst/>
              <a:rect l="l" t="t" r="r" b="b"/>
              <a:pathLst>
                <a:path w="9270746" h="12192">
                  <a:moveTo>
                    <a:pt x="0" y="0"/>
                  </a:moveTo>
                  <a:lnTo>
                    <a:pt x="9270746" y="0"/>
                  </a:lnTo>
                  <a:lnTo>
                    <a:pt x="9270746" y="12192"/>
                  </a:lnTo>
                  <a:lnTo>
                    <a:pt x="0" y="12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1999" r="1997"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10001707" y="6495335"/>
            <a:ext cx="6954012" cy="943661"/>
            <a:chOff x="0" y="0"/>
            <a:chExt cx="9272016" cy="1258215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9272016" cy="1258215"/>
            </a:xfrm>
            <a:custGeom>
              <a:avLst/>
              <a:gdLst/>
              <a:ahLst/>
              <a:cxnLst/>
              <a:rect l="l" t="t" r="r" b="b"/>
              <a:pathLst>
                <a:path w="9272016" h="1258215">
                  <a:moveTo>
                    <a:pt x="0" y="0"/>
                  </a:moveTo>
                  <a:lnTo>
                    <a:pt x="9272016" y="0"/>
                  </a:lnTo>
                  <a:lnTo>
                    <a:pt x="9272016" y="1258215"/>
                  </a:lnTo>
                  <a:lnTo>
                    <a:pt x="0" y="125821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3588" b="-93588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9525"/>
              <a:ext cx="9272016" cy="1267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22C55E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🌱 실전 활용: 스폰서와 새로운 파트너가 처음 조우하기 전, 스폰서 리더의 훌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22C55E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       륭한 품격과 실전 노하우를 충분히 경청하고 존중하도록 미리 귀띔해 두어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22C55E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       야 조언이 강력히 스며듭니다.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773325" y="3818884"/>
            <a:ext cx="3619500" cy="514350"/>
            <a:chOff x="0" y="0"/>
            <a:chExt cx="4826000" cy="685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4825859" cy="685644"/>
            </a:xfrm>
            <a:custGeom>
              <a:avLst/>
              <a:gdLst/>
              <a:ahLst/>
              <a:cxnLst/>
              <a:rect l="l" t="t" r="r" b="b"/>
              <a:pathLst>
                <a:path w="4825859" h="685644">
                  <a:moveTo>
                    <a:pt x="0" y="72677"/>
                  </a:moveTo>
                  <a:cubicBezTo>
                    <a:pt x="0" y="32592"/>
                    <a:pt x="37710" y="0"/>
                    <a:pt x="84091" y="0"/>
                  </a:cubicBezTo>
                  <a:lnTo>
                    <a:pt x="4741768" y="0"/>
                  </a:lnTo>
                  <a:cubicBezTo>
                    <a:pt x="4788149" y="0"/>
                    <a:pt x="4825859" y="32592"/>
                    <a:pt x="4825859" y="72677"/>
                  </a:cubicBezTo>
                  <a:lnTo>
                    <a:pt x="4825859" y="612966"/>
                  </a:lnTo>
                  <a:cubicBezTo>
                    <a:pt x="4825859" y="653052"/>
                    <a:pt x="4788149" y="685643"/>
                    <a:pt x="4741768" y="685643"/>
                  </a:cubicBezTo>
                  <a:lnTo>
                    <a:pt x="84091" y="685643"/>
                  </a:lnTo>
                  <a:cubicBezTo>
                    <a:pt x="37710" y="685813"/>
                    <a:pt x="0" y="653226"/>
                    <a:pt x="0" y="613140"/>
                  </a:cubicBezTo>
                  <a:close/>
                </a:path>
              </a:pathLst>
            </a:custGeom>
            <a:solidFill>
              <a:srgbClr val="22C55E">
                <a:alpha val="784"/>
              </a:srgbClr>
            </a:solidFill>
            <a:ln w="12700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9945776" y="3895008"/>
            <a:ext cx="3274597" cy="362102"/>
            <a:chOff x="0" y="0"/>
            <a:chExt cx="4366129" cy="482803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366129" cy="482802"/>
            </a:xfrm>
            <a:custGeom>
              <a:avLst/>
              <a:gdLst/>
              <a:ahLst/>
              <a:cxnLst/>
              <a:rect l="l" t="t" r="r" b="b"/>
              <a:pathLst>
                <a:path w="4366129" h="482802">
                  <a:moveTo>
                    <a:pt x="0" y="0"/>
                  </a:moveTo>
                  <a:lnTo>
                    <a:pt x="4366129" y="0"/>
                  </a:lnTo>
                  <a:lnTo>
                    <a:pt x="4366129" y="482802"/>
                  </a:lnTo>
                  <a:lnTo>
                    <a:pt x="0" y="48280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72027" r="30748" b="-72027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4366129" cy="4923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22C55E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APPLICATION IN MEETING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57250" y="8667750"/>
            <a:ext cx="16954195" cy="1134499"/>
            <a:chOff x="0" y="0"/>
            <a:chExt cx="22605594" cy="1512665"/>
          </a:xfrm>
        </p:grpSpPr>
        <p:grpSp>
          <p:nvGrpSpPr>
            <p:cNvPr id="51" name="Group 51"/>
            <p:cNvGrpSpPr/>
            <p:nvPr/>
          </p:nvGrpSpPr>
          <p:grpSpPr>
            <a:xfrm>
              <a:off x="533197" y="0"/>
              <a:ext cx="22072397" cy="1512665"/>
              <a:chOff x="0" y="0"/>
              <a:chExt cx="4359980" cy="298798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4359980" cy="298798"/>
              </a:xfrm>
              <a:custGeom>
                <a:avLst/>
                <a:gdLst/>
                <a:ahLst/>
                <a:cxnLst/>
                <a:rect l="l" t="t" r="r" b="b"/>
                <a:pathLst>
                  <a:path w="4359980" h="298798">
                    <a:moveTo>
                      <a:pt x="0" y="0"/>
                    </a:moveTo>
                    <a:lnTo>
                      <a:pt x="4359980" y="0"/>
                    </a:lnTo>
                    <a:lnTo>
                      <a:pt x="4359980" y="298798"/>
                    </a:lnTo>
                    <a:lnTo>
                      <a:pt x="0" y="298798"/>
                    </a:lnTo>
                    <a:close/>
                  </a:path>
                </a:pathLst>
              </a:custGeom>
              <a:solidFill>
                <a:srgbClr val="3B3B3B"/>
              </a:soli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0" y="-9525"/>
                <a:ext cx="4359980" cy="3083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54" name="AutoShape 54"/>
            <p:cNvSpPr/>
            <p:nvPr/>
          </p:nvSpPr>
          <p:spPr>
            <a:xfrm>
              <a:off x="635000" y="0"/>
              <a:ext cx="0" cy="1512665"/>
            </a:xfrm>
            <a:prstGeom prst="line">
              <a:avLst/>
            </a:prstGeom>
            <a:ln w="1270000" cap="flat">
              <a:solidFill>
                <a:srgbClr val="EF44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202387" y="194450"/>
              <a:ext cx="2772776" cy="1140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FFFFFF"/>
                  </a:solidFill>
                  <a:latin typeface="Paperlogy Medium"/>
                  <a:ea typeface="Paperlogy Medium"/>
                  <a:cs typeface="Paperlogy Medium"/>
                  <a:sym typeface="Paperlogy Medium"/>
                </a:rPr>
                <a:t>L.REMETTRE Core Ethos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3785050" y="8989995"/>
            <a:ext cx="13474250" cy="490008"/>
            <a:chOff x="0" y="0"/>
            <a:chExt cx="17965667" cy="653344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7965666" cy="653343"/>
            </a:xfrm>
            <a:custGeom>
              <a:avLst/>
              <a:gdLst/>
              <a:ahLst/>
              <a:cxnLst/>
              <a:rect l="l" t="t" r="r" b="b"/>
              <a:pathLst>
                <a:path w="17965666" h="653343">
                  <a:moveTo>
                    <a:pt x="0" y="0"/>
                  </a:moveTo>
                  <a:lnTo>
                    <a:pt x="17965666" y="0"/>
                  </a:lnTo>
                  <a:lnTo>
                    <a:pt x="17965666" y="653343"/>
                  </a:lnTo>
                  <a:lnTo>
                    <a:pt x="0" y="65334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399700" r="20681" b="-350271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9525"/>
              <a:ext cx="17965667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FFFFF"/>
                  </a:solidFill>
                  <a:latin typeface="Paperlogy Medium"/>
                  <a:ea typeface="Paperlogy Medium"/>
                  <a:cs typeface="Paperlogy Medium"/>
                  <a:sym typeface="Paperlogy Medium"/>
                </a:rPr>
                <a:t>"상대를 먼저 한껏 올려세워 존중할 때, 상대방 입에서 나오는 지혜의 가치가 내 비즈니스를 완전히 바꿉니다."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707" y="761695"/>
            <a:ext cx="16573500" cy="19202"/>
            <a:chOff x="0" y="0"/>
            <a:chExt cx="22098000" cy="25603"/>
          </a:xfrm>
        </p:grpSpPr>
        <p:sp>
          <p:nvSpPr>
            <p:cNvPr id="3" name="Freeform 3" descr="gen-dedup-8e155934e3e6c9b01e275e9a352dafea.png"/>
            <p:cNvSpPr/>
            <p:nvPr/>
          </p:nvSpPr>
          <p:spPr>
            <a:xfrm>
              <a:off x="0" y="0"/>
              <a:ext cx="22098000" cy="25654"/>
            </a:xfrm>
            <a:custGeom>
              <a:avLst/>
              <a:gdLst/>
              <a:ahLst/>
              <a:cxnLst/>
              <a:rect l="l" t="t" r="r" b="b"/>
              <a:pathLst>
                <a:path w="22098000" h="25654">
                  <a:moveTo>
                    <a:pt x="0" y="0"/>
                  </a:moveTo>
                  <a:lnTo>
                    <a:pt x="22098000" y="0"/>
                  </a:lnTo>
                  <a:lnTo>
                    <a:pt x="22098000" y="25654"/>
                  </a:lnTo>
                  <a:lnTo>
                    <a:pt x="0" y="2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396" r="-10342" b="59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250" y="3704166"/>
            <a:ext cx="7972654" cy="4516544"/>
            <a:chOff x="0" y="0"/>
            <a:chExt cx="10630205" cy="6022058"/>
          </a:xfrm>
        </p:grpSpPr>
        <p:sp>
          <p:nvSpPr>
            <p:cNvPr id="5" name="Freeform 5" descr="gen-dedup-4cc0b267fcf057a68787bb8faeafcb52.png"/>
            <p:cNvSpPr/>
            <p:nvPr/>
          </p:nvSpPr>
          <p:spPr>
            <a:xfrm>
              <a:off x="0" y="0"/>
              <a:ext cx="10630154" cy="6022084"/>
            </a:xfrm>
            <a:custGeom>
              <a:avLst/>
              <a:gdLst/>
              <a:ahLst/>
              <a:cxnLst/>
              <a:rect l="l" t="t" r="r" b="b"/>
              <a:pathLst>
                <a:path w="10630154" h="6022084">
                  <a:moveTo>
                    <a:pt x="190500" y="0"/>
                  </a:moveTo>
                  <a:lnTo>
                    <a:pt x="10439654" y="0"/>
                  </a:lnTo>
                  <a:cubicBezTo>
                    <a:pt x="10544865" y="0"/>
                    <a:pt x="10630154" y="85290"/>
                    <a:pt x="10630154" y="190500"/>
                  </a:cubicBezTo>
                  <a:lnTo>
                    <a:pt x="10630154" y="5831584"/>
                  </a:lnTo>
                  <a:cubicBezTo>
                    <a:pt x="10630154" y="5882107"/>
                    <a:pt x="10610084" y="5930562"/>
                    <a:pt x="10574358" y="5966287"/>
                  </a:cubicBezTo>
                  <a:cubicBezTo>
                    <a:pt x="10538633" y="6002013"/>
                    <a:pt x="10490178" y="6022084"/>
                    <a:pt x="10439654" y="6022084"/>
                  </a:cubicBezTo>
                  <a:lnTo>
                    <a:pt x="190500" y="6022084"/>
                  </a:lnTo>
                  <a:cubicBezTo>
                    <a:pt x="139976" y="6022084"/>
                    <a:pt x="91522" y="6002013"/>
                    <a:pt x="55796" y="5966287"/>
                  </a:cubicBezTo>
                  <a:cubicBezTo>
                    <a:pt x="20070" y="5930562"/>
                    <a:pt x="0" y="5882107"/>
                    <a:pt x="0" y="5831584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blipFill>
              <a:blip r:embed="rId4"/>
              <a:stretch>
                <a:fillRect t="-11370" b="-1137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-5400000">
            <a:off x="11172267" y="1903746"/>
            <a:ext cx="4516544" cy="8000422"/>
            <a:chOff x="0" y="0"/>
            <a:chExt cx="6022058" cy="10667229"/>
          </a:xfrm>
        </p:grpSpPr>
        <p:sp>
          <p:nvSpPr>
            <p:cNvPr id="7" name="Freeform 7" descr="gen-dedup-897aec5124210d60ca9ab36993c1bab5.png"/>
            <p:cNvSpPr/>
            <p:nvPr/>
          </p:nvSpPr>
          <p:spPr>
            <a:xfrm>
              <a:off x="0" y="0"/>
              <a:ext cx="6022044" cy="10667228"/>
            </a:xfrm>
            <a:custGeom>
              <a:avLst/>
              <a:gdLst/>
              <a:ahLst/>
              <a:cxnLst/>
              <a:rect l="l" t="t" r="r" b="b"/>
              <a:pathLst>
                <a:path w="6022044" h="10667228">
                  <a:moveTo>
                    <a:pt x="334267" y="0"/>
                  </a:moveTo>
                  <a:lnTo>
                    <a:pt x="5687777" y="0"/>
                  </a:lnTo>
                  <a:cubicBezTo>
                    <a:pt x="5776430" y="0"/>
                    <a:pt x="5861452" y="35217"/>
                    <a:pt x="5924140" y="97905"/>
                  </a:cubicBezTo>
                  <a:cubicBezTo>
                    <a:pt x="5986827" y="160592"/>
                    <a:pt x="6022044" y="245614"/>
                    <a:pt x="6022044" y="334267"/>
                  </a:cubicBezTo>
                  <a:lnTo>
                    <a:pt x="6022044" y="10332961"/>
                  </a:lnTo>
                  <a:cubicBezTo>
                    <a:pt x="6022044" y="10517571"/>
                    <a:pt x="5872388" y="10667228"/>
                    <a:pt x="5687777" y="10667228"/>
                  </a:cubicBezTo>
                  <a:lnTo>
                    <a:pt x="334267" y="10667228"/>
                  </a:lnTo>
                  <a:cubicBezTo>
                    <a:pt x="149657" y="10667228"/>
                    <a:pt x="0" y="10517571"/>
                    <a:pt x="0" y="10332961"/>
                  </a:cubicBezTo>
                  <a:lnTo>
                    <a:pt x="0" y="334267"/>
                  </a:lnTo>
                  <a:cubicBezTo>
                    <a:pt x="0" y="149657"/>
                    <a:pt x="149657" y="0"/>
                    <a:pt x="334267" y="0"/>
                  </a:cubicBezTo>
                  <a:close/>
                </a:path>
              </a:pathLst>
            </a:custGeom>
            <a:blipFill>
              <a:blip r:embed="rId5"/>
              <a:stretch>
                <a:fillRect l="-75532" r="-75536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857707" y="952500"/>
            <a:ext cx="16573500" cy="399627"/>
            <a:chOff x="0" y="0"/>
            <a:chExt cx="22098000" cy="53283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098000" cy="532835"/>
            </a:xfrm>
            <a:custGeom>
              <a:avLst/>
              <a:gdLst/>
              <a:ahLst/>
              <a:cxnLst/>
              <a:rect l="l" t="t" r="r" b="b"/>
              <a:pathLst>
                <a:path w="22098000" h="532835">
                  <a:moveTo>
                    <a:pt x="0" y="0"/>
                  </a:moveTo>
                  <a:lnTo>
                    <a:pt x="22098000" y="0"/>
                  </a:lnTo>
                  <a:lnTo>
                    <a:pt x="22098000" y="532835"/>
                  </a:lnTo>
                  <a:lnTo>
                    <a:pt x="0" y="53283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777089" b="-739097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22098000" cy="5423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346">
                  <a:solidFill>
                    <a:srgbClr val="C5A880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CREDIBILITY &amp; SCIENTIFIC LANGUAGE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57707" y="1428750"/>
            <a:ext cx="16573500" cy="1389168"/>
            <a:chOff x="0" y="0"/>
            <a:chExt cx="22098000" cy="185222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098000" cy="1852225"/>
            </a:xfrm>
            <a:custGeom>
              <a:avLst/>
              <a:gdLst/>
              <a:ahLst/>
              <a:cxnLst/>
              <a:rect l="l" t="t" r="r" b="b"/>
              <a:pathLst>
                <a:path w="22098000" h="1852225">
                  <a:moveTo>
                    <a:pt x="0" y="0"/>
                  </a:moveTo>
                  <a:lnTo>
                    <a:pt x="22098000" y="0"/>
                  </a:lnTo>
                  <a:lnTo>
                    <a:pt x="22098000" y="1852225"/>
                  </a:lnTo>
                  <a:lnTo>
                    <a:pt x="0" y="185222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10514" b="-154418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22098000" cy="18617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399"/>
                </a:lnSpc>
              </a:pPr>
              <a:r>
                <a:rPr lang="en-US" sz="6999" b="1">
                  <a:solidFill>
                    <a:srgbClr val="F3F4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약속을 지키는 책임과 사실 기반의 언어 품격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57707" y="2857500"/>
            <a:ext cx="16573500" cy="399627"/>
            <a:chOff x="0" y="0"/>
            <a:chExt cx="22098000" cy="53283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098000" cy="532836"/>
            </a:xfrm>
            <a:custGeom>
              <a:avLst/>
              <a:gdLst/>
              <a:ahLst/>
              <a:cxnLst/>
              <a:rect l="l" t="t" r="r" b="b"/>
              <a:pathLst>
                <a:path w="22098000" h="532836">
                  <a:moveTo>
                    <a:pt x="0" y="0"/>
                  </a:moveTo>
                  <a:lnTo>
                    <a:pt x="22098000" y="0"/>
                  </a:lnTo>
                  <a:lnTo>
                    <a:pt x="22098000" y="532836"/>
                  </a:lnTo>
                  <a:lnTo>
                    <a:pt x="0" y="53283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766333" b="-749850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22098000" cy="5423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과장된 기적의 광고를 걷어내고 정주영식 절대적 신용과 과학적 원리로 신뢰의 기둥을 세우는 법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26385" y="4842810"/>
            <a:ext cx="6954012" cy="490008"/>
            <a:chOff x="0" y="0"/>
            <a:chExt cx="9272016" cy="65334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272016" cy="653344"/>
            </a:xfrm>
            <a:custGeom>
              <a:avLst/>
              <a:gdLst/>
              <a:ahLst/>
              <a:cxnLst/>
              <a:rect l="l" t="t" r="r" b="b"/>
              <a:pathLst>
                <a:path w="9272016" h="653344">
                  <a:moveTo>
                    <a:pt x="0" y="0"/>
                  </a:moveTo>
                  <a:lnTo>
                    <a:pt x="9272016" y="0"/>
                  </a:lnTo>
                  <a:lnTo>
                    <a:pt x="9272016" y="653344"/>
                  </a:lnTo>
                  <a:lnTo>
                    <a:pt x="0" y="65334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31738" b="-22131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9272016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3F4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정주영 회장과 고령교 교각 유실의 기적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26385" y="5628094"/>
            <a:ext cx="6954012" cy="1105510"/>
            <a:chOff x="0" y="0"/>
            <a:chExt cx="9272016" cy="147401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272016" cy="1474014"/>
            </a:xfrm>
            <a:custGeom>
              <a:avLst/>
              <a:gdLst/>
              <a:ahLst/>
              <a:cxnLst/>
              <a:rect l="l" t="t" r="r" b="b"/>
              <a:pathLst>
                <a:path w="9272016" h="1474014">
                  <a:moveTo>
                    <a:pt x="0" y="0"/>
                  </a:moveTo>
                  <a:lnTo>
                    <a:pt x="9272016" y="0"/>
                  </a:lnTo>
                  <a:lnTo>
                    <a:pt x="9272016" y="1474014"/>
                  </a:lnTo>
                  <a:lnTo>
                    <a:pt x="0" y="147401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72567" b="-72567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9272016" cy="14835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1953년, 극심한 인플레이션으로 물가가 20배 폭등하고 교각이 유실되며 자금난에 직면했던 낙동강 고령교 현장. 정주영 회장은 가산을 다 정리해 막대한 손해를 감수하면서 공사를 마쳤습니다.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26385" y="6867030"/>
            <a:ext cx="6954012" cy="734263"/>
            <a:chOff x="0" y="0"/>
            <a:chExt cx="9272016" cy="97901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272016" cy="979017"/>
            </a:xfrm>
            <a:custGeom>
              <a:avLst/>
              <a:gdLst/>
              <a:ahLst/>
              <a:cxnLst/>
              <a:rect l="l" t="t" r="r" b="b"/>
              <a:pathLst>
                <a:path w="9272016" h="979017">
                  <a:moveTo>
                    <a:pt x="0" y="0"/>
                  </a:moveTo>
                  <a:lnTo>
                    <a:pt x="9272016" y="0"/>
                  </a:lnTo>
                  <a:lnTo>
                    <a:pt x="9272016" y="979017"/>
                  </a:lnTo>
                  <a:lnTo>
                    <a:pt x="0" y="97901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34537" b="-134537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9272016" cy="9885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"정주영은 적자를 보더라도 약속한 기일은 목숨 걸고 지킨다"는 절대적인 </a:t>
              </a:r>
              <a:r>
                <a:rPr lang="en-US" sz="1800" b="1">
                  <a:solidFill>
                    <a:srgbClr val="9CA3AF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신용의 씨앗</a:t>
              </a: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이 훗날 거대 현대를 도약시키는 근원적 힘이 되었습니다.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26385" y="4031079"/>
            <a:ext cx="3238500" cy="514350"/>
            <a:chOff x="0" y="0"/>
            <a:chExt cx="4318000" cy="685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318013" cy="685644"/>
            </a:xfrm>
            <a:custGeom>
              <a:avLst/>
              <a:gdLst/>
              <a:ahLst/>
              <a:cxnLst/>
              <a:rect l="l" t="t" r="r" b="b"/>
              <a:pathLst>
                <a:path w="4318013" h="685644">
                  <a:moveTo>
                    <a:pt x="0" y="72677"/>
                  </a:moveTo>
                  <a:cubicBezTo>
                    <a:pt x="0" y="32592"/>
                    <a:pt x="36652" y="0"/>
                    <a:pt x="81731" y="0"/>
                  </a:cubicBezTo>
                  <a:lnTo>
                    <a:pt x="4236289" y="0"/>
                  </a:lnTo>
                  <a:cubicBezTo>
                    <a:pt x="4281368" y="0"/>
                    <a:pt x="4318013" y="32592"/>
                    <a:pt x="4318013" y="72677"/>
                  </a:cubicBezTo>
                  <a:lnTo>
                    <a:pt x="4318013" y="612966"/>
                  </a:lnTo>
                  <a:cubicBezTo>
                    <a:pt x="4318013" y="653052"/>
                    <a:pt x="4281368" y="685643"/>
                    <a:pt x="4236289" y="685643"/>
                  </a:cubicBezTo>
                  <a:lnTo>
                    <a:pt x="81731" y="685643"/>
                  </a:lnTo>
                  <a:cubicBezTo>
                    <a:pt x="36652" y="685813"/>
                    <a:pt x="0" y="653226"/>
                    <a:pt x="0" y="613140"/>
                  </a:cubicBezTo>
                  <a:close/>
                </a:path>
              </a:pathLst>
            </a:custGeom>
            <a:solidFill>
              <a:srgbClr val="C5A880">
                <a:alpha val="784"/>
              </a:srgbClr>
            </a:solidFill>
            <a:ln w="12700" cap="sq">
              <a:solidFill>
                <a:srgbClr val="C5A880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1536047" y="4107203"/>
            <a:ext cx="2819176" cy="362102"/>
            <a:chOff x="0" y="0"/>
            <a:chExt cx="3758901" cy="48280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758902" cy="482802"/>
            </a:xfrm>
            <a:custGeom>
              <a:avLst/>
              <a:gdLst/>
              <a:ahLst/>
              <a:cxnLst/>
              <a:rect l="l" t="t" r="r" b="b"/>
              <a:pathLst>
                <a:path w="3758902" h="482802">
                  <a:moveTo>
                    <a:pt x="0" y="0"/>
                  </a:moveTo>
                  <a:lnTo>
                    <a:pt x="3758902" y="0"/>
                  </a:lnTo>
                  <a:lnTo>
                    <a:pt x="3758902" y="482802"/>
                  </a:lnTo>
                  <a:lnTo>
                    <a:pt x="0" y="48280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62285" r="25983" b="-62285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3758901" cy="4923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C5A880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INTEGRITY CASE STUDY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982048" y="4842810"/>
            <a:ext cx="6954012" cy="490008"/>
            <a:chOff x="0" y="0"/>
            <a:chExt cx="9272016" cy="65334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272016" cy="653344"/>
            </a:xfrm>
            <a:custGeom>
              <a:avLst/>
              <a:gdLst/>
              <a:ahLst/>
              <a:cxnLst/>
              <a:rect l="l" t="t" r="r" b="b"/>
              <a:pathLst>
                <a:path w="9272016" h="653344">
                  <a:moveTo>
                    <a:pt x="0" y="0"/>
                  </a:moveTo>
                  <a:lnTo>
                    <a:pt x="9272016" y="0"/>
                  </a:lnTo>
                  <a:lnTo>
                    <a:pt x="9272016" y="653344"/>
                  </a:lnTo>
                  <a:lnTo>
                    <a:pt x="0" y="65334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31738" b="-221310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9272016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3F4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과장 마케팅 탈피: "이거 먹으면 다 낫는다"?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982048" y="5537530"/>
            <a:ext cx="6954012" cy="1286637"/>
            <a:chOff x="0" y="0"/>
            <a:chExt cx="9272016" cy="171551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272016" cy="1715516"/>
            </a:xfrm>
            <a:custGeom>
              <a:avLst/>
              <a:gdLst/>
              <a:ahLst/>
              <a:cxnLst/>
              <a:rect l="l" t="t" r="r" b="b"/>
              <a:pathLst>
                <a:path w="9272016" h="1715516">
                  <a:moveTo>
                    <a:pt x="0" y="0"/>
                  </a:moveTo>
                  <a:lnTo>
                    <a:pt x="9272016" y="0"/>
                  </a:lnTo>
                  <a:lnTo>
                    <a:pt x="9272016" y="1715516"/>
                  </a:lnTo>
                  <a:lnTo>
                    <a:pt x="0" y="171551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48279" b="-62345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9272016" cy="17250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"우리 몸의 모든 장기는 세포로 완벽히 이루어져 있으며, 세포는 매초 손상과 재생을 무한 반복합니다. 그래서 몸에 유익한 최적의 고부가가치 영양소를 어떤 형태로, 얼마나 효율적으로 전달하느냐가 건강 관리의 본질적 승부처입니다."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982048" y="7225017"/>
            <a:ext cx="6953098" cy="9144"/>
            <a:chOff x="0" y="0"/>
            <a:chExt cx="9270797" cy="12192"/>
          </a:xfrm>
        </p:grpSpPr>
        <p:sp>
          <p:nvSpPr>
            <p:cNvPr id="38" name="Freeform 38" descr="gen-dedup-5bb726e4d507407fe6afe1dd31057ef2.png"/>
            <p:cNvSpPr/>
            <p:nvPr/>
          </p:nvSpPr>
          <p:spPr>
            <a:xfrm>
              <a:off x="0" y="0"/>
              <a:ext cx="9270746" cy="12192"/>
            </a:xfrm>
            <a:custGeom>
              <a:avLst/>
              <a:gdLst/>
              <a:ahLst/>
              <a:cxnLst/>
              <a:rect l="l" t="t" r="r" b="b"/>
              <a:pathLst>
                <a:path w="9270746" h="12192">
                  <a:moveTo>
                    <a:pt x="0" y="0"/>
                  </a:moveTo>
                  <a:lnTo>
                    <a:pt x="9270746" y="0"/>
                  </a:lnTo>
                  <a:lnTo>
                    <a:pt x="9270746" y="12192"/>
                  </a:lnTo>
                  <a:lnTo>
                    <a:pt x="0" y="12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1999" r="1997"/>
              </a:stretch>
            </a:blipFill>
          </p:spPr>
        </p:sp>
      </p:grpSp>
      <p:grpSp>
        <p:nvGrpSpPr>
          <p:cNvPr id="39" name="Group 39"/>
          <p:cNvGrpSpPr/>
          <p:nvPr/>
        </p:nvGrpSpPr>
        <p:grpSpPr>
          <a:xfrm>
            <a:off x="9982048" y="6867030"/>
            <a:ext cx="6954012" cy="943661"/>
            <a:chOff x="0" y="0"/>
            <a:chExt cx="9272016" cy="1258215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272016" cy="1258215"/>
            </a:xfrm>
            <a:custGeom>
              <a:avLst/>
              <a:gdLst/>
              <a:ahLst/>
              <a:cxnLst/>
              <a:rect l="l" t="t" r="r" b="b"/>
              <a:pathLst>
                <a:path w="9272016" h="1258215">
                  <a:moveTo>
                    <a:pt x="0" y="0"/>
                  </a:moveTo>
                  <a:lnTo>
                    <a:pt x="9272016" y="0"/>
                  </a:lnTo>
                  <a:lnTo>
                    <a:pt x="9272016" y="1258215"/>
                  </a:lnTo>
                  <a:lnTo>
                    <a:pt x="0" y="125821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3588" b="-93588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9272016" cy="1267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3B82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🧪 지식의 지평: 자신이 무엇을 모르는지도 모른 채 목에 힘주는 얕음을 멀리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3B82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       하고, 정직한 과학적 사실과 인체 메커니즘을 학습해 차분히 원리를 일깨워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3B82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       신뢰를 확보해야 합니다.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982048" y="4031079"/>
            <a:ext cx="3619500" cy="514350"/>
            <a:chOff x="0" y="0"/>
            <a:chExt cx="4826000" cy="685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825858" cy="685644"/>
            </a:xfrm>
            <a:custGeom>
              <a:avLst/>
              <a:gdLst/>
              <a:ahLst/>
              <a:cxnLst/>
              <a:rect l="l" t="t" r="r" b="b"/>
              <a:pathLst>
                <a:path w="4825858" h="685644">
                  <a:moveTo>
                    <a:pt x="0" y="72677"/>
                  </a:moveTo>
                  <a:cubicBezTo>
                    <a:pt x="0" y="32592"/>
                    <a:pt x="37862" y="0"/>
                    <a:pt x="84430" y="0"/>
                  </a:cubicBezTo>
                  <a:lnTo>
                    <a:pt x="4741428" y="0"/>
                  </a:lnTo>
                  <a:cubicBezTo>
                    <a:pt x="4787997" y="0"/>
                    <a:pt x="4825858" y="32592"/>
                    <a:pt x="4825858" y="72677"/>
                  </a:cubicBezTo>
                  <a:lnTo>
                    <a:pt x="4825858" y="612966"/>
                  </a:lnTo>
                  <a:cubicBezTo>
                    <a:pt x="4825858" y="653052"/>
                    <a:pt x="4787997" y="685643"/>
                    <a:pt x="4741428" y="685643"/>
                  </a:cubicBezTo>
                  <a:lnTo>
                    <a:pt x="84430" y="685643"/>
                  </a:lnTo>
                  <a:cubicBezTo>
                    <a:pt x="37862" y="685813"/>
                    <a:pt x="0" y="653226"/>
                    <a:pt x="0" y="613140"/>
                  </a:cubicBezTo>
                  <a:close/>
                </a:path>
              </a:pathLst>
            </a:custGeom>
            <a:solidFill>
              <a:srgbClr val="3B82F6">
                <a:alpha val="784"/>
              </a:srgbClr>
            </a:solidFill>
            <a:ln w="12700" cap="sq">
              <a:solidFill>
                <a:srgbClr val="3B82F6"/>
              </a:solidFill>
              <a:prstDash val="solid"/>
              <a:miter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10193206" y="4107203"/>
            <a:ext cx="3197184" cy="362102"/>
            <a:chOff x="0" y="0"/>
            <a:chExt cx="4262912" cy="482803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262913" cy="482802"/>
            </a:xfrm>
            <a:custGeom>
              <a:avLst/>
              <a:gdLst/>
              <a:ahLst/>
              <a:cxnLst/>
              <a:rect l="l" t="t" r="r" b="b"/>
              <a:pathLst>
                <a:path w="4262913" h="482802">
                  <a:moveTo>
                    <a:pt x="0" y="0"/>
                  </a:moveTo>
                  <a:lnTo>
                    <a:pt x="4262913" y="0"/>
                  </a:lnTo>
                  <a:lnTo>
                    <a:pt x="4262913" y="482802"/>
                  </a:lnTo>
                  <a:lnTo>
                    <a:pt x="0" y="48280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71486" r="29386" b="-71486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4262912" cy="4923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3B82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SCIENTIFIC EXPLANATION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57250" y="8667750"/>
            <a:ext cx="16954195" cy="1134499"/>
            <a:chOff x="0" y="0"/>
            <a:chExt cx="22605594" cy="1512665"/>
          </a:xfrm>
        </p:grpSpPr>
        <p:grpSp>
          <p:nvGrpSpPr>
            <p:cNvPr id="48" name="Group 48"/>
            <p:cNvGrpSpPr/>
            <p:nvPr/>
          </p:nvGrpSpPr>
          <p:grpSpPr>
            <a:xfrm>
              <a:off x="533197" y="0"/>
              <a:ext cx="22072397" cy="1512665"/>
              <a:chOff x="0" y="0"/>
              <a:chExt cx="4359980" cy="298798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4359980" cy="298798"/>
              </a:xfrm>
              <a:custGeom>
                <a:avLst/>
                <a:gdLst/>
                <a:ahLst/>
                <a:cxnLst/>
                <a:rect l="l" t="t" r="r" b="b"/>
                <a:pathLst>
                  <a:path w="4359980" h="298798">
                    <a:moveTo>
                      <a:pt x="0" y="0"/>
                    </a:moveTo>
                    <a:lnTo>
                      <a:pt x="4359980" y="0"/>
                    </a:lnTo>
                    <a:lnTo>
                      <a:pt x="4359980" y="298798"/>
                    </a:lnTo>
                    <a:lnTo>
                      <a:pt x="0" y="298798"/>
                    </a:lnTo>
                    <a:close/>
                  </a:path>
                </a:pathLst>
              </a:custGeom>
              <a:solidFill>
                <a:srgbClr val="3B3B3B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0" y="-9525"/>
                <a:ext cx="4359980" cy="3083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51" name="AutoShape 51"/>
            <p:cNvSpPr/>
            <p:nvPr/>
          </p:nvSpPr>
          <p:spPr>
            <a:xfrm>
              <a:off x="635000" y="0"/>
              <a:ext cx="0" cy="1512665"/>
            </a:xfrm>
            <a:prstGeom prst="line">
              <a:avLst/>
            </a:prstGeom>
            <a:ln w="1270000" cap="flat">
              <a:solidFill>
                <a:srgbClr val="EF44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02387" y="194450"/>
              <a:ext cx="2772776" cy="1140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FFFFFF"/>
                  </a:solidFill>
                  <a:latin typeface="Paperlogy Medium"/>
                  <a:ea typeface="Paperlogy Medium"/>
                  <a:cs typeface="Paperlogy Medium"/>
                  <a:sym typeface="Paperlogy Medium"/>
                </a:rPr>
                <a:t>L.REMETTRE Core Ethos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565342" y="8989995"/>
            <a:ext cx="12027141" cy="490008"/>
            <a:chOff x="0" y="0"/>
            <a:chExt cx="16036187" cy="653344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6036186" cy="653343"/>
            </a:xfrm>
            <a:custGeom>
              <a:avLst/>
              <a:gdLst/>
              <a:ahLst/>
              <a:cxnLst/>
              <a:rect l="l" t="t" r="r" b="b"/>
              <a:pathLst>
                <a:path w="16036186" h="653343">
                  <a:moveTo>
                    <a:pt x="0" y="0"/>
                  </a:moveTo>
                  <a:lnTo>
                    <a:pt x="16036186" y="0"/>
                  </a:lnTo>
                  <a:lnTo>
                    <a:pt x="16036186" y="653343"/>
                  </a:lnTo>
                  <a:lnTo>
                    <a:pt x="0" y="65334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375084" r="16285" b="-325655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16036187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FFFFF"/>
                  </a:solidFill>
                  <a:latin typeface="Paperlogy Medium"/>
                  <a:ea typeface="Paperlogy Medium"/>
                  <a:cs typeface="Paperlogy Medium"/>
                  <a:sym typeface="Paperlogy Medium"/>
                </a:rPr>
                <a:t>"무책임한 과장과 요행을 부리는 비즈니스는 즉시 모래성처럼 자취를 감추고 완전히 붕괴됩니다."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707" y="761695"/>
            <a:ext cx="16573500" cy="19202"/>
            <a:chOff x="0" y="0"/>
            <a:chExt cx="22098000" cy="25603"/>
          </a:xfrm>
        </p:grpSpPr>
        <p:sp>
          <p:nvSpPr>
            <p:cNvPr id="3" name="Freeform 3" descr="gen-dedup-8e155934e3e6c9b01e275e9a352dafea.png"/>
            <p:cNvSpPr/>
            <p:nvPr/>
          </p:nvSpPr>
          <p:spPr>
            <a:xfrm>
              <a:off x="0" y="0"/>
              <a:ext cx="22098000" cy="25654"/>
            </a:xfrm>
            <a:custGeom>
              <a:avLst/>
              <a:gdLst/>
              <a:ahLst/>
              <a:cxnLst/>
              <a:rect l="l" t="t" r="r" b="b"/>
              <a:pathLst>
                <a:path w="22098000" h="25654">
                  <a:moveTo>
                    <a:pt x="0" y="0"/>
                  </a:moveTo>
                  <a:lnTo>
                    <a:pt x="22098000" y="0"/>
                  </a:lnTo>
                  <a:lnTo>
                    <a:pt x="22098000" y="25654"/>
                  </a:lnTo>
                  <a:lnTo>
                    <a:pt x="0" y="2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396" r="-10342" b="59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707" y="3448202"/>
            <a:ext cx="7972654" cy="4842843"/>
            <a:chOff x="0" y="0"/>
            <a:chExt cx="10630205" cy="6457124"/>
          </a:xfrm>
        </p:grpSpPr>
        <p:sp>
          <p:nvSpPr>
            <p:cNvPr id="5" name="Freeform 5" descr="gen-dedup-4cc0b267fcf057a68787bb8faeafcb52.png"/>
            <p:cNvSpPr/>
            <p:nvPr/>
          </p:nvSpPr>
          <p:spPr>
            <a:xfrm>
              <a:off x="0" y="0"/>
              <a:ext cx="10630154" cy="6457149"/>
            </a:xfrm>
            <a:custGeom>
              <a:avLst/>
              <a:gdLst/>
              <a:ahLst/>
              <a:cxnLst/>
              <a:rect l="l" t="t" r="r" b="b"/>
              <a:pathLst>
                <a:path w="10630154" h="6457149">
                  <a:moveTo>
                    <a:pt x="190500" y="0"/>
                  </a:moveTo>
                  <a:lnTo>
                    <a:pt x="10439654" y="0"/>
                  </a:lnTo>
                  <a:cubicBezTo>
                    <a:pt x="10544865" y="0"/>
                    <a:pt x="10630154" y="85290"/>
                    <a:pt x="10630154" y="190500"/>
                  </a:cubicBezTo>
                  <a:lnTo>
                    <a:pt x="10630154" y="6266649"/>
                  </a:lnTo>
                  <a:cubicBezTo>
                    <a:pt x="10630154" y="6371860"/>
                    <a:pt x="10544865" y="6457149"/>
                    <a:pt x="10439654" y="6457149"/>
                  </a:cubicBezTo>
                  <a:lnTo>
                    <a:pt x="190500" y="6457149"/>
                  </a:lnTo>
                  <a:cubicBezTo>
                    <a:pt x="139976" y="6457149"/>
                    <a:pt x="91522" y="6437079"/>
                    <a:pt x="55796" y="6401353"/>
                  </a:cubicBezTo>
                  <a:cubicBezTo>
                    <a:pt x="20070" y="6365627"/>
                    <a:pt x="0" y="6317173"/>
                    <a:pt x="0" y="6266649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blipFill>
              <a:blip r:embed="rId4"/>
              <a:stretch>
                <a:fillRect t="-7235" b="-7236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-5400000">
            <a:off x="11170012" y="1919270"/>
            <a:ext cx="4875581" cy="7933446"/>
            <a:chOff x="0" y="0"/>
            <a:chExt cx="6500775" cy="10577928"/>
          </a:xfrm>
        </p:grpSpPr>
        <p:sp>
          <p:nvSpPr>
            <p:cNvPr id="7" name="Freeform 7" descr="gen-dedup-235dea340c86b80c5369b82d182baed0.png"/>
            <p:cNvSpPr/>
            <p:nvPr/>
          </p:nvSpPr>
          <p:spPr>
            <a:xfrm>
              <a:off x="0" y="0"/>
              <a:ext cx="6500759" cy="10577928"/>
            </a:xfrm>
            <a:custGeom>
              <a:avLst/>
              <a:gdLst/>
              <a:ahLst/>
              <a:cxnLst/>
              <a:rect l="l" t="t" r="r" b="b"/>
              <a:pathLst>
                <a:path w="6500759" h="10577928">
                  <a:moveTo>
                    <a:pt x="309652" y="0"/>
                  </a:moveTo>
                  <a:lnTo>
                    <a:pt x="6191107" y="0"/>
                  </a:lnTo>
                  <a:cubicBezTo>
                    <a:pt x="6362123" y="0"/>
                    <a:pt x="6500759" y="138636"/>
                    <a:pt x="6500759" y="309652"/>
                  </a:cubicBezTo>
                  <a:lnTo>
                    <a:pt x="6500759" y="10268276"/>
                  </a:lnTo>
                  <a:cubicBezTo>
                    <a:pt x="6500759" y="10439292"/>
                    <a:pt x="6362123" y="10577928"/>
                    <a:pt x="6191107" y="10577928"/>
                  </a:cubicBezTo>
                  <a:lnTo>
                    <a:pt x="309652" y="10577928"/>
                  </a:lnTo>
                  <a:cubicBezTo>
                    <a:pt x="138636" y="10577928"/>
                    <a:pt x="0" y="10439292"/>
                    <a:pt x="0" y="10268276"/>
                  </a:cubicBezTo>
                  <a:lnTo>
                    <a:pt x="0" y="309652"/>
                  </a:lnTo>
                  <a:cubicBezTo>
                    <a:pt x="0" y="138636"/>
                    <a:pt x="138636" y="0"/>
                    <a:pt x="309652" y="0"/>
                  </a:cubicBezTo>
                  <a:close/>
                </a:path>
              </a:pathLst>
            </a:custGeom>
            <a:blipFill>
              <a:blip r:embed="rId5"/>
              <a:stretch>
                <a:fillRect l="-65315" r="-6531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857707" y="952500"/>
            <a:ext cx="16573500" cy="399627"/>
            <a:chOff x="0" y="0"/>
            <a:chExt cx="22098000" cy="53283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098000" cy="532835"/>
            </a:xfrm>
            <a:custGeom>
              <a:avLst/>
              <a:gdLst/>
              <a:ahLst/>
              <a:cxnLst/>
              <a:rect l="l" t="t" r="r" b="b"/>
              <a:pathLst>
                <a:path w="22098000" h="532835">
                  <a:moveTo>
                    <a:pt x="0" y="0"/>
                  </a:moveTo>
                  <a:lnTo>
                    <a:pt x="22098000" y="0"/>
                  </a:lnTo>
                  <a:lnTo>
                    <a:pt x="22098000" y="532835"/>
                  </a:lnTo>
                  <a:lnTo>
                    <a:pt x="0" y="53283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777089" b="-739097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22098000" cy="5423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346">
                  <a:solidFill>
                    <a:srgbClr val="C5A880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EPILOGUE — LEARNING &amp; COMPASSION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57707" y="1428750"/>
            <a:ext cx="16573500" cy="1389168"/>
            <a:chOff x="0" y="0"/>
            <a:chExt cx="22098000" cy="185222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098000" cy="1852225"/>
            </a:xfrm>
            <a:custGeom>
              <a:avLst/>
              <a:gdLst/>
              <a:ahLst/>
              <a:cxnLst/>
              <a:rect l="l" t="t" r="r" b="b"/>
              <a:pathLst>
                <a:path w="22098000" h="1852225">
                  <a:moveTo>
                    <a:pt x="0" y="0"/>
                  </a:moveTo>
                  <a:lnTo>
                    <a:pt x="22098000" y="0"/>
                  </a:lnTo>
                  <a:lnTo>
                    <a:pt x="22098000" y="1852225"/>
                  </a:lnTo>
                  <a:lnTo>
                    <a:pt x="0" y="185222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10514" b="-154418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22098000" cy="18617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399"/>
                </a:lnSpc>
              </a:pPr>
              <a:r>
                <a:rPr lang="en-US" sz="6999" b="1">
                  <a:solidFill>
                    <a:srgbClr val="F3F4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인생을 바꾸는 숭고한 도구, 끊임없는 배움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57707" y="2857500"/>
            <a:ext cx="16573500" cy="390101"/>
            <a:chOff x="0" y="0"/>
            <a:chExt cx="22098000" cy="52013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098000" cy="520135"/>
            </a:xfrm>
            <a:custGeom>
              <a:avLst/>
              <a:gdLst/>
              <a:ahLst/>
              <a:cxnLst/>
              <a:rect l="l" t="t" r="r" b="b"/>
              <a:pathLst>
                <a:path w="22098000" h="520135">
                  <a:moveTo>
                    <a:pt x="0" y="0"/>
                  </a:moveTo>
                  <a:lnTo>
                    <a:pt x="22098000" y="0"/>
                  </a:lnTo>
                  <a:lnTo>
                    <a:pt x="22098000" y="520135"/>
                  </a:lnTo>
                  <a:lnTo>
                    <a:pt x="0" y="52013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785045" b="-770601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22098000" cy="529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나이를 핑계로 멈추는 배움을 부끄러워하고, 공감의 언어로 마음의 빗장을 여는 마지막 한 걸음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33195" y="4682753"/>
            <a:ext cx="6954012" cy="490008"/>
            <a:chOff x="0" y="0"/>
            <a:chExt cx="9272016" cy="65334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272016" cy="653344"/>
            </a:xfrm>
            <a:custGeom>
              <a:avLst/>
              <a:gdLst/>
              <a:ahLst/>
              <a:cxnLst/>
              <a:rect l="l" t="t" r="r" b="b"/>
              <a:pathLst>
                <a:path w="9272016" h="653344">
                  <a:moveTo>
                    <a:pt x="0" y="0"/>
                  </a:moveTo>
                  <a:lnTo>
                    <a:pt x="9272016" y="0"/>
                  </a:lnTo>
                  <a:lnTo>
                    <a:pt x="9272016" y="653344"/>
                  </a:lnTo>
                  <a:lnTo>
                    <a:pt x="0" y="65334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31738" b="-22131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9272016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3F4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전답을 팔아 자식 학비를 대던 부모님의 눈물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67028" y="5143500"/>
            <a:ext cx="6954012" cy="1828800"/>
            <a:chOff x="0" y="0"/>
            <a:chExt cx="9272016" cy="2438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272016" cy="2438400"/>
            </a:xfrm>
            <a:custGeom>
              <a:avLst/>
              <a:gdLst/>
              <a:ahLst/>
              <a:cxnLst/>
              <a:rect l="l" t="t" r="r" b="b"/>
              <a:pathLst>
                <a:path w="9272016" h="2438400">
                  <a:moveTo>
                    <a:pt x="0" y="0"/>
                  </a:moveTo>
                  <a:lnTo>
                    <a:pt x="9272016" y="0"/>
                  </a:lnTo>
                  <a:lnTo>
                    <a:pt x="9272016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4091" b="-24091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9272016" cy="2447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한 성공한 전문가는 비즈니스로 번 소득 대부분을 스물일곱 가지 배움 코스를 수료하는 데 아낌없이 투자했습니다. 과거 가난한 시절, 우리의 부모님들은 자신은 비록 배우지 못했을지언정 전답을 다 팔아 피눈물 나는 학비를 댔습니다. </a:t>
              </a:r>
              <a:r>
                <a:rPr lang="en-US" sz="1800" b="1">
                  <a:solidFill>
                    <a:srgbClr val="9CA3AF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배움이야말로 인생을 바꾸는 가장 숭고한 도구</a:t>
              </a: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임을 이미 알고 계셨던 것입니다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33195" y="7239305"/>
            <a:ext cx="6953098" cy="9144"/>
            <a:chOff x="0" y="0"/>
            <a:chExt cx="9270797" cy="12192"/>
          </a:xfrm>
        </p:grpSpPr>
        <p:sp>
          <p:nvSpPr>
            <p:cNvPr id="24" name="Freeform 24" descr="gen-dedup-5bb726e4d507407fe6afe1dd31057ef2.png"/>
            <p:cNvSpPr/>
            <p:nvPr/>
          </p:nvSpPr>
          <p:spPr>
            <a:xfrm>
              <a:off x="0" y="0"/>
              <a:ext cx="9270746" cy="12192"/>
            </a:xfrm>
            <a:custGeom>
              <a:avLst/>
              <a:gdLst/>
              <a:ahLst/>
              <a:cxnLst/>
              <a:rect l="l" t="t" r="r" b="b"/>
              <a:pathLst>
                <a:path w="9270746" h="12192">
                  <a:moveTo>
                    <a:pt x="0" y="0"/>
                  </a:moveTo>
                  <a:lnTo>
                    <a:pt x="9270746" y="0"/>
                  </a:lnTo>
                  <a:lnTo>
                    <a:pt x="9270746" y="12192"/>
                  </a:lnTo>
                  <a:lnTo>
                    <a:pt x="0" y="12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1999" r="1997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1333195" y="7324649"/>
            <a:ext cx="6954012" cy="618744"/>
            <a:chOff x="0" y="0"/>
            <a:chExt cx="9272016" cy="82499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272016" cy="824992"/>
            </a:xfrm>
            <a:custGeom>
              <a:avLst/>
              <a:gdLst/>
              <a:ahLst/>
              <a:cxnLst/>
              <a:rect l="l" t="t" r="r" b="b"/>
              <a:pathLst>
                <a:path w="9272016" h="824992">
                  <a:moveTo>
                    <a:pt x="0" y="0"/>
                  </a:moveTo>
                  <a:lnTo>
                    <a:pt x="9272016" y="0"/>
                  </a:lnTo>
                  <a:lnTo>
                    <a:pt x="9272016" y="824992"/>
                  </a:lnTo>
                  <a:lnTo>
                    <a:pt x="0" y="8249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69704" b="-168276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9272016" cy="8345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C5A880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더욱 풍요로운 시대를 살아가며 나이를 핑계로 배움을 멈추는 것만큼 게으르고 부끄러운 일은 없습니다.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333195" y="3791179"/>
            <a:ext cx="3810000" cy="514350"/>
            <a:chOff x="0" y="0"/>
            <a:chExt cx="5080000" cy="685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079897" cy="685644"/>
            </a:xfrm>
            <a:custGeom>
              <a:avLst/>
              <a:gdLst/>
              <a:ahLst/>
              <a:cxnLst/>
              <a:rect l="l" t="t" r="r" b="b"/>
              <a:pathLst>
                <a:path w="5079897" h="685644">
                  <a:moveTo>
                    <a:pt x="0" y="72677"/>
                  </a:moveTo>
                  <a:cubicBezTo>
                    <a:pt x="0" y="32592"/>
                    <a:pt x="38716" y="0"/>
                    <a:pt x="86335" y="0"/>
                  </a:cubicBezTo>
                  <a:lnTo>
                    <a:pt x="4993561" y="0"/>
                  </a:lnTo>
                  <a:cubicBezTo>
                    <a:pt x="5041180" y="0"/>
                    <a:pt x="5079897" y="32592"/>
                    <a:pt x="5079897" y="72677"/>
                  </a:cubicBezTo>
                  <a:lnTo>
                    <a:pt x="5079897" y="612966"/>
                  </a:lnTo>
                  <a:cubicBezTo>
                    <a:pt x="5079897" y="653052"/>
                    <a:pt x="5041180" y="685643"/>
                    <a:pt x="4993561" y="685643"/>
                  </a:cubicBezTo>
                  <a:lnTo>
                    <a:pt x="86335" y="685643"/>
                  </a:lnTo>
                  <a:cubicBezTo>
                    <a:pt x="38716" y="685813"/>
                    <a:pt x="0" y="653226"/>
                    <a:pt x="0" y="613140"/>
                  </a:cubicBezTo>
                  <a:close/>
                </a:path>
              </a:pathLst>
            </a:custGeom>
            <a:solidFill>
              <a:srgbClr val="C5A880">
                <a:alpha val="784"/>
              </a:srgbClr>
            </a:solidFill>
            <a:ln w="12700" cap="sq">
              <a:solidFill>
                <a:srgbClr val="C5A880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1606228" y="3867303"/>
            <a:ext cx="3263935" cy="362102"/>
            <a:chOff x="0" y="0"/>
            <a:chExt cx="4351914" cy="48280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351914" cy="482802"/>
            </a:xfrm>
            <a:custGeom>
              <a:avLst/>
              <a:gdLst/>
              <a:ahLst/>
              <a:cxnLst/>
              <a:rect l="l" t="t" r="r" b="b"/>
              <a:pathLst>
                <a:path w="4351914" h="482802">
                  <a:moveTo>
                    <a:pt x="0" y="0"/>
                  </a:moveTo>
                  <a:lnTo>
                    <a:pt x="4351914" y="0"/>
                  </a:lnTo>
                  <a:lnTo>
                    <a:pt x="4351914" y="482802"/>
                  </a:lnTo>
                  <a:lnTo>
                    <a:pt x="0" y="48280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75078" r="28785" b="-75078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4351914" cy="4923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C5A880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THE VALUE OF EDUCATION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145025" y="4682753"/>
            <a:ext cx="6954012" cy="490008"/>
            <a:chOff x="0" y="0"/>
            <a:chExt cx="9272016" cy="65334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272016" cy="653344"/>
            </a:xfrm>
            <a:custGeom>
              <a:avLst/>
              <a:gdLst/>
              <a:ahLst/>
              <a:cxnLst/>
              <a:rect l="l" t="t" r="r" b="b"/>
              <a:pathLst>
                <a:path w="9272016" h="653344">
                  <a:moveTo>
                    <a:pt x="0" y="0"/>
                  </a:moveTo>
                  <a:lnTo>
                    <a:pt x="9272016" y="0"/>
                  </a:lnTo>
                  <a:lnTo>
                    <a:pt x="9272016" y="653344"/>
                  </a:lnTo>
                  <a:lnTo>
                    <a:pt x="0" y="65334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31738" b="-221310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9272016" cy="66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3F4F6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리더십의 진짜 온도: "누구와 함께 오르는가"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130796" y="5323637"/>
            <a:ext cx="6954012" cy="734263"/>
            <a:chOff x="0" y="0"/>
            <a:chExt cx="9272016" cy="979017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272016" cy="979017"/>
            </a:xfrm>
            <a:custGeom>
              <a:avLst/>
              <a:gdLst/>
              <a:ahLst/>
              <a:cxnLst/>
              <a:rect l="l" t="t" r="r" b="b"/>
              <a:pathLst>
                <a:path w="9272016" h="979017">
                  <a:moveTo>
                    <a:pt x="0" y="0"/>
                  </a:moveTo>
                  <a:lnTo>
                    <a:pt x="9272016" y="0"/>
                  </a:lnTo>
                  <a:lnTo>
                    <a:pt x="9272016" y="979017"/>
                  </a:lnTo>
                  <a:lnTo>
                    <a:pt x="0" y="97901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34537" b="-134537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9272016" cy="9885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오늘부터 당신이 파트너에게 건네는 차가운 지시의 언어를 따뜻한 </a:t>
              </a:r>
              <a:r>
                <a:rPr lang="en-US" sz="1800" b="1">
                  <a:solidFill>
                    <a:srgbClr val="9CA3AF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공감과 수평적 파트너십의 언어</a:t>
              </a: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로 온전히 바꾸십시오.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145025" y="6080684"/>
            <a:ext cx="6954012" cy="1467612"/>
            <a:chOff x="0" y="0"/>
            <a:chExt cx="9272016" cy="195681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272016" cy="1956816"/>
            </a:xfrm>
            <a:custGeom>
              <a:avLst/>
              <a:gdLst/>
              <a:ahLst/>
              <a:cxnLst/>
              <a:rect l="l" t="t" r="r" b="b"/>
              <a:pathLst>
                <a:path w="9272016" h="1956816">
                  <a:moveTo>
                    <a:pt x="0" y="0"/>
                  </a:moveTo>
                  <a:lnTo>
                    <a:pt x="9272016" y="0"/>
                  </a:lnTo>
                  <a:lnTo>
                    <a:pt x="9272016" y="1956816"/>
                  </a:lnTo>
                  <a:lnTo>
                    <a:pt x="0" y="195681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42326" b="-42326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9272016" cy="19663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처음 마주했던 그 산, 혼자 앞서 올라간 이의 곁에는 아무도 없었으나 속도를 맞춰 함께 올라선 리더의 곁에는 다음 산을 정복할 든든한 동반자들이 가득 남았습니다. 결국 리더십은 속도가 아니라 </a:t>
              </a:r>
              <a:r>
                <a:rPr lang="en-US" sz="1800" b="1">
                  <a:solidFill>
                    <a:srgbClr val="9CA3AF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누구와 끝까지 함께 오르느냐</a:t>
              </a:r>
              <a:r>
                <a:rPr lang="en-US" sz="1800">
                  <a:solidFill>
                    <a:srgbClr val="9CA3AF"/>
                  </a:solidFill>
                  <a:latin typeface="Paperlogy"/>
                  <a:ea typeface="Paperlogy"/>
                  <a:cs typeface="Paperlogy"/>
                  <a:sym typeface="Paperlogy"/>
                </a:rPr>
                <a:t>의 문제입니다.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145025" y="7842809"/>
            <a:ext cx="6953098" cy="9144"/>
            <a:chOff x="0" y="0"/>
            <a:chExt cx="9270797" cy="12192"/>
          </a:xfrm>
        </p:grpSpPr>
        <p:sp>
          <p:nvSpPr>
            <p:cNvPr id="43" name="Freeform 43" descr="gen-dedup-5bb726e4d507407fe6afe1dd31057ef2.png"/>
            <p:cNvSpPr/>
            <p:nvPr/>
          </p:nvSpPr>
          <p:spPr>
            <a:xfrm>
              <a:off x="0" y="0"/>
              <a:ext cx="9270746" cy="12192"/>
            </a:xfrm>
            <a:custGeom>
              <a:avLst/>
              <a:gdLst/>
              <a:ahLst/>
              <a:cxnLst/>
              <a:rect l="l" t="t" r="r" b="b"/>
              <a:pathLst>
                <a:path w="9270746" h="12192">
                  <a:moveTo>
                    <a:pt x="0" y="0"/>
                  </a:moveTo>
                  <a:lnTo>
                    <a:pt x="9270746" y="0"/>
                  </a:lnTo>
                  <a:lnTo>
                    <a:pt x="9270746" y="12192"/>
                  </a:lnTo>
                  <a:lnTo>
                    <a:pt x="0" y="12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1999" r="1997"/>
              </a:stretch>
            </a:blipFill>
          </p:spPr>
        </p:sp>
      </p:grpSp>
      <p:grpSp>
        <p:nvGrpSpPr>
          <p:cNvPr id="44" name="Group 44"/>
          <p:cNvGrpSpPr/>
          <p:nvPr/>
        </p:nvGrpSpPr>
        <p:grpSpPr>
          <a:xfrm>
            <a:off x="10145025" y="7380122"/>
            <a:ext cx="6954012" cy="943661"/>
            <a:chOff x="0" y="0"/>
            <a:chExt cx="9272016" cy="1258215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9272016" cy="1258215"/>
            </a:xfrm>
            <a:custGeom>
              <a:avLst/>
              <a:gdLst/>
              <a:ahLst/>
              <a:cxnLst/>
              <a:rect l="l" t="t" r="r" b="b"/>
              <a:pathLst>
                <a:path w="9272016" h="1258215">
                  <a:moveTo>
                    <a:pt x="0" y="0"/>
                  </a:moveTo>
                  <a:lnTo>
                    <a:pt x="9272016" y="0"/>
                  </a:lnTo>
                  <a:lnTo>
                    <a:pt x="9272016" y="1258215"/>
                  </a:lnTo>
                  <a:lnTo>
                    <a:pt x="0" y="125821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3588" b="-93588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9272016" cy="1267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22C55E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🌱 르메뜨레 엔딩: "당신이 최고의 자리에서 완전히 미소 지으며 웃는 날까지,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22C55E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       늘 품격을 공유하는 든든한 등반 동반자가 되겠습니다. 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145025" y="3791179"/>
            <a:ext cx="4000500" cy="514350"/>
            <a:chOff x="0" y="0"/>
            <a:chExt cx="5334000" cy="685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333943" cy="685644"/>
            </a:xfrm>
            <a:custGeom>
              <a:avLst/>
              <a:gdLst/>
              <a:ahLst/>
              <a:cxnLst/>
              <a:rect l="l" t="t" r="r" b="b"/>
              <a:pathLst>
                <a:path w="5333943" h="685644">
                  <a:moveTo>
                    <a:pt x="0" y="72677"/>
                  </a:moveTo>
                  <a:cubicBezTo>
                    <a:pt x="0" y="32592"/>
                    <a:pt x="35966" y="0"/>
                    <a:pt x="80202" y="0"/>
                  </a:cubicBezTo>
                  <a:lnTo>
                    <a:pt x="5253740" y="0"/>
                  </a:lnTo>
                  <a:cubicBezTo>
                    <a:pt x="5297976" y="0"/>
                    <a:pt x="5333943" y="32592"/>
                    <a:pt x="5333943" y="72677"/>
                  </a:cubicBezTo>
                  <a:lnTo>
                    <a:pt x="5333943" y="612966"/>
                  </a:lnTo>
                  <a:cubicBezTo>
                    <a:pt x="5333943" y="653052"/>
                    <a:pt x="5297976" y="685643"/>
                    <a:pt x="5253740" y="685643"/>
                  </a:cubicBezTo>
                  <a:lnTo>
                    <a:pt x="80202" y="685643"/>
                  </a:lnTo>
                  <a:cubicBezTo>
                    <a:pt x="35966" y="685813"/>
                    <a:pt x="0" y="653226"/>
                    <a:pt x="0" y="613140"/>
                  </a:cubicBezTo>
                  <a:close/>
                </a:path>
              </a:pathLst>
            </a:custGeom>
            <a:solidFill>
              <a:srgbClr val="22C55E">
                <a:alpha val="784"/>
              </a:srgbClr>
            </a:solidFill>
            <a:ln w="12700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10313287" y="3867303"/>
            <a:ext cx="3663976" cy="362102"/>
            <a:chOff x="0" y="0"/>
            <a:chExt cx="4885301" cy="482803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885301" cy="482802"/>
            </a:xfrm>
            <a:custGeom>
              <a:avLst/>
              <a:gdLst/>
              <a:ahLst/>
              <a:cxnLst/>
              <a:rect l="l" t="t" r="r" b="b"/>
              <a:pathLst>
                <a:path w="4885301" h="482802">
                  <a:moveTo>
                    <a:pt x="0" y="0"/>
                  </a:moveTo>
                  <a:lnTo>
                    <a:pt x="4885301" y="0"/>
                  </a:lnTo>
                  <a:lnTo>
                    <a:pt x="4885301" y="482802"/>
                  </a:lnTo>
                  <a:lnTo>
                    <a:pt x="0" y="48280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1463" r="28250" b="-91463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9525"/>
              <a:ext cx="4885301" cy="4923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22C55E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CONCLUSION: THE TRUE TEMP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009039" y="8667750"/>
            <a:ext cx="16802406" cy="1134499"/>
            <a:chOff x="202385" y="0"/>
            <a:chExt cx="22403209" cy="1512665"/>
          </a:xfrm>
        </p:grpSpPr>
        <p:grpSp>
          <p:nvGrpSpPr>
            <p:cNvPr id="53" name="Group 53"/>
            <p:cNvGrpSpPr/>
            <p:nvPr/>
          </p:nvGrpSpPr>
          <p:grpSpPr>
            <a:xfrm>
              <a:off x="533197" y="0"/>
              <a:ext cx="22072397" cy="1512665"/>
              <a:chOff x="0" y="0"/>
              <a:chExt cx="4359980" cy="298798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4359980" cy="298798"/>
              </a:xfrm>
              <a:custGeom>
                <a:avLst/>
                <a:gdLst/>
                <a:ahLst/>
                <a:cxnLst/>
                <a:rect l="l" t="t" r="r" b="b"/>
                <a:pathLst>
                  <a:path w="4359980" h="298798">
                    <a:moveTo>
                      <a:pt x="0" y="0"/>
                    </a:moveTo>
                    <a:lnTo>
                      <a:pt x="4359980" y="0"/>
                    </a:lnTo>
                    <a:lnTo>
                      <a:pt x="4359980" y="298798"/>
                    </a:lnTo>
                    <a:lnTo>
                      <a:pt x="0" y="298798"/>
                    </a:lnTo>
                    <a:close/>
                  </a:path>
                </a:pathLst>
              </a:custGeom>
              <a:solidFill>
                <a:srgbClr val="3B3B3B"/>
              </a:solidFill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0" y="-9525"/>
                <a:ext cx="4359980" cy="3083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56" name="AutoShape 56"/>
            <p:cNvSpPr/>
            <p:nvPr/>
          </p:nvSpPr>
          <p:spPr>
            <a:xfrm flipH="1">
              <a:off x="635000" y="0"/>
              <a:ext cx="0" cy="1512665"/>
            </a:xfrm>
            <a:prstGeom prst="line">
              <a:avLst/>
            </a:prstGeom>
            <a:ln w="1270000" cap="flat">
              <a:solidFill>
                <a:srgbClr val="EF44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202385" y="194451"/>
              <a:ext cx="2921809" cy="114088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 b="1" dirty="0">
                  <a:solidFill>
                    <a:srgbClr val="FFFFFF"/>
                  </a:solidFill>
                  <a:latin typeface="Paperlogy Bold"/>
                  <a:ea typeface="Paperlogy Bold"/>
                  <a:cs typeface="Paperlogy Bold"/>
                  <a:sym typeface="Paperlogy Bold"/>
                </a:rPr>
                <a:t>L.REMETTRE Core Ethos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503251" y="8804258"/>
            <a:ext cx="9029744" cy="861483"/>
            <a:chOff x="0" y="0"/>
            <a:chExt cx="12039658" cy="1148644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2039658" cy="1148642"/>
            </a:xfrm>
            <a:custGeom>
              <a:avLst/>
              <a:gdLst/>
              <a:ahLst/>
              <a:cxnLst/>
              <a:rect l="l" t="t" r="r" b="b"/>
              <a:pathLst>
                <a:path w="12039658" h="1148642">
                  <a:moveTo>
                    <a:pt x="0" y="0"/>
                  </a:moveTo>
                  <a:lnTo>
                    <a:pt x="12039658" y="0"/>
                  </a:lnTo>
                  <a:lnTo>
                    <a:pt x="12039658" y="1148642"/>
                  </a:lnTo>
                  <a:lnTo>
                    <a:pt x="0" y="114864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70532" r="-39503" b="-199296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9525"/>
              <a:ext cx="12039658" cy="11581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499" b="1">
                  <a:solidFill>
                    <a:srgbClr val="FFFFFF"/>
                  </a:solidFill>
                  <a:latin typeface="Paperlogy Medium"/>
                  <a:ea typeface="Paperlogy Medium"/>
                  <a:cs typeface="Paperlogy Medium"/>
                  <a:sym typeface="Paperlogy Medium"/>
                </a:rPr>
                <a:t>"정직함으로 시작된 관계는 서로를 티업하는 완벽한 동반자 시스템을 </a:t>
              </a:r>
            </a:p>
            <a:p>
              <a:pPr algn="ctr">
                <a:lnSpc>
                  <a:spcPts val="2999"/>
                </a:lnSpc>
              </a:pPr>
              <a:r>
                <a:rPr lang="en-US" sz="2499" b="1">
                  <a:solidFill>
                    <a:srgbClr val="FFFFFF"/>
                  </a:solidFill>
                  <a:latin typeface="Paperlogy Medium"/>
                  <a:ea typeface="Paperlogy Medium"/>
                  <a:cs typeface="Paperlogy Medium"/>
                  <a:sym typeface="Paperlogy Medium"/>
                </a:rPr>
                <a:t>통해 세상에서 가장 품격 있고 아름다운 결실을 맺습니다."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2636</Words>
  <Application>Microsoft Office PowerPoint</Application>
  <PresentationFormat>사용자 지정</PresentationFormat>
  <Paragraphs>259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4" baseType="lpstr">
      <vt:lpstr>Paperlogy Heavy</vt:lpstr>
      <vt:lpstr>Paperlogy</vt:lpstr>
      <vt:lpstr>Arial</vt:lpstr>
      <vt:lpstr>Paperlogy Bold</vt:lpstr>
      <vt:lpstr>Calibri</vt:lpstr>
      <vt:lpstr>Paperlogy Semi-Bold</vt:lpstr>
      <vt:lpstr>Paperlogy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변화하는 시대__리더십의 진짜온도_v1.0</dc:title>
  <cp:lastModifiedBy>태열 김</cp:lastModifiedBy>
  <cp:revision>2</cp:revision>
  <dcterms:created xsi:type="dcterms:W3CDTF">2006-08-16T00:00:00Z</dcterms:created>
  <dcterms:modified xsi:type="dcterms:W3CDTF">2026-07-22T05:36:43Z</dcterms:modified>
  <dc:identifier>DAHQEeChPZU</dc:identifier>
</cp:coreProperties>
</file>